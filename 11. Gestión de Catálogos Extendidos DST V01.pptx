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6" r:id="rId4"/>
    <p:sldId id="259" r:id="rId5"/>
    <p:sldId id="260" r:id="rId6"/>
    <p:sldId id="262" r:id="rId7"/>
    <p:sldId id="261" r:id="rId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12" autoAdjust="0"/>
    <p:restoredTop sz="94660"/>
  </p:normalViewPr>
  <p:slideViewPr>
    <p:cSldViewPr snapToGrid="0">
      <p:cViewPr varScale="1">
        <p:scale>
          <a:sx n="82" d="100"/>
          <a:sy n="82" d="100"/>
        </p:scale>
        <p:origin x="71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50DBF8-5CEC-4C16-AE62-4ED31E44157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CBBB75AC-17C3-46D8-8F27-7691FEB583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14212542-0D21-41D6-B90C-1888701FDC15}"/>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5" name="Marcador de pie de página 4">
            <a:extLst>
              <a:ext uri="{FF2B5EF4-FFF2-40B4-BE49-F238E27FC236}">
                <a16:creationId xmlns:a16="http://schemas.microsoft.com/office/drawing/2014/main" id="{52C67F34-BB15-4A36-86E8-ECDFB805315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84FA1F5-13B8-439C-ABE4-767357D36809}"/>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3908874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B80288-B171-4C06-8667-4061A6D5C71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EB744B5-4A6D-4064-B7D4-6431F9C8D52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6F7D77-8561-40D3-B83D-516D4272080E}"/>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5" name="Marcador de pie de página 4">
            <a:extLst>
              <a:ext uri="{FF2B5EF4-FFF2-40B4-BE49-F238E27FC236}">
                <a16:creationId xmlns:a16="http://schemas.microsoft.com/office/drawing/2014/main" id="{74C8DA46-D3E0-4469-AF00-B59C5A2BA5C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680F378-E8D8-469A-BC9F-AA3D6D31A4D3}"/>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1025124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01E560-E721-4A37-BD28-FB62619B0AE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1720A9C-D725-4D4D-A700-0BE34B688A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A09136C-5045-476D-BC30-70015F70C0A0}"/>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5" name="Marcador de pie de página 4">
            <a:extLst>
              <a:ext uri="{FF2B5EF4-FFF2-40B4-BE49-F238E27FC236}">
                <a16:creationId xmlns:a16="http://schemas.microsoft.com/office/drawing/2014/main" id="{EB1DF4DE-0376-44E0-9A5E-BC7FB3C4DCA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00AA739-AD85-4DF4-B7A4-4C99B1FFD011}"/>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299479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3F00DA-CB52-4F73-B507-2A17FEDBD81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EEB3FD3-EA28-43F9-A8BB-5C84D23E107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DE9A5CE-4090-4272-BCE1-46CD333817A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65C72E27-D063-454D-B2BB-CF9C95DCC43B}"/>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6" name="Marcador de pie de página 5">
            <a:extLst>
              <a:ext uri="{FF2B5EF4-FFF2-40B4-BE49-F238E27FC236}">
                <a16:creationId xmlns:a16="http://schemas.microsoft.com/office/drawing/2014/main" id="{807C965B-F28D-445B-AE09-94599D96C21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45D0292-94F5-4714-94C9-25834F59F4C1}"/>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4067028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47BEEC-5C48-4DCD-8B45-A2E0BA2E277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B9A2FF9-39B7-43DB-84B1-C6EB714FBA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70D9335-AFCB-4A6D-98C1-329234330AA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F6E53CB6-B786-4BCF-88DF-0487E62AAF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2E48551-E37A-4D25-B454-19494790C48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2CE183D-2BD9-460D-B594-26FD384DABAC}"/>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8" name="Marcador de pie de página 7">
            <a:extLst>
              <a:ext uri="{FF2B5EF4-FFF2-40B4-BE49-F238E27FC236}">
                <a16:creationId xmlns:a16="http://schemas.microsoft.com/office/drawing/2014/main" id="{D0597574-506A-49AC-BC4D-998BFFE08CF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BD441349-A092-4AFD-BE89-80A2EFB553EF}"/>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262868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836554-747E-4FBF-AC6D-FE164A73211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B462D37-7E0A-4F23-BDE6-6659032350BF}"/>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4" name="Marcador de pie de página 3">
            <a:extLst>
              <a:ext uri="{FF2B5EF4-FFF2-40B4-BE49-F238E27FC236}">
                <a16:creationId xmlns:a16="http://schemas.microsoft.com/office/drawing/2014/main" id="{FB8EBFD3-2C7F-4E98-A172-CDE8B1C0D30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B6D20516-2779-4DC3-A64C-8F2E56571B60}"/>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1988783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FD35B04-8AC5-4F9C-9927-726EAD67EB41}"/>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3" name="Marcador de pie de página 2">
            <a:extLst>
              <a:ext uri="{FF2B5EF4-FFF2-40B4-BE49-F238E27FC236}">
                <a16:creationId xmlns:a16="http://schemas.microsoft.com/office/drawing/2014/main" id="{B80E321D-C9BA-4CA9-A0D6-5F0D00BBFF8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D46B024-B173-467A-9158-BE9BBCEC0F2D}"/>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941583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2E8790-4F66-4ABB-B064-378AACCCFF3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C11EE65-B675-4DC9-841E-0EA5050BD8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E6BBFF14-3DB7-4935-8491-0191315C23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6A84454-2822-4E81-B3CD-E131568560FB}"/>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6" name="Marcador de pie de página 5">
            <a:extLst>
              <a:ext uri="{FF2B5EF4-FFF2-40B4-BE49-F238E27FC236}">
                <a16:creationId xmlns:a16="http://schemas.microsoft.com/office/drawing/2014/main" id="{230EED08-AD1D-4810-B7B2-02822DF6FC3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A9188AA-644E-49B2-BDFD-9D01D8BAB2A0}"/>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1399448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8E5C60-38BA-48D8-AE47-A690D301CC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F1F3D55B-455D-4B21-9BFE-288DB7DA9E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A256000-A611-4B5F-9099-3068289DF6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6E9D308-DE87-4AFE-A097-A4C6A20D8C0E}"/>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6" name="Marcador de pie de página 5">
            <a:extLst>
              <a:ext uri="{FF2B5EF4-FFF2-40B4-BE49-F238E27FC236}">
                <a16:creationId xmlns:a16="http://schemas.microsoft.com/office/drawing/2014/main" id="{3620C1DD-768B-4D28-9F33-C5449F8A2C4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87CFBC4-0286-47C5-A09F-4A97BAF9BD6E}"/>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2439048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D3C4B2-69DC-4899-AE38-F058716D308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219FAE2-2E7C-4ACC-8AB9-73D1884C7AD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A4630E6-79D5-4942-9DD3-13560736FFA8}"/>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5" name="Marcador de pie de página 4">
            <a:extLst>
              <a:ext uri="{FF2B5EF4-FFF2-40B4-BE49-F238E27FC236}">
                <a16:creationId xmlns:a16="http://schemas.microsoft.com/office/drawing/2014/main" id="{A404AF9B-A063-4F51-A070-4592890C9FF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8115BA9-5549-4278-B4FA-CCFD42779347}"/>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3682471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67448F7-54A1-40D4-B520-5973728905C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5505574-A450-4C75-BEF8-2997F4E6A14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FB6544F-D036-49AF-BD77-E3562DEFEA08}"/>
              </a:ext>
            </a:extLst>
          </p:cNvPr>
          <p:cNvSpPr>
            <a:spLocks noGrp="1"/>
          </p:cNvSpPr>
          <p:nvPr>
            <p:ph type="dt" sz="half" idx="10"/>
          </p:nvPr>
        </p:nvSpPr>
        <p:spPr/>
        <p:txBody>
          <a:bodyPr/>
          <a:lstStyle/>
          <a:p>
            <a:fld id="{D93E9101-F4D8-40F3-8B0B-F98CCA7C8908}" type="datetimeFigureOut">
              <a:rPr lang="es-MX" smtClean="0"/>
              <a:t>08/03/2021</a:t>
            </a:fld>
            <a:endParaRPr lang="es-MX"/>
          </a:p>
        </p:txBody>
      </p:sp>
      <p:sp>
        <p:nvSpPr>
          <p:cNvPr id="5" name="Marcador de pie de página 4">
            <a:extLst>
              <a:ext uri="{FF2B5EF4-FFF2-40B4-BE49-F238E27FC236}">
                <a16:creationId xmlns:a16="http://schemas.microsoft.com/office/drawing/2014/main" id="{EF7E8BEC-6E2E-4546-A5D6-576390F418C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A10FD64-9A28-47BE-8C87-2DDD7AE23704}"/>
              </a:ext>
            </a:extLst>
          </p:cNvPr>
          <p:cNvSpPr>
            <a:spLocks noGrp="1"/>
          </p:cNvSpPr>
          <p:nvPr>
            <p:ph type="sldNum" sz="quarter" idx="12"/>
          </p:nvPr>
        </p:nvSpPr>
        <p:spPr/>
        <p:txBody>
          <a:bodyPr/>
          <a:lstStyle/>
          <a:p>
            <a:fld id="{4D9485C8-626E-469B-87C4-024F37785E36}" type="slidenum">
              <a:rPr lang="es-MX" smtClean="0"/>
              <a:t>‹Nº›</a:t>
            </a:fld>
            <a:endParaRPr lang="es-MX"/>
          </a:p>
        </p:txBody>
      </p:sp>
    </p:spTree>
    <p:extLst>
      <p:ext uri="{BB962C8B-B14F-4D97-AF65-F5344CB8AC3E}">
        <p14:creationId xmlns:p14="http://schemas.microsoft.com/office/powerpoint/2010/main" val="1113037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72CD3C9-752E-44FE-B67F-29D31804AA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1509870-EBE8-4E99-9234-8CB6D3C3B2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AA501C0-5A39-4BA3-8DE0-E78A6DBD07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3E9101-F4D8-40F3-8B0B-F98CCA7C8908}" type="datetimeFigureOut">
              <a:rPr lang="es-MX" smtClean="0"/>
              <a:t>08/03/2021</a:t>
            </a:fld>
            <a:endParaRPr lang="es-MX"/>
          </a:p>
        </p:txBody>
      </p:sp>
      <p:sp>
        <p:nvSpPr>
          <p:cNvPr id="5" name="Marcador de pie de página 4">
            <a:extLst>
              <a:ext uri="{FF2B5EF4-FFF2-40B4-BE49-F238E27FC236}">
                <a16:creationId xmlns:a16="http://schemas.microsoft.com/office/drawing/2014/main" id="{662EC71C-D05B-42DA-859C-0B617BD51E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6E25A6A6-0E40-48B5-AFD3-6445C5E398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485C8-626E-469B-87C4-024F37785E36}" type="slidenum">
              <a:rPr lang="es-MX" smtClean="0"/>
              <a:t>‹Nº›</a:t>
            </a:fld>
            <a:endParaRPr lang="es-MX"/>
          </a:p>
        </p:txBody>
      </p:sp>
    </p:spTree>
    <p:extLst>
      <p:ext uri="{BB962C8B-B14F-4D97-AF65-F5344CB8AC3E}">
        <p14:creationId xmlns:p14="http://schemas.microsoft.com/office/powerpoint/2010/main" val="2586763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4.bin"/><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5.bin"/><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6FC601-2750-46DA-8589-BE57B66F730C}"/>
              </a:ext>
            </a:extLst>
          </p:cNvPr>
          <p:cNvSpPr>
            <a:spLocks noGrp="1"/>
          </p:cNvSpPr>
          <p:nvPr>
            <p:ph type="title"/>
          </p:nvPr>
        </p:nvSpPr>
        <p:spPr>
          <a:xfrm>
            <a:off x="2390775" y="308286"/>
            <a:ext cx="8991600" cy="1325563"/>
          </a:xfrm>
        </p:spPr>
        <p:txBody>
          <a:bodyPr/>
          <a:lstStyle/>
          <a:p>
            <a:r>
              <a:rPr lang="es-ES" dirty="0"/>
              <a:t>Catalogo Extendido de Tienda (DST)</a:t>
            </a:r>
            <a:endParaRPr lang="es-MX" dirty="0"/>
          </a:p>
        </p:txBody>
      </p:sp>
      <p:graphicFrame>
        <p:nvGraphicFramePr>
          <p:cNvPr id="3" name="Object 5">
            <a:extLst>
              <a:ext uri="{FF2B5EF4-FFF2-40B4-BE49-F238E27FC236}">
                <a16:creationId xmlns:a16="http://schemas.microsoft.com/office/drawing/2014/main" id="{10BAB0CA-D34F-4F7B-A880-058CCB839A74}"/>
              </a:ext>
            </a:extLst>
          </p:cNvPr>
          <p:cNvGraphicFramePr>
            <a:graphicFrameLocks noChangeAspect="1"/>
          </p:cNvGraphicFramePr>
          <p:nvPr/>
        </p:nvGraphicFramePr>
        <p:xfrm>
          <a:off x="368300" y="293998"/>
          <a:ext cx="1868488" cy="531812"/>
        </p:xfrm>
        <a:graphic>
          <a:graphicData uri="http://schemas.openxmlformats.org/presentationml/2006/ole">
            <mc:AlternateContent xmlns:mc="http://schemas.openxmlformats.org/markup-compatibility/2006">
              <mc:Choice xmlns:v="urn:schemas-microsoft-com:vml" Requires="v">
                <p:oleObj name="Image" r:id="rId2" imgW="2768254" imgH="787024" progId="Photoshop.Image.11">
                  <p:embed/>
                </p:oleObj>
              </mc:Choice>
              <mc:Fallback>
                <p:oleObj name="Image" r:id="rId2" imgW="2768254" imgH="787024" progId="Photoshop.Image.11">
                  <p:embed/>
                  <p:pic>
                    <p:nvPicPr>
                      <p:cNvPr id="63" name="Object 5">
                        <a:extLst>
                          <a:ext uri="{FF2B5EF4-FFF2-40B4-BE49-F238E27FC236}">
                            <a16:creationId xmlns:a16="http://schemas.microsoft.com/office/drawing/2014/main" id="{6177464E-35D9-4944-A143-B6B47B987C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293998"/>
                        <a:ext cx="1868488"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CuadroTexto 3">
            <a:extLst>
              <a:ext uri="{FF2B5EF4-FFF2-40B4-BE49-F238E27FC236}">
                <a16:creationId xmlns:a16="http://schemas.microsoft.com/office/drawing/2014/main" id="{B89A7B5A-54EE-42D6-9FD2-D0F397D0DA3A}"/>
              </a:ext>
            </a:extLst>
          </p:cNvPr>
          <p:cNvSpPr txBox="1"/>
          <p:nvPr/>
        </p:nvSpPr>
        <p:spPr>
          <a:xfrm>
            <a:off x="704850" y="1462088"/>
            <a:ext cx="1603772" cy="584775"/>
          </a:xfrm>
          <a:prstGeom prst="rect">
            <a:avLst/>
          </a:prstGeom>
          <a:noFill/>
        </p:spPr>
        <p:txBody>
          <a:bodyPr wrap="none" rtlCol="0">
            <a:spAutoFit/>
          </a:bodyPr>
          <a:lstStyle/>
          <a:p>
            <a:r>
              <a:rPr lang="es-ES" sz="3200" dirty="0"/>
              <a:t>Objetivo</a:t>
            </a:r>
            <a:endParaRPr lang="es-MX" sz="3200" dirty="0"/>
          </a:p>
        </p:txBody>
      </p:sp>
      <p:sp>
        <p:nvSpPr>
          <p:cNvPr id="5" name="CuadroTexto 4">
            <a:extLst>
              <a:ext uri="{FF2B5EF4-FFF2-40B4-BE49-F238E27FC236}">
                <a16:creationId xmlns:a16="http://schemas.microsoft.com/office/drawing/2014/main" id="{A03CBBEB-8D44-44D2-9385-0AB37FBA1373}"/>
              </a:ext>
            </a:extLst>
          </p:cNvPr>
          <p:cNvSpPr txBox="1"/>
          <p:nvPr/>
        </p:nvSpPr>
        <p:spPr>
          <a:xfrm>
            <a:off x="1428750" y="2046863"/>
            <a:ext cx="9744075" cy="646331"/>
          </a:xfrm>
          <a:prstGeom prst="rect">
            <a:avLst/>
          </a:prstGeom>
          <a:noFill/>
        </p:spPr>
        <p:txBody>
          <a:bodyPr wrap="square" rtlCol="0">
            <a:spAutoFit/>
          </a:bodyPr>
          <a:lstStyle/>
          <a:p>
            <a:r>
              <a:rPr lang="es-ES" dirty="0"/>
              <a:t>Ofrecer a nuestros clientes un catálogo de artículos extendido cuyo surtido se hará desde una de nuestras sucursales habilitada para este servicio. </a:t>
            </a:r>
            <a:endParaRPr lang="es-MX" dirty="0"/>
          </a:p>
        </p:txBody>
      </p:sp>
      <p:sp>
        <p:nvSpPr>
          <p:cNvPr id="6" name="CuadroTexto 5">
            <a:extLst>
              <a:ext uri="{FF2B5EF4-FFF2-40B4-BE49-F238E27FC236}">
                <a16:creationId xmlns:a16="http://schemas.microsoft.com/office/drawing/2014/main" id="{6DF55F2E-0E0B-4B1F-88D4-23F0D92CE587}"/>
              </a:ext>
            </a:extLst>
          </p:cNvPr>
          <p:cNvSpPr txBox="1"/>
          <p:nvPr/>
        </p:nvSpPr>
        <p:spPr>
          <a:xfrm>
            <a:off x="704850" y="2707987"/>
            <a:ext cx="2419445" cy="584775"/>
          </a:xfrm>
          <a:prstGeom prst="rect">
            <a:avLst/>
          </a:prstGeom>
          <a:noFill/>
        </p:spPr>
        <p:txBody>
          <a:bodyPr wrap="none" rtlCol="0">
            <a:spAutoFit/>
          </a:bodyPr>
          <a:lstStyle/>
          <a:p>
            <a:r>
              <a:rPr lang="es-ES" sz="3200" dirty="0"/>
              <a:t>Lineamientos</a:t>
            </a:r>
            <a:endParaRPr lang="es-MX" sz="3200" dirty="0"/>
          </a:p>
        </p:txBody>
      </p:sp>
      <p:sp>
        <p:nvSpPr>
          <p:cNvPr id="7" name="CuadroTexto 6">
            <a:extLst>
              <a:ext uri="{FF2B5EF4-FFF2-40B4-BE49-F238E27FC236}">
                <a16:creationId xmlns:a16="http://schemas.microsoft.com/office/drawing/2014/main" id="{FE81B0EB-203D-41EF-954B-BB9A8B97E906}"/>
              </a:ext>
            </a:extLst>
          </p:cNvPr>
          <p:cNvSpPr txBox="1"/>
          <p:nvPr/>
        </p:nvSpPr>
        <p:spPr>
          <a:xfrm>
            <a:off x="1428750" y="3354318"/>
            <a:ext cx="9744075" cy="2339102"/>
          </a:xfrm>
          <a:prstGeom prst="rect">
            <a:avLst/>
          </a:prstGeom>
          <a:noFill/>
        </p:spPr>
        <p:txBody>
          <a:bodyPr wrap="square" rtlCol="0">
            <a:spAutoFit/>
          </a:bodyPr>
          <a:lstStyle/>
          <a:p>
            <a:pPr marL="285750" indent="-285750">
              <a:spcAft>
                <a:spcPts val="800"/>
              </a:spcAft>
              <a:buFont typeface="Arial" panose="020B0604020202020204" pitchFamily="34" charset="0"/>
              <a:buChar char="•"/>
            </a:pPr>
            <a:r>
              <a:rPr lang="es-ES" dirty="0"/>
              <a:t>Una sucursal tendrá la capacidad de surtir mercancía de un catálogo extendido al de Super En Tu Casa (Sucursal de Suministro)</a:t>
            </a:r>
          </a:p>
          <a:p>
            <a:pPr marL="285750" indent="-285750">
              <a:spcAft>
                <a:spcPts val="800"/>
              </a:spcAft>
              <a:buFont typeface="Arial" panose="020B0604020202020204" pitchFamily="34" charset="0"/>
              <a:buChar char="•"/>
            </a:pPr>
            <a:r>
              <a:rPr lang="es-ES" dirty="0"/>
              <a:t>El servicio de Super En Tu Casa deberá estar habilitado en la Sucursal de Suministro</a:t>
            </a:r>
          </a:p>
          <a:p>
            <a:pPr marL="285750" indent="-285750">
              <a:spcAft>
                <a:spcPts val="800"/>
              </a:spcAft>
              <a:buFont typeface="Arial" panose="020B0604020202020204" pitchFamily="34" charset="0"/>
              <a:buChar char="•"/>
            </a:pPr>
            <a:r>
              <a:rPr lang="es-ES" dirty="0"/>
              <a:t>La cobertura de este servicio será más amplio que la cobertura del servicio Super En Tu Casa de la propia Sucursal de Suministro. </a:t>
            </a:r>
          </a:p>
          <a:p>
            <a:pPr marL="285750" indent="-285750">
              <a:spcAft>
                <a:spcPts val="800"/>
              </a:spcAft>
              <a:buFont typeface="Arial" panose="020B0604020202020204" pitchFamily="34" charset="0"/>
              <a:buChar char="•"/>
            </a:pPr>
            <a:r>
              <a:rPr lang="es-ES" dirty="0"/>
              <a:t>La mercancía se ofrecerá en la Web y en el App de Soriana en función del código postal de entrega elegido por el cliente</a:t>
            </a:r>
            <a:endParaRPr lang="es-MX" dirty="0"/>
          </a:p>
        </p:txBody>
      </p:sp>
    </p:spTree>
    <p:extLst>
      <p:ext uri="{BB962C8B-B14F-4D97-AF65-F5344CB8AC3E}">
        <p14:creationId xmlns:p14="http://schemas.microsoft.com/office/powerpoint/2010/main" val="2868861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6FC601-2750-46DA-8589-BE57B66F730C}"/>
              </a:ext>
            </a:extLst>
          </p:cNvPr>
          <p:cNvSpPr>
            <a:spLocks noGrp="1"/>
          </p:cNvSpPr>
          <p:nvPr>
            <p:ph type="title"/>
          </p:nvPr>
        </p:nvSpPr>
        <p:spPr>
          <a:xfrm>
            <a:off x="2390775" y="308286"/>
            <a:ext cx="8991600" cy="1325563"/>
          </a:xfrm>
        </p:spPr>
        <p:txBody>
          <a:bodyPr/>
          <a:lstStyle/>
          <a:p>
            <a:r>
              <a:rPr lang="es-ES" dirty="0"/>
              <a:t>Catalogo Extendido de Tienda (DST)</a:t>
            </a:r>
            <a:endParaRPr lang="es-MX" dirty="0"/>
          </a:p>
        </p:txBody>
      </p:sp>
      <p:graphicFrame>
        <p:nvGraphicFramePr>
          <p:cNvPr id="3" name="Object 5">
            <a:extLst>
              <a:ext uri="{FF2B5EF4-FFF2-40B4-BE49-F238E27FC236}">
                <a16:creationId xmlns:a16="http://schemas.microsoft.com/office/drawing/2014/main" id="{10BAB0CA-D34F-4F7B-A880-058CCB839A74}"/>
              </a:ext>
            </a:extLst>
          </p:cNvPr>
          <p:cNvGraphicFramePr>
            <a:graphicFrameLocks noChangeAspect="1"/>
          </p:cNvGraphicFramePr>
          <p:nvPr/>
        </p:nvGraphicFramePr>
        <p:xfrm>
          <a:off x="368300" y="293998"/>
          <a:ext cx="1868488" cy="531812"/>
        </p:xfrm>
        <a:graphic>
          <a:graphicData uri="http://schemas.openxmlformats.org/presentationml/2006/ole">
            <mc:AlternateContent xmlns:mc="http://schemas.openxmlformats.org/markup-compatibility/2006">
              <mc:Choice xmlns:v="urn:schemas-microsoft-com:vml" Requires="v">
                <p:oleObj name="Image" r:id="rId2" imgW="2768254" imgH="787024" progId="Photoshop.Image.11">
                  <p:embed/>
                </p:oleObj>
              </mc:Choice>
              <mc:Fallback>
                <p:oleObj name="Image" r:id="rId2" imgW="2768254" imgH="787024" progId="Photoshop.Image.11">
                  <p:embed/>
                  <p:pic>
                    <p:nvPicPr>
                      <p:cNvPr id="3" name="Object 5">
                        <a:extLst>
                          <a:ext uri="{FF2B5EF4-FFF2-40B4-BE49-F238E27FC236}">
                            <a16:creationId xmlns:a16="http://schemas.microsoft.com/office/drawing/2014/main" id="{10BAB0CA-D34F-4F7B-A880-058CCB839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293998"/>
                        <a:ext cx="1868488"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CuadroTexto 3">
            <a:extLst>
              <a:ext uri="{FF2B5EF4-FFF2-40B4-BE49-F238E27FC236}">
                <a16:creationId xmlns:a16="http://schemas.microsoft.com/office/drawing/2014/main" id="{B89A7B5A-54EE-42D6-9FD2-D0F397D0DA3A}"/>
              </a:ext>
            </a:extLst>
          </p:cNvPr>
          <p:cNvSpPr txBox="1"/>
          <p:nvPr/>
        </p:nvSpPr>
        <p:spPr>
          <a:xfrm>
            <a:off x="704850" y="1452563"/>
            <a:ext cx="1601721" cy="584775"/>
          </a:xfrm>
          <a:prstGeom prst="rect">
            <a:avLst/>
          </a:prstGeom>
          <a:noFill/>
        </p:spPr>
        <p:txBody>
          <a:bodyPr wrap="none" rtlCol="0">
            <a:spAutoFit/>
          </a:bodyPr>
          <a:lstStyle/>
          <a:p>
            <a:r>
              <a:rPr lang="es-ES" sz="3200" dirty="0"/>
              <a:t>Solución</a:t>
            </a:r>
            <a:endParaRPr lang="es-MX" sz="3200" dirty="0"/>
          </a:p>
        </p:txBody>
      </p:sp>
      <p:sp>
        <p:nvSpPr>
          <p:cNvPr id="7" name="CuadroTexto 6">
            <a:extLst>
              <a:ext uri="{FF2B5EF4-FFF2-40B4-BE49-F238E27FC236}">
                <a16:creationId xmlns:a16="http://schemas.microsoft.com/office/drawing/2014/main" id="{FE81B0EB-203D-41EF-954B-BB9A8B97E906}"/>
              </a:ext>
            </a:extLst>
          </p:cNvPr>
          <p:cNvSpPr txBox="1"/>
          <p:nvPr/>
        </p:nvSpPr>
        <p:spPr>
          <a:xfrm>
            <a:off x="1428750" y="2049393"/>
            <a:ext cx="9744075" cy="4688463"/>
          </a:xfrm>
          <a:prstGeom prst="rect">
            <a:avLst/>
          </a:prstGeom>
          <a:noFill/>
        </p:spPr>
        <p:txBody>
          <a:bodyPr wrap="square" rtlCol="0">
            <a:spAutoFit/>
          </a:bodyPr>
          <a:lstStyle/>
          <a:p>
            <a:pPr marL="285750" indent="-285750">
              <a:spcAft>
                <a:spcPts val="800"/>
              </a:spcAft>
              <a:buFont typeface="Arial" panose="020B0604020202020204" pitchFamily="34" charset="0"/>
              <a:buChar char="•"/>
            </a:pPr>
            <a:r>
              <a:rPr lang="es-ES" dirty="0"/>
              <a:t>Para definir la cobertura de entrega de un catálogo extendido se agruparán sucursales que cuenten con el servicio de Super En Tu Casa. La cobertura del catálogo será la suma de los códigos postales de las sucursales agrupadas.</a:t>
            </a:r>
          </a:p>
          <a:p>
            <a:pPr marL="285750" indent="-285750">
              <a:spcAft>
                <a:spcPts val="800"/>
              </a:spcAft>
              <a:buFont typeface="Arial" panose="020B0604020202020204" pitchFamily="34" charset="0"/>
              <a:buChar char="•"/>
            </a:pPr>
            <a:r>
              <a:rPr lang="es-ES" dirty="0"/>
              <a:t>Los artículos del catálogo extendido se agregarán al catálogo de artículos de las sucursales agrupadas, esto permitirá usar los mismos </a:t>
            </a:r>
            <a:r>
              <a:rPr lang="es-ES" dirty="0" err="1"/>
              <a:t>Pricebooks</a:t>
            </a:r>
            <a:r>
              <a:rPr lang="es-ES" dirty="0"/>
              <a:t> de SFCC para gestionar el catálogo.</a:t>
            </a:r>
          </a:p>
          <a:p>
            <a:pPr marL="285750" indent="-285750">
              <a:spcAft>
                <a:spcPts val="800"/>
              </a:spcAft>
              <a:buFont typeface="Arial" panose="020B0604020202020204" pitchFamily="34" charset="0"/>
              <a:buChar char="•"/>
            </a:pPr>
            <a:r>
              <a:rPr lang="es-ES" dirty="0"/>
              <a:t>Será posible definir más de un catálogo extendido para una sucursal de suministro para definir una cobertura diferente para otro grupo de artículos.</a:t>
            </a:r>
          </a:p>
          <a:p>
            <a:pPr marL="285750" indent="-285750">
              <a:spcAft>
                <a:spcPts val="800"/>
              </a:spcAft>
              <a:buFont typeface="Arial" panose="020B0604020202020204" pitchFamily="34" charset="0"/>
              <a:buChar char="•"/>
            </a:pPr>
            <a:r>
              <a:rPr lang="es-ES" dirty="0"/>
              <a:t>En el </a:t>
            </a:r>
            <a:r>
              <a:rPr lang="es-ES" dirty="0" err="1"/>
              <a:t>Checkout</a:t>
            </a:r>
            <a:r>
              <a:rPr lang="es-ES" dirty="0"/>
              <a:t>, el servicio de separación de embarques (</a:t>
            </a:r>
            <a:r>
              <a:rPr lang="es-ES" dirty="0" err="1"/>
              <a:t>Splitter</a:t>
            </a:r>
            <a:r>
              <a:rPr lang="es-ES" dirty="0"/>
              <a:t>), alineado al TMS, separará esta mercancía en un embarque diferente.</a:t>
            </a:r>
          </a:p>
          <a:p>
            <a:pPr marL="285750" indent="-285750">
              <a:spcAft>
                <a:spcPts val="800"/>
              </a:spcAft>
              <a:buFont typeface="Arial" panose="020B0604020202020204" pitchFamily="34" charset="0"/>
              <a:buChar char="•"/>
            </a:pPr>
            <a:r>
              <a:rPr lang="es-ES" dirty="0"/>
              <a:t>La mercancía del catálogo extendido será asignada a la Sucursal de Suministro.</a:t>
            </a:r>
          </a:p>
          <a:p>
            <a:pPr marL="285750" indent="-285750">
              <a:spcAft>
                <a:spcPts val="800"/>
              </a:spcAft>
              <a:buFont typeface="Arial" panose="020B0604020202020204" pitchFamily="34" charset="0"/>
              <a:buChar char="•"/>
            </a:pPr>
            <a:r>
              <a:rPr lang="es-ES" dirty="0"/>
              <a:t>El embarque se surtirá usando el OMS de tienda, solo que asignará un transportista distinto para su entrega.</a:t>
            </a:r>
          </a:p>
          <a:p>
            <a:pPr marL="285750" indent="-285750">
              <a:spcAft>
                <a:spcPts val="800"/>
              </a:spcAft>
              <a:buFont typeface="Arial" panose="020B0604020202020204" pitchFamily="34" charset="0"/>
              <a:buChar char="•"/>
            </a:pPr>
            <a:r>
              <a:rPr lang="es-MX" dirty="0"/>
              <a:t>La mercancía es registra en el punto de venta con el proceso actual de Super En Tu Casa</a:t>
            </a:r>
          </a:p>
          <a:p>
            <a:pPr marL="285750" indent="-285750">
              <a:spcAft>
                <a:spcPts val="800"/>
              </a:spcAft>
              <a:buFont typeface="Arial" panose="020B0604020202020204" pitchFamily="34" charset="0"/>
              <a:buChar char="•"/>
            </a:pPr>
            <a:r>
              <a:rPr lang="es-MX" dirty="0"/>
              <a:t>La gestión de devoluciones se operará de la misma forma que en Super En Tu Casa</a:t>
            </a:r>
          </a:p>
        </p:txBody>
      </p:sp>
    </p:spTree>
    <p:extLst>
      <p:ext uri="{BB962C8B-B14F-4D97-AF65-F5344CB8AC3E}">
        <p14:creationId xmlns:p14="http://schemas.microsoft.com/office/powerpoint/2010/main" val="363156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E6F6235-8E9B-4B58-9885-73B123CFBF9A}"/>
              </a:ext>
            </a:extLst>
          </p:cNvPr>
          <p:cNvSpPr/>
          <p:nvPr/>
        </p:nvSpPr>
        <p:spPr>
          <a:xfrm>
            <a:off x="2755150" y="2408078"/>
            <a:ext cx="1159717" cy="410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t>Suc</a:t>
            </a:r>
            <a:r>
              <a:rPr lang="es-ES" dirty="0"/>
              <a:t> 01</a:t>
            </a:r>
            <a:endParaRPr lang="es-MX" dirty="0"/>
          </a:p>
        </p:txBody>
      </p:sp>
      <p:sp>
        <p:nvSpPr>
          <p:cNvPr id="5" name="Rectángulo 4">
            <a:extLst>
              <a:ext uri="{FF2B5EF4-FFF2-40B4-BE49-F238E27FC236}">
                <a16:creationId xmlns:a16="http://schemas.microsoft.com/office/drawing/2014/main" id="{F6F26961-EEAC-4C86-87A2-156C474B94F1}"/>
              </a:ext>
            </a:extLst>
          </p:cNvPr>
          <p:cNvSpPr/>
          <p:nvPr/>
        </p:nvSpPr>
        <p:spPr>
          <a:xfrm>
            <a:off x="4017893" y="2408077"/>
            <a:ext cx="1159717" cy="410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t>Suc</a:t>
            </a:r>
            <a:r>
              <a:rPr lang="es-ES" dirty="0"/>
              <a:t> 02</a:t>
            </a:r>
            <a:endParaRPr lang="es-MX" dirty="0"/>
          </a:p>
        </p:txBody>
      </p:sp>
      <p:sp>
        <p:nvSpPr>
          <p:cNvPr id="6" name="Rectángulo 5">
            <a:extLst>
              <a:ext uri="{FF2B5EF4-FFF2-40B4-BE49-F238E27FC236}">
                <a16:creationId xmlns:a16="http://schemas.microsoft.com/office/drawing/2014/main" id="{7C3D67C2-EC59-47B6-B020-3CB8D492928B}"/>
              </a:ext>
            </a:extLst>
          </p:cNvPr>
          <p:cNvSpPr/>
          <p:nvPr/>
        </p:nvSpPr>
        <p:spPr>
          <a:xfrm>
            <a:off x="5280636" y="2408078"/>
            <a:ext cx="1159717" cy="410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t>Suc</a:t>
            </a:r>
            <a:r>
              <a:rPr lang="es-ES" dirty="0"/>
              <a:t> 03</a:t>
            </a:r>
            <a:endParaRPr lang="es-MX" dirty="0"/>
          </a:p>
        </p:txBody>
      </p:sp>
      <p:sp>
        <p:nvSpPr>
          <p:cNvPr id="7" name="Rectángulo 6">
            <a:extLst>
              <a:ext uri="{FF2B5EF4-FFF2-40B4-BE49-F238E27FC236}">
                <a16:creationId xmlns:a16="http://schemas.microsoft.com/office/drawing/2014/main" id="{10CD3210-761F-4CA0-AD16-86939B5115AA}"/>
              </a:ext>
            </a:extLst>
          </p:cNvPr>
          <p:cNvSpPr/>
          <p:nvPr/>
        </p:nvSpPr>
        <p:spPr>
          <a:xfrm>
            <a:off x="6543379" y="2408077"/>
            <a:ext cx="1159717" cy="410547"/>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t>Suc</a:t>
            </a:r>
            <a:r>
              <a:rPr lang="es-ES" dirty="0"/>
              <a:t> 04</a:t>
            </a:r>
            <a:endParaRPr lang="es-MX" dirty="0"/>
          </a:p>
        </p:txBody>
      </p:sp>
      <p:sp>
        <p:nvSpPr>
          <p:cNvPr id="8" name="Rectángulo 7">
            <a:extLst>
              <a:ext uri="{FF2B5EF4-FFF2-40B4-BE49-F238E27FC236}">
                <a16:creationId xmlns:a16="http://schemas.microsoft.com/office/drawing/2014/main" id="{681E98C6-D03B-4154-9B99-F0D251119463}"/>
              </a:ext>
            </a:extLst>
          </p:cNvPr>
          <p:cNvSpPr/>
          <p:nvPr/>
        </p:nvSpPr>
        <p:spPr>
          <a:xfrm>
            <a:off x="7821288" y="2408078"/>
            <a:ext cx="1159717" cy="410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t>Suc</a:t>
            </a:r>
            <a:r>
              <a:rPr lang="es-ES" dirty="0"/>
              <a:t> 05</a:t>
            </a:r>
            <a:endParaRPr lang="es-MX" dirty="0"/>
          </a:p>
        </p:txBody>
      </p:sp>
      <p:sp>
        <p:nvSpPr>
          <p:cNvPr id="9" name="Rectángulo 8">
            <a:extLst>
              <a:ext uri="{FF2B5EF4-FFF2-40B4-BE49-F238E27FC236}">
                <a16:creationId xmlns:a16="http://schemas.microsoft.com/office/drawing/2014/main" id="{941D8CAB-D3FE-482E-8E0F-45EEF07837F6}"/>
              </a:ext>
            </a:extLst>
          </p:cNvPr>
          <p:cNvSpPr/>
          <p:nvPr/>
        </p:nvSpPr>
        <p:spPr>
          <a:xfrm>
            <a:off x="9084031" y="2408077"/>
            <a:ext cx="1159717" cy="410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t>Suc</a:t>
            </a:r>
            <a:r>
              <a:rPr lang="es-ES" dirty="0"/>
              <a:t> 06</a:t>
            </a:r>
            <a:endParaRPr lang="es-MX" dirty="0"/>
          </a:p>
        </p:txBody>
      </p:sp>
      <p:sp>
        <p:nvSpPr>
          <p:cNvPr id="10" name="Rectángulo 9">
            <a:extLst>
              <a:ext uri="{FF2B5EF4-FFF2-40B4-BE49-F238E27FC236}">
                <a16:creationId xmlns:a16="http://schemas.microsoft.com/office/drawing/2014/main" id="{00F20EA5-F986-4065-A2D5-44F6D86A4215}"/>
              </a:ext>
            </a:extLst>
          </p:cNvPr>
          <p:cNvSpPr/>
          <p:nvPr/>
        </p:nvSpPr>
        <p:spPr>
          <a:xfrm>
            <a:off x="10346774" y="2408077"/>
            <a:ext cx="1159717" cy="410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t>Suc</a:t>
            </a:r>
            <a:r>
              <a:rPr lang="es-ES" dirty="0"/>
              <a:t> 07</a:t>
            </a:r>
            <a:endParaRPr lang="es-MX" dirty="0"/>
          </a:p>
        </p:txBody>
      </p:sp>
      <p:sp>
        <p:nvSpPr>
          <p:cNvPr id="12" name="Rectángulo 11">
            <a:extLst>
              <a:ext uri="{FF2B5EF4-FFF2-40B4-BE49-F238E27FC236}">
                <a16:creationId xmlns:a16="http://schemas.microsoft.com/office/drawing/2014/main" id="{F9645C26-FAA9-4B50-BB07-C9D69AA982FF}"/>
              </a:ext>
            </a:extLst>
          </p:cNvPr>
          <p:cNvSpPr/>
          <p:nvPr/>
        </p:nvSpPr>
        <p:spPr>
          <a:xfrm>
            <a:off x="5280636" y="3579838"/>
            <a:ext cx="4972255" cy="410547"/>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Servicio de Catálogo Extendido </a:t>
            </a:r>
            <a:r>
              <a:rPr lang="es-ES" dirty="0" err="1"/>
              <a:t>Suc</a:t>
            </a:r>
            <a:r>
              <a:rPr lang="es-ES" dirty="0"/>
              <a:t> 04</a:t>
            </a:r>
            <a:endParaRPr lang="es-MX" dirty="0"/>
          </a:p>
        </p:txBody>
      </p:sp>
      <p:sp>
        <p:nvSpPr>
          <p:cNvPr id="13" name="Rectángulo 12">
            <a:extLst>
              <a:ext uri="{FF2B5EF4-FFF2-40B4-BE49-F238E27FC236}">
                <a16:creationId xmlns:a16="http://schemas.microsoft.com/office/drawing/2014/main" id="{E7A8BE23-F950-459D-B031-E71A8E126931}"/>
              </a:ext>
            </a:extLst>
          </p:cNvPr>
          <p:cNvSpPr/>
          <p:nvPr/>
        </p:nvSpPr>
        <p:spPr>
          <a:xfrm>
            <a:off x="2767304" y="4685134"/>
            <a:ext cx="1159717" cy="41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01</a:t>
            </a:r>
            <a:endParaRPr lang="es-MX" dirty="0"/>
          </a:p>
        </p:txBody>
      </p:sp>
      <p:sp>
        <p:nvSpPr>
          <p:cNvPr id="14" name="Rectángulo 13">
            <a:extLst>
              <a:ext uri="{FF2B5EF4-FFF2-40B4-BE49-F238E27FC236}">
                <a16:creationId xmlns:a16="http://schemas.microsoft.com/office/drawing/2014/main" id="{DB911412-AE7C-4CBE-BC8A-4692BBCA72FC}"/>
              </a:ext>
            </a:extLst>
          </p:cNvPr>
          <p:cNvSpPr/>
          <p:nvPr/>
        </p:nvSpPr>
        <p:spPr>
          <a:xfrm>
            <a:off x="4030047" y="4685134"/>
            <a:ext cx="1159717" cy="4105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02</a:t>
            </a:r>
            <a:endParaRPr lang="es-MX" dirty="0"/>
          </a:p>
        </p:txBody>
      </p:sp>
      <p:sp>
        <p:nvSpPr>
          <p:cNvPr id="15" name="Rectángulo 14">
            <a:extLst>
              <a:ext uri="{FF2B5EF4-FFF2-40B4-BE49-F238E27FC236}">
                <a16:creationId xmlns:a16="http://schemas.microsoft.com/office/drawing/2014/main" id="{30332057-957E-4F71-B079-D656A2CD65DF}"/>
              </a:ext>
            </a:extLst>
          </p:cNvPr>
          <p:cNvSpPr/>
          <p:nvPr/>
        </p:nvSpPr>
        <p:spPr>
          <a:xfrm>
            <a:off x="5292790" y="4685134"/>
            <a:ext cx="1159717" cy="410545"/>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03 + 04a</a:t>
            </a:r>
            <a:endParaRPr lang="es-MX" dirty="0"/>
          </a:p>
        </p:txBody>
      </p:sp>
      <p:sp>
        <p:nvSpPr>
          <p:cNvPr id="16" name="Rectángulo 15">
            <a:extLst>
              <a:ext uri="{FF2B5EF4-FFF2-40B4-BE49-F238E27FC236}">
                <a16:creationId xmlns:a16="http://schemas.microsoft.com/office/drawing/2014/main" id="{50BFEF4E-CFEC-45FA-958E-1E2FCC4C6F8A}"/>
              </a:ext>
            </a:extLst>
          </p:cNvPr>
          <p:cNvSpPr/>
          <p:nvPr/>
        </p:nvSpPr>
        <p:spPr>
          <a:xfrm>
            <a:off x="6555533" y="4685133"/>
            <a:ext cx="1159717" cy="410544"/>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04 + 04a</a:t>
            </a:r>
            <a:endParaRPr lang="es-MX" dirty="0"/>
          </a:p>
        </p:txBody>
      </p:sp>
      <p:sp>
        <p:nvSpPr>
          <p:cNvPr id="17" name="Rectángulo 16">
            <a:extLst>
              <a:ext uri="{FF2B5EF4-FFF2-40B4-BE49-F238E27FC236}">
                <a16:creationId xmlns:a16="http://schemas.microsoft.com/office/drawing/2014/main" id="{B8B9C28C-52E2-4CBB-B74C-E7DAB11EBF19}"/>
              </a:ext>
            </a:extLst>
          </p:cNvPr>
          <p:cNvSpPr/>
          <p:nvPr/>
        </p:nvSpPr>
        <p:spPr>
          <a:xfrm>
            <a:off x="7833442" y="4685134"/>
            <a:ext cx="1159717" cy="410543"/>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05 + 04a</a:t>
            </a:r>
            <a:endParaRPr lang="es-MX" dirty="0"/>
          </a:p>
        </p:txBody>
      </p:sp>
      <p:sp>
        <p:nvSpPr>
          <p:cNvPr id="18" name="Rectángulo 17">
            <a:extLst>
              <a:ext uri="{FF2B5EF4-FFF2-40B4-BE49-F238E27FC236}">
                <a16:creationId xmlns:a16="http://schemas.microsoft.com/office/drawing/2014/main" id="{B4FB042A-4945-4819-82B7-AB451A39C495}"/>
              </a:ext>
            </a:extLst>
          </p:cNvPr>
          <p:cNvSpPr/>
          <p:nvPr/>
        </p:nvSpPr>
        <p:spPr>
          <a:xfrm>
            <a:off x="9096185" y="4685134"/>
            <a:ext cx="1159717" cy="410544"/>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06 + 04a</a:t>
            </a:r>
            <a:endParaRPr lang="es-MX" dirty="0"/>
          </a:p>
        </p:txBody>
      </p:sp>
      <p:sp>
        <p:nvSpPr>
          <p:cNvPr id="19" name="Rectángulo 18">
            <a:extLst>
              <a:ext uri="{FF2B5EF4-FFF2-40B4-BE49-F238E27FC236}">
                <a16:creationId xmlns:a16="http://schemas.microsoft.com/office/drawing/2014/main" id="{3B57CD9B-BF22-4CFC-B6A6-496EF12AAEF6}"/>
              </a:ext>
            </a:extLst>
          </p:cNvPr>
          <p:cNvSpPr/>
          <p:nvPr/>
        </p:nvSpPr>
        <p:spPr>
          <a:xfrm>
            <a:off x="10358928" y="4685134"/>
            <a:ext cx="1159717" cy="410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07</a:t>
            </a:r>
            <a:endParaRPr lang="es-MX" dirty="0"/>
          </a:p>
        </p:txBody>
      </p:sp>
      <p:cxnSp>
        <p:nvCxnSpPr>
          <p:cNvPr id="22" name="Conector recto de flecha 21">
            <a:extLst>
              <a:ext uri="{FF2B5EF4-FFF2-40B4-BE49-F238E27FC236}">
                <a16:creationId xmlns:a16="http://schemas.microsoft.com/office/drawing/2014/main" id="{AF364F7B-9C51-43BB-AADB-32B696B765B4}"/>
              </a:ext>
            </a:extLst>
          </p:cNvPr>
          <p:cNvCxnSpPr>
            <a:cxnSpLocks/>
            <a:endCxn id="15" idx="0"/>
          </p:cNvCxnSpPr>
          <p:nvPr/>
        </p:nvCxnSpPr>
        <p:spPr>
          <a:xfrm>
            <a:off x="5872649" y="3990385"/>
            <a:ext cx="0" cy="694749"/>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9778BA08-BF96-4036-8B8C-036D885DAA06}"/>
              </a:ext>
            </a:extLst>
          </p:cNvPr>
          <p:cNvCxnSpPr>
            <a:cxnSpLocks/>
            <a:endCxn id="16" idx="0"/>
          </p:cNvCxnSpPr>
          <p:nvPr/>
        </p:nvCxnSpPr>
        <p:spPr>
          <a:xfrm>
            <a:off x="7135392" y="3990385"/>
            <a:ext cx="0" cy="694748"/>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1B95820A-5BEC-46EF-BB7C-C6CB6ACD6D6C}"/>
              </a:ext>
            </a:extLst>
          </p:cNvPr>
          <p:cNvCxnSpPr>
            <a:cxnSpLocks/>
            <a:endCxn id="17" idx="0"/>
          </p:cNvCxnSpPr>
          <p:nvPr/>
        </p:nvCxnSpPr>
        <p:spPr>
          <a:xfrm flipH="1">
            <a:off x="8413301" y="3990385"/>
            <a:ext cx="6076" cy="694749"/>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ED0CE59E-6601-4B6F-8CDD-2BEEDA2B77A9}"/>
              </a:ext>
            </a:extLst>
          </p:cNvPr>
          <p:cNvCxnSpPr>
            <a:cxnSpLocks/>
            <a:endCxn id="18" idx="0"/>
          </p:cNvCxnSpPr>
          <p:nvPr/>
        </p:nvCxnSpPr>
        <p:spPr>
          <a:xfrm>
            <a:off x="9676044" y="3990385"/>
            <a:ext cx="0" cy="694749"/>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4657F2E6-C449-4FE4-8F3E-4081BA5902E9}"/>
              </a:ext>
            </a:extLst>
          </p:cNvPr>
          <p:cNvCxnSpPr>
            <a:cxnSpLocks/>
            <a:stCxn id="6" idx="1"/>
            <a:endCxn id="15" idx="1"/>
          </p:cNvCxnSpPr>
          <p:nvPr/>
        </p:nvCxnSpPr>
        <p:spPr>
          <a:xfrm>
            <a:off x="5280636" y="2613352"/>
            <a:ext cx="12154" cy="227705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7E82E53B-C01D-4EB3-8E58-85EFFB4FEDF5}"/>
              </a:ext>
            </a:extLst>
          </p:cNvPr>
          <p:cNvCxnSpPr>
            <a:cxnSpLocks/>
            <a:stCxn id="9" idx="3"/>
            <a:endCxn id="18" idx="3"/>
          </p:cNvCxnSpPr>
          <p:nvPr/>
        </p:nvCxnSpPr>
        <p:spPr>
          <a:xfrm>
            <a:off x="10243748" y="2613351"/>
            <a:ext cx="12154" cy="227705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6" name="Rectángulo 45">
            <a:extLst>
              <a:ext uri="{FF2B5EF4-FFF2-40B4-BE49-F238E27FC236}">
                <a16:creationId xmlns:a16="http://schemas.microsoft.com/office/drawing/2014/main" id="{2CBF9DA6-FF1F-4AEB-9716-74568B5FCAB8}"/>
              </a:ext>
            </a:extLst>
          </p:cNvPr>
          <p:cNvSpPr/>
          <p:nvPr/>
        </p:nvSpPr>
        <p:spPr>
          <a:xfrm>
            <a:off x="6555533" y="5476874"/>
            <a:ext cx="1159717" cy="410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03</a:t>
            </a:r>
            <a:endParaRPr lang="es-MX" dirty="0"/>
          </a:p>
        </p:txBody>
      </p:sp>
      <p:sp>
        <p:nvSpPr>
          <p:cNvPr id="47" name="Rectángulo 46">
            <a:extLst>
              <a:ext uri="{FF2B5EF4-FFF2-40B4-BE49-F238E27FC236}">
                <a16:creationId xmlns:a16="http://schemas.microsoft.com/office/drawing/2014/main" id="{61CC3291-AD7B-44C1-B51A-000CDA29B910}"/>
              </a:ext>
            </a:extLst>
          </p:cNvPr>
          <p:cNvSpPr/>
          <p:nvPr/>
        </p:nvSpPr>
        <p:spPr>
          <a:xfrm>
            <a:off x="6555533" y="6085503"/>
            <a:ext cx="1159717" cy="410547"/>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04a</a:t>
            </a:r>
            <a:endParaRPr lang="es-MX" dirty="0"/>
          </a:p>
        </p:txBody>
      </p:sp>
      <p:cxnSp>
        <p:nvCxnSpPr>
          <p:cNvPr id="49" name="Conector: angular 48">
            <a:extLst>
              <a:ext uri="{FF2B5EF4-FFF2-40B4-BE49-F238E27FC236}">
                <a16:creationId xmlns:a16="http://schemas.microsoft.com/office/drawing/2014/main" id="{DD5DC1B0-F9E7-4725-969A-052318866C9F}"/>
              </a:ext>
            </a:extLst>
          </p:cNvPr>
          <p:cNvCxnSpPr>
            <a:cxnSpLocks/>
            <a:stCxn id="15" idx="2"/>
            <a:endCxn id="46" idx="1"/>
          </p:cNvCxnSpPr>
          <p:nvPr/>
        </p:nvCxnSpPr>
        <p:spPr>
          <a:xfrm rot="16200000" flipH="1">
            <a:off x="5920857" y="5047471"/>
            <a:ext cx="586469" cy="682884"/>
          </a:xfrm>
          <a:prstGeom prst="bentConnector2">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51" name="Conector: angular 50">
            <a:extLst>
              <a:ext uri="{FF2B5EF4-FFF2-40B4-BE49-F238E27FC236}">
                <a16:creationId xmlns:a16="http://schemas.microsoft.com/office/drawing/2014/main" id="{0EE43F9F-D4CE-4E5E-B458-4345C55B1073}"/>
              </a:ext>
            </a:extLst>
          </p:cNvPr>
          <p:cNvCxnSpPr>
            <a:cxnSpLocks/>
            <a:stCxn id="15" idx="2"/>
            <a:endCxn id="47" idx="1"/>
          </p:cNvCxnSpPr>
          <p:nvPr/>
        </p:nvCxnSpPr>
        <p:spPr>
          <a:xfrm rot="16200000" flipH="1">
            <a:off x="5616542" y="5351786"/>
            <a:ext cx="1195098" cy="682884"/>
          </a:xfrm>
          <a:prstGeom prst="bentConnector2">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52" name="CuadroTexto 51">
            <a:extLst>
              <a:ext uri="{FF2B5EF4-FFF2-40B4-BE49-F238E27FC236}">
                <a16:creationId xmlns:a16="http://schemas.microsoft.com/office/drawing/2014/main" id="{7BD182C9-591D-4391-A473-1DE329260EBE}"/>
              </a:ext>
            </a:extLst>
          </p:cNvPr>
          <p:cNvSpPr txBox="1"/>
          <p:nvPr/>
        </p:nvSpPr>
        <p:spPr>
          <a:xfrm>
            <a:off x="7945795" y="5497481"/>
            <a:ext cx="3339697" cy="369332"/>
          </a:xfrm>
          <a:prstGeom prst="rect">
            <a:avLst/>
          </a:prstGeom>
          <a:noFill/>
        </p:spPr>
        <p:txBody>
          <a:bodyPr wrap="none" rtlCol="0">
            <a:spAutoFit/>
          </a:bodyPr>
          <a:lstStyle/>
          <a:p>
            <a:r>
              <a:rPr lang="es-ES" dirty="0" err="1"/>
              <a:t>Shipment</a:t>
            </a:r>
            <a:r>
              <a:rPr lang="es-ES" dirty="0"/>
              <a:t> SETC con Carrier Propio</a:t>
            </a:r>
            <a:endParaRPr lang="es-MX" dirty="0"/>
          </a:p>
        </p:txBody>
      </p:sp>
      <p:sp>
        <p:nvSpPr>
          <p:cNvPr id="53" name="CuadroTexto 52">
            <a:extLst>
              <a:ext uri="{FF2B5EF4-FFF2-40B4-BE49-F238E27FC236}">
                <a16:creationId xmlns:a16="http://schemas.microsoft.com/office/drawing/2014/main" id="{3BBF10BE-ED5D-4023-BD84-E106EEBD15A6}"/>
              </a:ext>
            </a:extLst>
          </p:cNvPr>
          <p:cNvSpPr txBox="1"/>
          <p:nvPr/>
        </p:nvSpPr>
        <p:spPr>
          <a:xfrm>
            <a:off x="7945795" y="6106110"/>
            <a:ext cx="3668633" cy="369332"/>
          </a:xfrm>
          <a:prstGeom prst="rect">
            <a:avLst/>
          </a:prstGeom>
          <a:noFill/>
        </p:spPr>
        <p:txBody>
          <a:bodyPr wrap="none" rtlCol="0">
            <a:spAutoFit/>
          </a:bodyPr>
          <a:lstStyle/>
          <a:p>
            <a:r>
              <a:rPr lang="es-ES" dirty="0" err="1"/>
              <a:t>Shipment</a:t>
            </a:r>
            <a:r>
              <a:rPr lang="es-ES" dirty="0"/>
              <a:t> SETC con Carrier Extendido</a:t>
            </a:r>
            <a:endParaRPr lang="es-MX" dirty="0"/>
          </a:p>
        </p:txBody>
      </p:sp>
      <p:sp>
        <p:nvSpPr>
          <p:cNvPr id="54" name="CuadroTexto 53">
            <a:extLst>
              <a:ext uri="{FF2B5EF4-FFF2-40B4-BE49-F238E27FC236}">
                <a16:creationId xmlns:a16="http://schemas.microsoft.com/office/drawing/2014/main" id="{DCF16812-00D0-495A-8CDA-765D51DFA08C}"/>
              </a:ext>
            </a:extLst>
          </p:cNvPr>
          <p:cNvSpPr txBox="1"/>
          <p:nvPr/>
        </p:nvSpPr>
        <p:spPr>
          <a:xfrm>
            <a:off x="192732" y="2290183"/>
            <a:ext cx="1645586" cy="646331"/>
          </a:xfrm>
          <a:prstGeom prst="rect">
            <a:avLst/>
          </a:prstGeom>
          <a:noFill/>
        </p:spPr>
        <p:txBody>
          <a:bodyPr wrap="square" rtlCol="0">
            <a:spAutoFit/>
          </a:bodyPr>
          <a:lstStyle/>
          <a:p>
            <a:r>
              <a:rPr lang="es-ES" dirty="0"/>
              <a:t>Catálogo Base de Tienda (SAP)</a:t>
            </a:r>
            <a:endParaRPr lang="es-MX" dirty="0"/>
          </a:p>
        </p:txBody>
      </p:sp>
      <p:sp>
        <p:nvSpPr>
          <p:cNvPr id="55" name="CuadroTexto 54">
            <a:extLst>
              <a:ext uri="{FF2B5EF4-FFF2-40B4-BE49-F238E27FC236}">
                <a16:creationId xmlns:a16="http://schemas.microsoft.com/office/drawing/2014/main" id="{2D3BF282-4143-441E-A860-22F941A8CE63}"/>
              </a:ext>
            </a:extLst>
          </p:cNvPr>
          <p:cNvSpPr txBox="1"/>
          <p:nvPr/>
        </p:nvSpPr>
        <p:spPr>
          <a:xfrm>
            <a:off x="211486" y="4567239"/>
            <a:ext cx="1371792" cy="646331"/>
          </a:xfrm>
          <a:prstGeom prst="rect">
            <a:avLst/>
          </a:prstGeom>
          <a:noFill/>
        </p:spPr>
        <p:txBody>
          <a:bodyPr wrap="square" rtlCol="0">
            <a:spAutoFit/>
          </a:bodyPr>
          <a:lstStyle/>
          <a:p>
            <a:r>
              <a:rPr lang="es-ES" dirty="0"/>
              <a:t>Catálogo Canal Digital</a:t>
            </a:r>
            <a:endParaRPr lang="es-MX" dirty="0"/>
          </a:p>
        </p:txBody>
      </p:sp>
      <p:sp>
        <p:nvSpPr>
          <p:cNvPr id="56" name="CuadroTexto 55">
            <a:extLst>
              <a:ext uri="{FF2B5EF4-FFF2-40B4-BE49-F238E27FC236}">
                <a16:creationId xmlns:a16="http://schemas.microsoft.com/office/drawing/2014/main" id="{33404080-C0E9-4FDD-B970-59CD68D72EE7}"/>
              </a:ext>
            </a:extLst>
          </p:cNvPr>
          <p:cNvSpPr txBox="1"/>
          <p:nvPr/>
        </p:nvSpPr>
        <p:spPr>
          <a:xfrm>
            <a:off x="187400" y="3422339"/>
            <a:ext cx="2203375" cy="646331"/>
          </a:xfrm>
          <a:prstGeom prst="rect">
            <a:avLst/>
          </a:prstGeom>
          <a:noFill/>
        </p:spPr>
        <p:txBody>
          <a:bodyPr wrap="square" rtlCol="0">
            <a:spAutoFit/>
          </a:bodyPr>
          <a:lstStyle/>
          <a:p>
            <a:r>
              <a:rPr lang="es-ES" dirty="0"/>
              <a:t>Catálogo Extendido de Tienda DST (SAP)</a:t>
            </a:r>
            <a:endParaRPr lang="es-MX" dirty="0"/>
          </a:p>
        </p:txBody>
      </p:sp>
      <p:cxnSp>
        <p:nvCxnSpPr>
          <p:cNvPr id="65" name="Conector recto de flecha 64">
            <a:extLst>
              <a:ext uri="{FF2B5EF4-FFF2-40B4-BE49-F238E27FC236}">
                <a16:creationId xmlns:a16="http://schemas.microsoft.com/office/drawing/2014/main" id="{197C34A5-30C5-4EF4-AE8F-FCCDCB83A021}"/>
              </a:ext>
            </a:extLst>
          </p:cNvPr>
          <p:cNvCxnSpPr>
            <a:cxnSpLocks/>
            <a:stCxn id="5" idx="2"/>
            <a:endCxn id="14" idx="0"/>
          </p:cNvCxnSpPr>
          <p:nvPr/>
        </p:nvCxnSpPr>
        <p:spPr>
          <a:xfrm>
            <a:off x="4597752" y="2818624"/>
            <a:ext cx="12154" cy="1866510"/>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ector recto de flecha 67">
            <a:extLst>
              <a:ext uri="{FF2B5EF4-FFF2-40B4-BE49-F238E27FC236}">
                <a16:creationId xmlns:a16="http://schemas.microsoft.com/office/drawing/2014/main" id="{FD467EBC-CAE8-4832-B1BE-9637F8BE9C47}"/>
              </a:ext>
            </a:extLst>
          </p:cNvPr>
          <p:cNvCxnSpPr>
            <a:cxnSpLocks/>
            <a:stCxn id="4" idx="2"/>
            <a:endCxn id="13" idx="0"/>
          </p:cNvCxnSpPr>
          <p:nvPr/>
        </p:nvCxnSpPr>
        <p:spPr>
          <a:xfrm>
            <a:off x="3335009" y="2818625"/>
            <a:ext cx="12154" cy="1866509"/>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ector recto de flecha 70">
            <a:extLst>
              <a:ext uri="{FF2B5EF4-FFF2-40B4-BE49-F238E27FC236}">
                <a16:creationId xmlns:a16="http://schemas.microsoft.com/office/drawing/2014/main" id="{B795A73A-67DB-4F7C-B761-0CCAEA5C667A}"/>
              </a:ext>
            </a:extLst>
          </p:cNvPr>
          <p:cNvCxnSpPr>
            <a:cxnSpLocks/>
            <a:stCxn id="10" idx="2"/>
            <a:endCxn id="19" idx="0"/>
          </p:cNvCxnSpPr>
          <p:nvPr/>
        </p:nvCxnSpPr>
        <p:spPr>
          <a:xfrm>
            <a:off x="10926633" y="2818624"/>
            <a:ext cx="12154" cy="1866510"/>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ector recto de flecha 77">
            <a:extLst>
              <a:ext uri="{FF2B5EF4-FFF2-40B4-BE49-F238E27FC236}">
                <a16:creationId xmlns:a16="http://schemas.microsoft.com/office/drawing/2014/main" id="{D82A2980-56A9-42E6-A196-0F52480D9763}"/>
              </a:ext>
            </a:extLst>
          </p:cNvPr>
          <p:cNvCxnSpPr>
            <a:cxnSpLocks/>
            <a:stCxn id="6" idx="2"/>
          </p:cNvCxnSpPr>
          <p:nvPr/>
        </p:nvCxnSpPr>
        <p:spPr>
          <a:xfrm flipH="1">
            <a:off x="5860494" y="2818625"/>
            <a:ext cx="1" cy="761213"/>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ector recto de flecha 78">
            <a:extLst>
              <a:ext uri="{FF2B5EF4-FFF2-40B4-BE49-F238E27FC236}">
                <a16:creationId xmlns:a16="http://schemas.microsoft.com/office/drawing/2014/main" id="{F0BC4D3F-F659-43D2-9027-863494C828B7}"/>
              </a:ext>
            </a:extLst>
          </p:cNvPr>
          <p:cNvCxnSpPr>
            <a:cxnSpLocks/>
            <a:stCxn id="7" idx="2"/>
          </p:cNvCxnSpPr>
          <p:nvPr/>
        </p:nvCxnSpPr>
        <p:spPr>
          <a:xfrm>
            <a:off x="7123238" y="2818624"/>
            <a:ext cx="0" cy="761214"/>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ector recto de flecha 79">
            <a:extLst>
              <a:ext uri="{FF2B5EF4-FFF2-40B4-BE49-F238E27FC236}">
                <a16:creationId xmlns:a16="http://schemas.microsoft.com/office/drawing/2014/main" id="{5BC466CC-C5DE-41FA-AB42-9C24E6307178}"/>
              </a:ext>
            </a:extLst>
          </p:cNvPr>
          <p:cNvCxnSpPr>
            <a:cxnSpLocks/>
            <a:stCxn id="8" idx="2"/>
          </p:cNvCxnSpPr>
          <p:nvPr/>
        </p:nvCxnSpPr>
        <p:spPr>
          <a:xfrm>
            <a:off x="8401147" y="2818625"/>
            <a:ext cx="12153" cy="761213"/>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a:extLst>
              <a:ext uri="{FF2B5EF4-FFF2-40B4-BE49-F238E27FC236}">
                <a16:creationId xmlns:a16="http://schemas.microsoft.com/office/drawing/2014/main" id="{9F51808C-CEB3-4121-A46E-E64B33E6423D}"/>
              </a:ext>
            </a:extLst>
          </p:cNvPr>
          <p:cNvCxnSpPr>
            <a:cxnSpLocks/>
            <a:stCxn id="9" idx="2"/>
          </p:cNvCxnSpPr>
          <p:nvPr/>
        </p:nvCxnSpPr>
        <p:spPr>
          <a:xfrm>
            <a:off x="9663890" y="2818624"/>
            <a:ext cx="12153" cy="737608"/>
          </a:xfrm>
          <a:prstGeom prst="straightConnector1">
            <a:avLst/>
          </a:prstGeom>
          <a:ln w="6985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0760ED18-0618-40BF-A6CA-ABBD9EB31115}"/>
              </a:ext>
            </a:extLst>
          </p:cNvPr>
          <p:cNvSpPr txBox="1"/>
          <p:nvPr/>
        </p:nvSpPr>
        <p:spPr>
          <a:xfrm>
            <a:off x="329678" y="2936514"/>
            <a:ext cx="1313886" cy="307777"/>
          </a:xfrm>
          <a:prstGeom prst="rect">
            <a:avLst/>
          </a:prstGeom>
          <a:noFill/>
        </p:spPr>
        <p:txBody>
          <a:bodyPr wrap="none" rtlCol="0">
            <a:spAutoFit/>
          </a:bodyPr>
          <a:lstStyle/>
          <a:p>
            <a:r>
              <a:rPr lang="es-ES" sz="1400" dirty="0"/>
              <a:t>Cobertura SETC</a:t>
            </a:r>
          </a:p>
        </p:txBody>
      </p:sp>
      <p:cxnSp>
        <p:nvCxnSpPr>
          <p:cNvPr id="48" name="Conector recto 47">
            <a:extLst>
              <a:ext uri="{FF2B5EF4-FFF2-40B4-BE49-F238E27FC236}">
                <a16:creationId xmlns:a16="http://schemas.microsoft.com/office/drawing/2014/main" id="{D2ACDE06-D290-451A-8711-032D76F75F06}"/>
              </a:ext>
            </a:extLst>
          </p:cNvPr>
          <p:cNvCxnSpPr>
            <a:cxnSpLocks/>
          </p:cNvCxnSpPr>
          <p:nvPr/>
        </p:nvCxnSpPr>
        <p:spPr>
          <a:xfrm>
            <a:off x="5274124" y="1609725"/>
            <a:ext cx="0" cy="798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2CDF02C7-4D49-475E-8786-54BF68C2E0E7}"/>
              </a:ext>
            </a:extLst>
          </p:cNvPr>
          <p:cNvCxnSpPr>
            <a:cxnSpLocks/>
          </p:cNvCxnSpPr>
          <p:nvPr/>
        </p:nvCxnSpPr>
        <p:spPr>
          <a:xfrm>
            <a:off x="10243748" y="1609725"/>
            <a:ext cx="0" cy="798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CB8FA4CD-87EC-437F-81D6-DE52A44ADEDB}"/>
              </a:ext>
            </a:extLst>
          </p:cNvPr>
          <p:cNvCxnSpPr>
            <a:cxnSpLocks/>
          </p:cNvCxnSpPr>
          <p:nvPr/>
        </p:nvCxnSpPr>
        <p:spPr>
          <a:xfrm>
            <a:off x="5268538" y="2007442"/>
            <a:ext cx="4969624" cy="0"/>
          </a:xfrm>
          <a:prstGeom prst="line">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CuadroTexto 60">
            <a:extLst>
              <a:ext uri="{FF2B5EF4-FFF2-40B4-BE49-F238E27FC236}">
                <a16:creationId xmlns:a16="http://schemas.microsoft.com/office/drawing/2014/main" id="{A94ECFDE-8ADE-4C05-A28C-4AFD9870EBF3}"/>
              </a:ext>
            </a:extLst>
          </p:cNvPr>
          <p:cNvSpPr txBox="1"/>
          <p:nvPr/>
        </p:nvSpPr>
        <p:spPr>
          <a:xfrm>
            <a:off x="358582" y="4068670"/>
            <a:ext cx="1242584" cy="307777"/>
          </a:xfrm>
          <a:prstGeom prst="rect">
            <a:avLst/>
          </a:prstGeom>
          <a:noFill/>
        </p:spPr>
        <p:txBody>
          <a:bodyPr wrap="none" rtlCol="0">
            <a:spAutoFit/>
          </a:bodyPr>
          <a:lstStyle/>
          <a:p>
            <a:r>
              <a:rPr lang="es-ES" sz="1400" dirty="0"/>
              <a:t>Cobertura DST</a:t>
            </a:r>
            <a:endParaRPr lang="es-MX" sz="1400" dirty="0"/>
          </a:p>
        </p:txBody>
      </p:sp>
      <p:sp>
        <p:nvSpPr>
          <p:cNvPr id="62" name="CuadroTexto 61">
            <a:extLst>
              <a:ext uri="{FF2B5EF4-FFF2-40B4-BE49-F238E27FC236}">
                <a16:creationId xmlns:a16="http://schemas.microsoft.com/office/drawing/2014/main" id="{E20FBA77-56D7-4038-84C0-5F9B2EA68D02}"/>
              </a:ext>
            </a:extLst>
          </p:cNvPr>
          <p:cNvSpPr txBox="1"/>
          <p:nvPr/>
        </p:nvSpPr>
        <p:spPr>
          <a:xfrm>
            <a:off x="5552562" y="1645448"/>
            <a:ext cx="4479431" cy="307777"/>
          </a:xfrm>
          <a:prstGeom prst="rect">
            <a:avLst/>
          </a:prstGeom>
          <a:noFill/>
        </p:spPr>
        <p:txBody>
          <a:bodyPr wrap="none" rtlCol="0">
            <a:spAutoFit/>
          </a:bodyPr>
          <a:lstStyle/>
          <a:p>
            <a:pPr algn="ctr"/>
            <a:r>
              <a:rPr lang="es-ES" sz="1400" dirty="0"/>
              <a:t>Cobertura Mercancía DST en 03, 04, 05 ,06 (Se surte de 04)</a:t>
            </a:r>
            <a:endParaRPr lang="es-MX" sz="1400" dirty="0"/>
          </a:p>
        </p:txBody>
      </p:sp>
      <p:graphicFrame>
        <p:nvGraphicFramePr>
          <p:cNvPr id="63" name="Object 5">
            <a:extLst>
              <a:ext uri="{FF2B5EF4-FFF2-40B4-BE49-F238E27FC236}">
                <a16:creationId xmlns:a16="http://schemas.microsoft.com/office/drawing/2014/main" id="{6177464E-35D9-4944-A143-B6B47B987C83}"/>
              </a:ext>
            </a:extLst>
          </p:cNvPr>
          <p:cNvGraphicFramePr>
            <a:graphicFrameLocks noChangeAspect="1"/>
          </p:cNvGraphicFramePr>
          <p:nvPr/>
        </p:nvGraphicFramePr>
        <p:xfrm>
          <a:off x="368300" y="293998"/>
          <a:ext cx="1868488" cy="531812"/>
        </p:xfrm>
        <a:graphic>
          <a:graphicData uri="http://schemas.openxmlformats.org/presentationml/2006/ole">
            <mc:AlternateContent xmlns:mc="http://schemas.openxmlformats.org/markup-compatibility/2006">
              <mc:Choice xmlns:v="urn:schemas-microsoft-com:vml" Requires="v">
                <p:oleObj name="Image" r:id="rId2" imgW="2768254" imgH="787024" progId="Photoshop.Image.11">
                  <p:embed/>
                </p:oleObj>
              </mc:Choice>
              <mc:Fallback>
                <p:oleObj name="Image" r:id="rId2" imgW="2768254" imgH="787024" progId="Photoshop.Image.11">
                  <p:embed/>
                  <p:pic>
                    <p:nvPicPr>
                      <p:cNvPr id="31" name="Object 5">
                        <a:extLst>
                          <a:ext uri="{FF2B5EF4-FFF2-40B4-BE49-F238E27FC236}">
                            <a16:creationId xmlns:a16="http://schemas.microsoft.com/office/drawing/2014/main" id="{B18D4D2B-E490-46CF-9204-19A6A103DE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293998"/>
                        <a:ext cx="1868488"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 name="Título 1">
            <a:extLst>
              <a:ext uri="{FF2B5EF4-FFF2-40B4-BE49-F238E27FC236}">
                <a16:creationId xmlns:a16="http://schemas.microsoft.com/office/drawing/2014/main" id="{2DFD6DD8-4326-4A84-9DFB-5EBDCB4BE26F}"/>
              </a:ext>
            </a:extLst>
          </p:cNvPr>
          <p:cNvSpPr txBox="1">
            <a:spLocks/>
          </p:cNvSpPr>
          <p:nvPr/>
        </p:nvSpPr>
        <p:spPr>
          <a:xfrm>
            <a:off x="2390775" y="308286"/>
            <a:ext cx="8991600" cy="1325563"/>
          </a:xfrm>
          <a:prstGeom prst="rect">
            <a:avLst/>
          </a:prstGeom>
        </p:spPr>
        <p:txBody>
          <a:bodyPr vert="horz" lIns="91440" tIns="45720" rIns="91440" bIns="45720" rtlCol="0" anchor="ctr">
            <a:normAutofit/>
          </a:bodyPr>
          <a:lstStyle>
            <a:lvl1pPr>
              <a:lnSpc>
                <a:spcPct val="90000"/>
              </a:lnSpc>
              <a:spcBef>
                <a:spcPct val="0"/>
              </a:spcBef>
              <a:buNone/>
              <a:defRPr sz="4400">
                <a:latin typeface="+mj-lt"/>
                <a:ea typeface="+mj-ea"/>
                <a:cs typeface="+mj-cs"/>
              </a:defRPr>
            </a:lvl1pPr>
          </a:lstStyle>
          <a:p>
            <a:r>
              <a:rPr lang="es-ES" dirty="0"/>
              <a:t>Catalogo Extendido de Tienda (DST)</a:t>
            </a:r>
            <a:endParaRPr lang="es-MX" dirty="0"/>
          </a:p>
        </p:txBody>
      </p:sp>
    </p:spTree>
    <p:extLst>
      <p:ext uri="{BB962C8B-B14F-4D97-AF65-F5344CB8AC3E}">
        <p14:creationId xmlns:p14="http://schemas.microsoft.com/office/powerpoint/2010/main" val="635508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6FC601-2750-46DA-8589-BE57B66F730C}"/>
              </a:ext>
            </a:extLst>
          </p:cNvPr>
          <p:cNvSpPr>
            <a:spLocks noGrp="1"/>
          </p:cNvSpPr>
          <p:nvPr>
            <p:ph type="title"/>
          </p:nvPr>
        </p:nvSpPr>
        <p:spPr>
          <a:xfrm>
            <a:off x="2390775" y="308286"/>
            <a:ext cx="8991600" cy="1325563"/>
          </a:xfrm>
        </p:spPr>
        <p:txBody>
          <a:bodyPr/>
          <a:lstStyle/>
          <a:p>
            <a:r>
              <a:rPr lang="es-ES" dirty="0"/>
              <a:t>Catalogo Extendido de Tienda (DST)</a:t>
            </a:r>
            <a:endParaRPr lang="es-MX" dirty="0"/>
          </a:p>
        </p:txBody>
      </p:sp>
      <p:graphicFrame>
        <p:nvGraphicFramePr>
          <p:cNvPr id="3" name="Object 5">
            <a:extLst>
              <a:ext uri="{FF2B5EF4-FFF2-40B4-BE49-F238E27FC236}">
                <a16:creationId xmlns:a16="http://schemas.microsoft.com/office/drawing/2014/main" id="{10BAB0CA-D34F-4F7B-A880-058CCB839A74}"/>
              </a:ext>
            </a:extLst>
          </p:cNvPr>
          <p:cNvGraphicFramePr>
            <a:graphicFrameLocks noChangeAspect="1"/>
          </p:cNvGraphicFramePr>
          <p:nvPr/>
        </p:nvGraphicFramePr>
        <p:xfrm>
          <a:off x="368300" y="293998"/>
          <a:ext cx="1868488" cy="531812"/>
        </p:xfrm>
        <a:graphic>
          <a:graphicData uri="http://schemas.openxmlformats.org/presentationml/2006/ole">
            <mc:AlternateContent xmlns:mc="http://schemas.openxmlformats.org/markup-compatibility/2006">
              <mc:Choice xmlns:v="urn:schemas-microsoft-com:vml" Requires="v">
                <p:oleObj name="Image" r:id="rId2" imgW="2768254" imgH="787024" progId="Photoshop.Image.11">
                  <p:embed/>
                </p:oleObj>
              </mc:Choice>
              <mc:Fallback>
                <p:oleObj name="Image" r:id="rId2" imgW="2768254" imgH="787024" progId="Photoshop.Image.11">
                  <p:embed/>
                  <p:pic>
                    <p:nvPicPr>
                      <p:cNvPr id="3" name="Object 5">
                        <a:extLst>
                          <a:ext uri="{FF2B5EF4-FFF2-40B4-BE49-F238E27FC236}">
                            <a16:creationId xmlns:a16="http://schemas.microsoft.com/office/drawing/2014/main" id="{10BAB0CA-D34F-4F7B-A880-058CCB839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293998"/>
                        <a:ext cx="1868488"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CuadroTexto 3">
            <a:extLst>
              <a:ext uri="{FF2B5EF4-FFF2-40B4-BE49-F238E27FC236}">
                <a16:creationId xmlns:a16="http://schemas.microsoft.com/office/drawing/2014/main" id="{B89A7B5A-54EE-42D6-9FD2-D0F397D0DA3A}"/>
              </a:ext>
            </a:extLst>
          </p:cNvPr>
          <p:cNvSpPr txBox="1"/>
          <p:nvPr/>
        </p:nvSpPr>
        <p:spPr>
          <a:xfrm>
            <a:off x="704850" y="1157288"/>
            <a:ext cx="1389098" cy="584775"/>
          </a:xfrm>
          <a:prstGeom prst="rect">
            <a:avLst/>
          </a:prstGeom>
          <a:noFill/>
        </p:spPr>
        <p:txBody>
          <a:bodyPr wrap="none" rtlCol="0">
            <a:spAutoFit/>
          </a:bodyPr>
          <a:lstStyle/>
          <a:p>
            <a:r>
              <a:rPr lang="es-ES" sz="3200" dirty="0"/>
              <a:t>Ajustes</a:t>
            </a:r>
            <a:endParaRPr lang="es-MX" sz="3200" dirty="0"/>
          </a:p>
        </p:txBody>
      </p:sp>
      <p:sp>
        <p:nvSpPr>
          <p:cNvPr id="7" name="CuadroTexto 6">
            <a:extLst>
              <a:ext uri="{FF2B5EF4-FFF2-40B4-BE49-F238E27FC236}">
                <a16:creationId xmlns:a16="http://schemas.microsoft.com/office/drawing/2014/main" id="{FE81B0EB-203D-41EF-954B-BB9A8B97E906}"/>
              </a:ext>
            </a:extLst>
          </p:cNvPr>
          <p:cNvSpPr txBox="1"/>
          <p:nvPr/>
        </p:nvSpPr>
        <p:spPr>
          <a:xfrm>
            <a:off x="1428750" y="1754118"/>
            <a:ext cx="9744075" cy="2062103"/>
          </a:xfrm>
          <a:prstGeom prst="rect">
            <a:avLst/>
          </a:prstGeom>
          <a:noFill/>
        </p:spPr>
        <p:txBody>
          <a:bodyPr wrap="square" rtlCol="0">
            <a:spAutoFit/>
          </a:bodyPr>
          <a:lstStyle/>
          <a:p>
            <a:pPr marL="285750" indent="-285750">
              <a:spcAft>
                <a:spcPts val="800"/>
              </a:spcAft>
              <a:buFont typeface="Arial" panose="020B0604020202020204" pitchFamily="34" charset="0"/>
              <a:buChar char="•"/>
            </a:pPr>
            <a:r>
              <a:rPr lang="es-ES" dirty="0"/>
              <a:t>El proceso de generación de archivos XML de </a:t>
            </a:r>
            <a:r>
              <a:rPr lang="es-ES" dirty="0" err="1"/>
              <a:t>Pricebooks</a:t>
            </a:r>
            <a:r>
              <a:rPr lang="es-ES" dirty="0"/>
              <a:t> e Inventarios deberá incluir los artículos del catálogo extendido.</a:t>
            </a:r>
          </a:p>
          <a:p>
            <a:pPr marL="285750" indent="-285750">
              <a:spcAft>
                <a:spcPts val="800"/>
              </a:spcAft>
              <a:buFont typeface="Arial" panose="020B0604020202020204" pitchFamily="34" charset="0"/>
              <a:buChar char="•"/>
            </a:pPr>
            <a:r>
              <a:rPr lang="es-ES" dirty="0"/>
              <a:t>El </a:t>
            </a:r>
            <a:r>
              <a:rPr lang="es-ES" dirty="0" err="1"/>
              <a:t>splitter</a:t>
            </a:r>
            <a:r>
              <a:rPr lang="es-ES" dirty="0"/>
              <a:t> del </a:t>
            </a:r>
            <a:r>
              <a:rPr lang="es-ES" dirty="0" err="1"/>
              <a:t>Checkout</a:t>
            </a:r>
            <a:r>
              <a:rPr lang="es-ES" dirty="0"/>
              <a:t> deberá separar la mercancía del catálogo extendido en otro embarque.</a:t>
            </a:r>
          </a:p>
          <a:p>
            <a:pPr marL="285750" indent="-285750">
              <a:spcAft>
                <a:spcPts val="800"/>
              </a:spcAft>
              <a:buFont typeface="Arial" panose="020B0604020202020204" pitchFamily="34" charset="0"/>
              <a:buChar char="•"/>
            </a:pPr>
            <a:r>
              <a:rPr lang="es-ES" dirty="0"/>
              <a:t>El OMS de tienda deberá identificar estos embarques para usar otro transportista.</a:t>
            </a:r>
          </a:p>
          <a:p>
            <a:pPr marL="285750" indent="-285750">
              <a:spcAft>
                <a:spcPts val="800"/>
              </a:spcAft>
              <a:buFont typeface="Arial" panose="020B0604020202020204" pitchFamily="34" charset="0"/>
              <a:buChar char="•"/>
            </a:pPr>
            <a:r>
              <a:rPr lang="es-ES" dirty="0"/>
              <a:t>Se tendrá que revisar el comportamiento de las promociones: se señaliza en una sucursal y se cobra en otra. En el peor de los casos se respetará el mejor precio entre las dos sucursales.</a:t>
            </a:r>
          </a:p>
        </p:txBody>
      </p:sp>
      <p:sp>
        <p:nvSpPr>
          <p:cNvPr id="6" name="CuadroTexto 5">
            <a:extLst>
              <a:ext uri="{FF2B5EF4-FFF2-40B4-BE49-F238E27FC236}">
                <a16:creationId xmlns:a16="http://schemas.microsoft.com/office/drawing/2014/main" id="{4869E561-BC08-4A50-9978-FE81F1704E42}"/>
              </a:ext>
            </a:extLst>
          </p:cNvPr>
          <p:cNvSpPr txBox="1"/>
          <p:nvPr/>
        </p:nvSpPr>
        <p:spPr>
          <a:xfrm>
            <a:off x="704850" y="3957638"/>
            <a:ext cx="1598130" cy="584775"/>
          </a:xfrm>
          <a:prstGeom prst="rect">
            <a:avLst/>
          </a:prstGeom>
          <a:noFill/>
        </p:spPr>
        <p:txBody>
          <a:bodyPr wrap="none" rtlCol="0">
            <a:spAutoFit/>
          </a:bodyPr>
          <a:lstStyle/>
          <a:p>
            <a:r>
              <a:rPr lang="es-ES" sz="3200" dirty="0"/>
              <a:t>Ventajas</a:t>
            </a:r>
            <a:endParaRPr lang="es-MX" sz="3200" dirty="0"/>
          </a:p>
        </p:txBody>
      </p:sp>
      <p:sp>
        <p:nvSpPr>
          <p:cNvPr id="8" name="CuadroTexto 7">
            <a:extLst>
              <a:ext uri="{FF2B5EF4-FFF2-40B4-BE49-F238E27FC236}">
                <a16:creationId xmlns:a16="http://schemas.microsoft.com/office/drawing/2014/main" id="{C306BC92-B389-404D-800D-DF5F7FFB9780}"/>
              </a:ext>
            </a:extLst>
          </p:cNvPr>
          <p:cNvSpPr txBox="1"/>
          <p:nvPr/>
        </p:nvSpPr>
        <p:spPr>
          <a:xfrm>
            <a:off x="1428750" y="4554468"/>
            <a:ext cx="9744075" cy="748923"/>
          </a:xfrm>
          <a:prstGeom prst="rect">
            <a:avLst/>
          </a:prstGeom>
          <a:noFill/>
        </p:spPr>
        <p:txBody>
          <a:bodyPr wrap="square" rtlCol="0">
            <a:spAutoFit/>
          </a:bodyPr>
          <a:lstStyle/>
          <a:p>
            <a:pPr marL="285750" indent="-285750">
              <a:spcAft>
                <a:spcPts val="800"/>
              </a:spcAft>
              <a:buFont typeface="Arial" panose="020B0604020202020204" pitchFamily="34" charset="0"/>
              <a:buChar char="•"/>
            </a:pPr>
            <a:r>
              <a:rPr lang="es-ES" dirty="0"/>
              <a:t>Implementación muy sencilla</a:t>
            </a:r>
          </a:p>
          <a:p>
            <a:pPr marL="285750" indent="-285750">
              <a:spcAft>
                <a:spcPts val="800"/>
              </a:spcAft>
              <a:buFont typeface="Arial" panose="020B0604020202020204" pitchFamily="34" charset="0"/>
              <a:buChar char="•"/>
            </a:pPr>
            <a:r>
              <a:rPr lang="es-ES" dirty="0"/>
              <a:t>No requiere ajuste en SFCC</a:t>
            </a:r>
          </a:p>
        </p:txBody>
      </p:sp>
      <p:sp>
        <p:nvSpPr>
          <p:cNvPr id="9" name="CuadroTexto 8">
            <a:extLst>
              <a:ext uri="{FF2B5EF4-FFF2-40B4-BE49-F238E27FC236}">
                <a16:creationId xmlns:a16="http://schemas.microsoft.com/office/drawing/2014/main" id="{777F2478-0CE9-46CF-832B-80E5A8C9C01F}"/>
              </a:ext>
            </a:extLst>
          </p:cNvPr>
          <p:cNvSpPr txBox="1"/>
          <p:nvPr/>
        </p:nvSpPr>
        <p:spPr>
          <a:xfrm>
            <a:off x="704850" y="5463858"/>
            <a:ext cx="2178994" cy="584775"/>
          </a:xfrm>
          <a:prstGeom prst="rect">
            <a:avLst/>
          </a:prstGeom>
          <a:noFill/>
        </p:spPr>
        <p:txBody>
          <a:bodyPr wrap="none" rtlCol="0">
            <a:spAutoFit/>
          </a:bodyPr>
          <a:lstStyle/>
          <a:p>
            <a:r>
              <a:rPr lang="es-ES" sz="3200" dirty="0"/>
              <a:t>Desventajas</a:t>
            </a:r>
            <a:endParaRPr lang="es-MX" sz="3200" dirty="0"/>
          </a:p>
        </p:txBody>
      </p:sp>
      <p:sp>
        <p:nvSpPr>
          <p:cNvPr id="10" name="CuadroTexto 9">
            <a:extLst>
              <a:ext uri="{FF2B5EF4-FFF2-40B4-BE49-F238E27FC236}">
                <a16:creationId xmlns:a16="http://schemas.microsoft.com/office/drawing/2014/main" id="{5D53B206-0475-4664-AF17-750AB538B070}"/>
              </a:ext>
            </a:extLst>
          </p:cNvPr>
          <p:cNvSpPr txBox="1"/>
          <p:nvPr/>
        </p:nvSpPr>
        <p:spPr>
          <a:xfrm>
            <a:off x="1428750" y="6060688"/>
            <a:ext cx="9744075" cy="646331"/>
          </a:xfrm>
          <a:prstGeom prst="rect">
            <a:avLst/>
          </a:prstGeom>
          <a:noFill/>
        </p:spPr>
        <p:txBody>
          <a:bodyPr wrap="square" rtlCol="0">
            <a:spAutoFit/>
          </a:bodyPr>
          <a:lstStyle/>
          <a:p>
            <a:pPr marL="285750" indent="-285750">
              <a:spcAft>
                <a:spcPts val="800"/>
              </a:spcAft>
              <a:buFont typeface="Arial" panose="020B0604020202020204" pitchFamily="34" charset="0"/>
              <a:buChar char="•"/>
            </a:pPr>
            <a:r>
              <a:rPr lang="es-ES" dirty="0"/>
              <a:t>Solo se podrá ofrecer cobertura en los códigos postales en lo que exista cobertura para Super En Tu Casa</a:t>
            </a:r>
          </a:p>
        </p:txBody>
      </p:sp>
    </p:spTree>
    <p:extLst>
      <p:ext uri="{BB962C8B-B14F-4D97-AF65-F5344CB8AC3E}">
        <p14:creationId xmlns:p14="http://schemas.microsoft.com/office/powerpoint/2010/main" val="1115554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6FC601-2750-46DA-8589-BE57B66F730C}"/>
              </a:ext>
            </a:extLst>
          </p:cNvPr>
          <p:cNvSpPr>
            <a:spLocks noGrp="1"/>
          </p:cNvSpPr>
          <p:nvPr>
            <p:ph type="title"/>
          </p:nvPr>
        </p:nvSpPr>
        <p:spPr>
          <a:xfrm>
            <a:off x="2390775" y="308286"/>
            <a:ext cx="9260302" cy="1325563"/>
          </a:xfrm>
        </p:spPr>
        <p:txBody>
          <a:bodyPr/>
          <a:lstStyle/>
          <a:p>
            <a:r>
              <a:rPr lang="es-ES" dirty="0"/>
              <a:t>Criterio de selección de tienda/almacén</a:t>
            </a:r>
            <a:endParaRPr lang="es-MX" dirty="0"/>
          </a:p>
        </p:txBody>
      </p:sp>
      <p:graphicFrame>
        <p:nvGraphicFramePr>
          <p:cNvPr id="3" name="Object 5">
            <a:extLst>
              <a:ext uri="{FF2B5EF4-FFF2-40B4-BE49-F238E27FC236}">
                <a16:creationId xmlns:a16="http://schemas.microsoft.com/office/drawing/2014/main" id="{10BAB0CA-D34F-4F7B-A880-058CCB839A74}"/>
              </a:ext>
            </a:extLst>
          </p:cNvPr>
          <p:cNvGraphicFramePr>
            <a:graphicFrameLocks noChangeAspect="1"/>
          </p:cNvGraphicFramePr>
          <p:nvPr/>
        </p:nvGraphicFramePr>
        <p:xfrm>
          <a:off x="368300" y="293998"/>
          <a:ext cx="1868488" cy="531812"/>
        </p:xfrm>
        <a:graphic>
          <a:graphicData uri="http://schemas.openxmlformats.org/presentationml/2006/ole">
            <mc:AlternateContent xmlns:mc="http://schemas.openxmlformats.org/markup-compatibility/2006">
              <mc:Choice xmlns:v="urn:schemas-microsoft-com:vml" Requires="v">
                <p:oleObj name="Image" r:id="rId2" imgW="2768254" imgH="787024" progId="Photoshop.Image.11">
                  <p:embed/>
                </p:oleObj>
              </mc:Choice>
              <mc:Fallback>
                <p:oleObj name="Image" r:id="rId2" imgW="2768254" imgH="787024" progId="Photoshop.Image.11">
                  <p:embed/>
                  <p:pic>
                    <p:nvPicPr>
                      <p:cNvPr id="3" name="Object 5">
                        <a:extLst>
                          <a:ext uri="{FF2B5EF4-FFF2-40B4-BE49-F238E27FC236}">
                            <a16:creationId xmlns:a16="http://schemas.microsoft.com/office/drawing/2014/main" id="{10BAB0CA-D34F-4F7B-A880-058CCB839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293998"/>
                        <a:ext cx="1868488"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Rectángulo 23">
            <a:extLst>
              <a:ext uri="{FF2B5EF4-FFF2-40B4-BE49-F238E27FC236}">
                <a16:creationId xmlns:a16="http://schemas.microsoft.com/office/drawing/2014/main" id="{E67CA7EB-37E5-461C-B0A5-9EA446FD5B27}"/>
              </a:ext>
            </a:extLst>
          </p:cNvPr>
          <p:cNvSpPr/>
          <p:nvPr/>
        </p:nvSpPr>
        <p:spPr>
          <a:xfrm>
            <a:off x="2183365" y="4234117"/>
            <a:ext cx="5085611" cy="690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Catálogo Extendido DST</a:t>
            </a:r>
            <a:endParaRPr lang="es-MX" dirty="0"/>
          </a:p>
        </p:txBody>
      </p:sp>
      <p:sp>
        <p:nvSpPr>
          <p:cNvPr id="40" name="Rectángulo 39">
            <a:extLst>
              <a:ext uri="{FF2B5EF4-FFF2-40B4-BE49-F238E27FC236}">
                <a16:creationId xmlns:a16="http://schemas.microsoft.com/office/drawing/2014/main" id="{5077892A-CE25-48AC-A7F7-EDB5DDFC85E6}"/>
              </a:ext>
            </a:extLst>
          </p:cNvPr>
          <p:cNvSpPr/>
          <p:nvPr/>
        </p:nvSpPr>
        <p:spPr>
          <a:xfrm>
            <a:off x="2183366" y="3387497"/>
            <a:ext cx="5083472" cy="690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Catálogo SETC</a:t>
            </a:r>
            <a:endParaRPr lang="es-MX" dirty="0"/>
          </a:p>
        </p:txBody>
      </p:sp>
      <p:sp>
        <p:nvSpPr>
          <p:cNvPr id="41" name="Rectángulo 40">
            <a:extLst>
              <a:ext uri="{FF2B5EF4-FFF2-40B4-BE49-F238E27FC236}">
                <a16:creationId xmlns:a16="http://schemas.microsoft.com/office/drawing/2014/main" id="{41D3CDDB-6B1E-4473-837B-C35674B032C9}"/>
              </a:ext>
            </a:extLst>
          </p:cNvPr>
          <p:cNvSpPr/>
          <p:nvPr/>
        </p:nvSpPr>
        <p:spPr>
          <a:xfrm>
            <a:off x="2183366" y="1644171"/>
            <a:ext cx="5083471" cy="690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Catálogo WMS</a:t>
            </a:r>
            <a:endParaRPr lang="es-MX" dirty="0"/>
          </a:p>
        </p:txBody>
      </p:sp>
      <p:sp>
        <p:nvSpPr>
          <p:cNvPr id="42" name="Rectángulo 41">
            <a:extLst>
              <a:ext uri="{FF2B5EF4-FFF2-40B4-BE49-F238E27FC236}">
                <a16:creationId xmlns:a16="http://schemas.microsoft.com/office/drawing/2014/main" id="{430BECC8-943F-4F3C-89C2-D2E5703C461C}"/>
              </a:ext>
            </a:extLst>
          </p:cNvPr>
          <p:cNvSpPr/>
          <p:nvPr/>
        </p:nvSpPr>
        <p:spPr>
          <a:xfrm>
            <a:off x="6198641" y="4417781"/>
            <a:ext cx="335903" cy="27991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3" name="Rectángulo 42">
            <a:extLst>
              <a:ext uri="{FF2B5EF4-FFF2-40B4-BE49-F238E27FC236}">
                <a16:creationId xmlns:a16="http://schemas.microsoft.com/office/drawing/2014/main" id="{2A3278D4-311E-4CFB-A857-33F81641AAB2}"/>
              </a:ext>
            </a:extLst>
          </p:cNvPr>
          <p:cNvSpPr/>
          <p:nvPr/>
        </p:nvSpPr>
        <p:spPr>
          <a:xfrm>
            <a:off x="6201751" y="3571160"/>
            <a:ext cx="335903" cy="27991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Rectángulo 43">
            <a:extLst>
              <a:ext uri="{FF2B5EF4-FFF2-40B4-BE49-F238E27FC236}">
                <a16:creationId xmlns:a16="http://schemas.microsoft.com/office/drawing/2014/main" id="{6F9FFFB2-9BE7-4137-93DB-3BFBB547B3E6}"/>
              </a:ext>
            </a:extLst>
          </p:cNvPr>
          <p:cNvSpPr/>
          <p:nvPr/>
        </p:nvSpPr>
        <p:spPr>
          <a:xfrm>
            <a:off x="6207971" y="1858266"/>
            <a:ext cx="335903" cy="27991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5" name="Rectángulo 44">
            <a:extLst>
              <a:ext uri="{FF2B5EF4-FFF2-40B4-BE49-F238E27FC236}">
                <a16:creationId xmlns:a16="http://schemas.microsoft.com/office/drawing/2014/main" id="{39B85273-A493-4998-B5A2-1EF648DAE524}"/>
              </a:ext>
            </a:extLst>
          </p:cNvPr>
          <p:cNvSpPr/>
          <p:nvPr/>
        </p:nvSpPr>
        <p:spPr>
          <a:xfrm>
            <a:off x="6690269" y="4417781"/>
            <a:ext cx="335903" cy="27991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6" name="CuadroTexto 45">
            <a:extLst>
              <a:ext uri="{FF2B5EF4-FFF2-40B4-BE49-F238E27FC236}">
                <a16:creationId xmlns:a16="http://schemas.microsoft.com/office/drawing/2014/main" id="{2E811FE1-8D8C-4F30-83E6-135ABBC97E34}"/>
              </a:ext>
            </a:extLst>
          </p:cNvPr>
          <p:cNvSpPr txBox="1"/>
          <p:nvPr/>
        </p:nvSpPr>
        <p:spPr>
          <a:xfrm>
            <a:off x="7371187" y="1804738"/>
            <a:ext cx="4279890" cy="369332"/>
          </a:xfrm>
          <a:prstGeom prst="rect">
            <a:avLst/>
          </a:prstGeom>
          <a:noFill/>
        </p:spPr>
        <p:txBody>
          <a:bodyPr wrap="none" rtlCol="0">
            <a:spAutoFit/>
          </a:bodyPr>
          <a:lstStyle/>
          <a:p>
            <a:r>
              <a:rPr lang="es-ES" dirty="0"/>
              <a:t>Artículos disponible en el catálogo de CEDIS</a:t>
            </a:r>
            <a:endParaRPr lang="es-MX" dirty="0"/>
          </a:p>
        </p:txBody>
      </p:sp>
      <p:sp>
        <p:nvSpPr>
          <p:cNvPr id="47" name="Rectángulo 46">
            <a:extLst>
              <a:ext uri="{FF2B5EF4-FFF2-40B4-BE49-F238E27FC236}">
                <a16:creationId xmlns:a16="http://schemas.microsoft.com/office/drawing/2014/main" id="{5747616A-0AC3-4434-AC52-6E89151917CD}"/>
              </a:ext>
            </a:extLst>
          </p:cNvPr>
          <p:cNvSpPr/>
          <p:nvPr/>
        </p:nvSpPr>
        <p:spPr>
          <a:xfrm>
            <a:off x="2183366" y="2492474"/>
            <a:ext cx="5083472" cy="690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Catálogo </a:t>
            </a:r>
            <a:r>
              <a:rPr lang="es-ES" dirty="0" err="1"/>
              <a:t>Vendor</a:t>
            </a:r>
            <a:endParaRPr lang="es-MX" dirty="0"/>
          </a:p>
        </p:txBody>
      </p:sp>
      <p:sp>
        <p:nvSpPr>
          <p:cNvPr id="48" name="Rectángulo 47">
            <a:extLst>
              <a:ext uri="{FF2B5EF4-FFF2-40B4-BE49-F238E27FC236}">
                <a16:creationId xmlns:a16="http://schemas.microsoft.com/office/drawing/2014/main" id="{CB77EC70-3C07-4FD8-85FF-6C8DB7BD8F97}"/>
              </a:ext>
            </a:extLst>
          </p:cNvPr>
          <p:cNvSpPr/>
          <p:nvPr/>
        </p:nvSpPr>
        <p:spPr>
          <a:xfrm>
            <a:off x="6201751" y="2676137"/>
            <a:ext cx="335903" cy="27991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CuadroTexto 48">
            <a:extLst>
              <a:ext uri="{FF2B5EF4-FFF2-40B4-BE49-F238E27FC236}">
                <a16:creationId xmlns:a16="http://schemas.microsoft.com/office/drawing/2014/main" id="{A04600A4-68EA-4710-9AAF-BD5243307526}"/>
              </a:ext>
            </a:extLst>
          </p:cNvPr>
          <p:cNvSpPr txBox="1"/>
          <p:nvPr/>
        </p:nvSpPr>
        <p:spPr>
          <a:xfrm>
            <a:off x="7371187" y="2586723"/>
            <a:ext cx="4710520" cy="369332"/>
          </a:xfrm>
          <a:prstGeom prst="rect">
            <a:avLst/>
          </a:prstGeom>
          <a:noFill/>
        </p:spPr>
        <p:txBody>
          <a:bodyPr wrap="none" rtlCol="0">
            <a:spAutoFit/>
          </a:bodyPr>
          <a:lstStyle/>
          <a:p>
            <a:r>
              <a:rPr lang="es-ES" dirty="0"/>
              <a:t>Artículos disponible en el catálogo de Proveedor</a:t>
            </a:r>
            <a:endParaRPr lang="es-MX" dirty="0"/>
          </a:p>
        </p:txBody>
      </p:sp>
      <p:sp>
        <p:nvSpPr>
          <p:cNvPr id="50" name="CuadroTexto 49">
            <a:extLst>
              <a:ext uri="{FF2B5EF4-FFF2-40B4-BE49-F238E27FC236}">
                <a16:creationId xmlns:a16="http://schemas.microsoft.com/office/drawing/2014/main" id="{A9994A46-3180-4A1A-8D68-DBBD5C7278BA}"/>
              </a:ext>
            </a:extLst>
          </p:cNvPr>
          <p:cNvSpPr txBox="1"/>
          <p:nvPr/>
        </p:nvSpPr>
        <p:spPr>
          <a:xfrm>
            <a:off x="7374421" y="3526453"/>
            <a:ext cx="4186980" cy="369332"/>
          </a:xfrm>
          <a:prstGeom prst="rect">
            <a:avLst/>
          </a:prstGeom>
          <a:noFill/>
        </p:spPr>
        <p:txBody>
          <a:bodyPr wrap="none" rtlCol="0">
            <a:spAutoFit/>
          </a:bodyPr>
          <a:lstStyle/>
          <a:p>
            <a:r>
              <a:rPr lang="es-ES" dirty="0"/>
              <a:t>Artículos disponible en el catálogo de SETC</a:t>
            </a:r>
            <a:endParaRPr lang="es-MX" dirty="0"/>
          </a:p>
        </p:txBody>
      </p:sp>
      <p:sp>
        <p:nvSpPr>
          <p:cNvPr id="51" name="CuadroTexto 50">
            <a:extLst>
              <a:ext uri="{FF2B5EF4-FFF2-40B4-BE49-F238E27FC236}">
                <a16:creationId xmlns:a16="http://schemas.microsoft.com/office/drawing/2014/main" id="{50234279-F466-45A5-A4B5-4D6ECA504831}"/>
              </a:ext>
            </a:extLst>
          </p:cNvPr>
          <p:cNvSpPr txBox="1"/>
          <p:nvPr/>
        </p:nvSpPr>
        <p:spPr>
          <a:xfrm>
            <a:off x="7371187" y="4328367"/>
            <a:ext cx="4097147" cy="369332"/>
          </a:xfrm>
          <a:prstGeom prst="rect">
            <a:avLst/>
          </a:prstGeom>
          <a:noFill/>
        </p:spPr>
        <p:txBody>
          <a:bodyPr wrap="none" rtlCol="0">
            <a:spAutoFit/>
          </a:bodyPr>
          <a:lstStyle/>
          <a:p>
            <a:r>
              <a:rPr lang="es-ES" dirty="0"/>
              <a:t>Artículos disponible en el catálogo de DST</a:t>
            </a:r>
            <a:endParaRPr lang="es-MX" dirty="0"/>
          </a:p>
        </p:txBody>
      </p:sp>
      <p:sp>
        <p:nvSpPr>
          <p:cNvPr id="52" name="CuadroTexto 51">
            <a:extLst>
              <a:ext uri="{FF2B5EF4-FFF2-40B4-BE49-F238E27FC236}">
                <a16:creationId xmlns:a16="http://schemas.microsoft.com/office/drawing/2014/main" id="{064DFB90-5AEB-453E-89B7-559996D9FBFE}"/>
              </a:ext>
            </a:extLst>
          </p:cNvPr>
          <p:cNvSpPr txBox="1"/>
          <p:nvPr/>
        </p:nvSpPr>
        <p:spPr>
          <a:xfrm>
            <a:off x="106173" y="1114227"/>
            <a:ext cx="1133837" cy="369332"/>
          </a:xfrm>
          <a:prstGeom prst="rect">
            <a:avLst/>
          </a:prstGeom>
          <a:noFill/>
        </p:spPr>
        <p:txBody>
          <a:bodyPr wrap="none" rtlCol="0">
            <a:spAutoFit/>
          </a:bodyPr>
          <a:lstStyle/>
          <a:p>
            <a:r>
              <a:rPr lang="es-ES" dirty="0"/>
              <a:t>CP Cliente</a:t>
            </a:r>
            <a:endParaRPr lang="es-MX" dirty="0"/>
          </a:p>
        </p:txBody>
      </p:sp>
      <p:sp>
        <p:nvSpPr>
          <p:cNvPr id="53" name="CuadroTexto 52">
            <a:extLst>
              <a:ext uri="{FF2B5EF4-FFF2-40B4-BE49-F238E27FC236}">
                <a16:creationId xmlns:a16="http://schemas.microsoft.com/office/drawing/2014/main" id="{FF16AE83-DAFE-479A-8B61-8EA9C8CC0A58}"/>
              </a:ext>
            </a:extLst>
          </p:cNvPr>
          <p:cNvSpPr txBox="1"/>
          <p:nvPr/>
        </p:nvSpPr>
        <p:spPr>
          <a:xfrm>
            <a:off x="685547" y="1833722"/>
            <a:ext cx="1295547" cy="369332"/>
          </a:xfrm>
          <a:prstGeom prst="rect">
            <a:avLst/>
          </a:prstGeom>
          <a:noFill/>
        </p:spPr>
        <p:txBody>
          <a:bodyPr wrap="none" rtlCol="0">
            <a:spAutoFit/>
          </a:bodyPr>
          <a:lstStyle/>
          <a:p>
            <a:r>
              <a:rPr lang="es-ES" dirty="0"/>
              <a:t>CP Almacén</a:t>
            </a:r>
            <a:endParaRPr lang="es-MX" dirty="0"/>
          </a:p>
        </p:txBody>
      </p:sp>
      <p:sp>
        <p:nvSpPr>
          <p:cNvPr id="54" name="CuadroTexto 53">
            <a:extLst>
              <a:ext uri="{FF2B5EF4-FFF2-40B4-BE49-F238E27FC236}">
                <a16:creationId xmlns:a16="http://schemas.microsoft.com/office/drawing/2014/main" id="{2445BECD-BBC6-41DB-8C9D-9CDFC2B7C369}"/>
              </a:ext>
            </a:extLst>
          </p:cNvPr>
          <p:cNvSpPr txBox="1"/>
          <p:nvPr/>
        </p:nvSpPr>
        <p:spPr>
          <a:xfrm>
            <a:off x="685547" y="2676137"/>
            <a:ext cx="1160639" cy="369332"/>
          </a:xfrm>
          <a:prstGeom prst="rect">
            <a:avLst/>
          </a:prstGeom>
          <a:noFill/>
        </p:spPr>
        <p:txBody>
          <a:bodyPr wrap="none" rtlCol="0">
            <a:spAutoFit/>
          </a:bodyPr>
          <a:lstStyle/>
          <a:p>
            <a:r>
              <a:rPr lang="es-ES" dirty="0"/>
              <a:t>CP </a:t>
            </a:r>
            <a:r>
              <a:rPr lang="es-ES" dirty="0" err="1"/>
              <a:t>Vendor</a:t>
            </a:r>
            <a:endParaRPr lang="es-MX" dirty="0"/>
          </a:p>
        </p:txBody>
      </p:sp>
      <p:sp>
        <p:nvSpPr>
          <p:cNvPr id="55" name="CuadroTexto 54">
            <a:extLst>
              <a:ext uri="{FF2B5EF4-FFF2-40B4-BE49-F238E27FC236}">
                <a16:creationId xmlns:a16="http://schemas.microsoft.com/office/drawing/2014/main" id="{AAC9501F-E64C-402E-858D-5820CD5FFB14}"/>
              </a:ext>
            </a:extLst>
          </p:cNvPr>
          <p:cNvSpPr txBox="1"/>
          <p:nvPr/>
        </p:nvSpPr>
        <p:spPr>
          <a:xfrm>
            <a:off x="685547" y="3526453"/>
            <a:ext cx="1114408" cy="369332"/>
          </a:xfrm>
          <a:prstGeom prst="rect">
            <a:avLst/>
          </a:prstGeom>
          <a:noFill/>
        </p:spPr>
        <p:txBody>
          <a:bodyPr wrap="none" rtlCol="0">
            <a:spAutoFit/>
          </a:bodyPr>
          <a:lstStyle/>
          <a:p>
            <a:r>
              <a:rPr lang="es-ES" dirty="0"/>
              <a:t>CP Tienda</a:t>
            </a:r>
            <a:endParaRPr lang="es-MX" dirty="0"/>
          </a:p>
        </p:txBody>
      </p:sp>
      <p:sp>
        <p:nvSpPr>
          <p:cNvPr id="56" name="CuadroTexto 55">
            <a:extLst>
              <a:ext uri="{FF2B5EF4-FFF2-40B4-BE49-F238E27FC236}">
                <a16:creationId xmlns:a16="http://schemas.microsoft.com/office/drawing/2014/main" id="{FA7CBCAA-5D97-4A57-A5F8-1DA3434C855C}"/>
              </a:ext>
            </a:extLst>
          </p:cNvPr>
          <p:cNvSpPr txBox="1"/>
          <p:nvPr/>
        </p:nvSpPr>
        <p:spPr>
          <a:xfrm>
            <a:off x="685546" y="4279598"/>
            <a:ext cx="1475084" cy="369332"/>
          </a:xfrm>
          <a:prstGeom prst="rect">
            <a:avLst/>
          </a:prstGeom>
          <a:noFill/>
        </p:spPr>
        <p:txBody>
          <a:bodyPr wrap="none" rtlCol="0">
            <a:spAutoFit/>
          </a:bodyPr>
          <a:lstStyle/>
          <a:p>
            <a:r>
              <a:rPr lang="es-ES" dirty="0"/>
              <a:t>CP las tiendas</a:t>
            </a:r>
            <a:endParaRPr lang="es-MX" dirty="0"/>
          </a:p>
        </p:txBody>
      </p:sp>
      <p:cxnSp>
        <p:nvCxnSpPr>
          <p:cNvPr id="60" name="Conector recto 59">
            <a:extLst>
              <a:ext uri="{FF2B5EF4-FFF2-40B4-BE49-F238E27FC236}">
                <a16:creationId xmlns:a16="http://schemas.microsoft.com/office/drawing/2014/main" id="{AB7D7E03-7359-41A4-A50A-6071734CACA6}"/>
              </a:ext>
            </a:extLst>
          </p:cNvPr>
          <p:cNvCxnSpPr/>
          <p:nvPr/>
        </p:nvCxnSpPr>
        <p:spPr>
          <a:xfrm>
            <a:off x="270588" y="5178490"/>
            <a:ext cx="1966200" cy="0"/>
          </a:xfrm>
          <a:prstGeom prst="line">
            <a:avLst/>
          </a:prstGeom>
        </p:spPr>
        <p:style>
          <a:lnRef idx="1">
            <a:schemeClr val="accent1"/>
          </a:lnRef>
          <a:fillRef idx="0">
            <a:schemeClr val="accent1"/>
          </a:fillRef>
          <a:effectRef idx="0">
            <a:schemeClr val="accent1"/>
          </a:effectRef>
          <a:fontRef idx="minor">
            <a:schemeClr val="tx1"/>
          </a:fontRef>
        </p:style>
      </p:cxnSp>
      <p:sp>
        <p:nvSpPr>
          <p:cNvPr id="61" name="CuadroTexto 60">
            <a:extLst>
              <a:ext uri="{FF2B5EF4-FFF2-40B4-BE49-F238E27FC236}">
                <a16:creationId xmlns:a16="http://schemas.microsoft.com/office/drawing/2014/main" id="{853AF6E4-152E-4C5F-9BB6-C625B846C452}"/>
              </a:ext>
            </a:extLst>
          </p:cNvPr>
          <p:cNvSpPr txBox="1"/>
          <p:nvPr/>
        </p:nvSpPr>
        <p:spPr>
          <a:xfrm>
            <a:off x="449825" y="5338719"/>
            <a:ext cx="7586308" cy="369332"/>
          </a:xfrm>
          <a:prstGeom prst="rect">
            <a:avLst/>
          </a:prstGeom>
          <a:noFill/>
        </p:spPr>
        <p:txBody>
          <a:bodyPr wrap="none" rtlCol="0">
            <a:spAutoFit/>
          </a:bodyPr>
          <a:lstStyle/>
          <a:p>
            <a:r>
              <a:rPr lang="es-ES" dirty="0"/>
              <a:t>El más cercano, cuya tienda/almacén tenga existencia y que se tenga cobertura</a:t>
            </a:r>
            <a:endParaRPr lang="es-MX" dirty="0"/>
          </a:p>
        </p:txBody>
      </p:sp>
      <p:sp>
        <p:nvSpPr>
          <p:cNvPr id="62" name="CuadroTexto 61">
            <a:extLst>
              <a:ext uri="{FF2B5EF4-FFF2-40B4-BE49-F238E27FC236}">
                <a16:creationId xmlns:a16="http://schemas.microsoft.com/office/drawing/2014/main" id="{95F502F4-81B1-4C7D-96FF-914F17DE1C4E}"/>
              </a:ext>
            </a:extLst>
          </p:cNvPr>
          <p:cNvSpPr txBox="1"/>
          <p:nvPr/>
        </p:nvSpPr>
        <p:spPr>
          <a:xfrm>
            <a:off x="475681" y="5746969"/>
            <a:ext cx="1018933" cy="369332"/>
          </a:xfrm>
          <a:prstGeom prst="rect">
            <a:avLst/>
          </a:prstGeom>
          <a:noFill/>
        </p:spPr>
        <p:txBody>
          <a:bodyPr wrap="none" rtlCol="0">
            <a:spAutoFit/>
          </a:bodyPr>
          <a:lstStyle/>
          <a:p>
            <a:r>
              <a:rPr lang="es-ES" dirty="0"/>
              <a:t>&lt;</a:t>
            </a:r>
            <a:r>
              <a:rPr lang="es-ES" dirty="0" err="1"/>
              <a:t>Spliter</a:t>
            </a:r>
            <a:r>
              <a:rPr lang="es-ES" dirty="0"/>
              <a:t>&gt;</a:t>
            </a:r>
            <a:endParaRPr lang="es-MX" dirty="0"/>
          </a:p>
        </p:txBody>
      </p:sp>
      <p:sp>
        <p:nvSpPr>
          <p:cNvPr id="64" name="CuadroTexto 63">
            <a:extLst>
              <a:ext uri="{FF2B5EF4-FFF2-40B4-BE49-F238E27FC236}">
                <a16:creationId xmlns:a16="http://schemas.microsoft.com/office/drawing/2014/main" id="{496ED038-401D-4060-B096-A3CAD02F0F92}"/>
              </a:ext>
            </a:extLst>
          </p:cNvPr>
          <p:cNvSpPr txBox="1"/>
          <p:nvPr/>
        </p:nvSpPr>
        <p:spPr>
          <a:xfrm>
            <a:off x="475681" y="6180382"/>
            <a:ext cx="5553123" cy="369332"/>
          </a:xfrm>
          <a:prstGeom prst="rect">
            <a:avLst/>
          </a:prstGeom>
          <a:noFill/>
        </p:spPr>
        <p:txBody>
          <a:bodyPr wrap="none" rtlCol="0">
            <a:spAutoFit/>
          </a:bodyPr>
          <a:lstStyle/>
          <a:p>
            <a:r>
              <a:rPr lang="es-ES" dirty="0"/>
              <a:t>Nos obliga: a que los CP tenga definida su geolocalización</a:t>
            </a:r>
            <a:endParaRPr lang="es-MX" dirty="0"/>
          </a:p>
        </p:txBody>
      </p:sp>
    </p:spTree>
    <p:extLst>
      <p:ext uri="{BB962C8B-B14F-4D97-AF65-F5344CB8AC3E}">
        <p14:creationId xmlns:p14="http://schemas.microsoft.com/office/powerpoint/2010/main" val="812099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6FC601-2750-46DA-8589-BE57B66F730C}"/>
              </a:ext>
            </a:extLst>
          </p:cNvPr>
          <p:cNvSpPr>
            <a:spLocks noGrp="1"/>
          </p:cNvSpPr>
          <p:nvPr>
            <p:ph type="title"/>
          </p:nvPr>
        </p:nvSpPr>
        <p:spPr>
          <a:xfrm>
            <a:off x="2390775" y="308286"/>
            <a:ext cx="9260302" cy="1325563"/>
          </a:xfrm>
        </p:spPr>
        <p:txBody>
          <a:bodyPr/>
          <a:lstStyle/>
          <a:p>
            <a:r>
              <a:rPr lang="es-ES" dirty="0"/>
              <a:t>Criterio de selección de tienda/almacén</a:t>
            </a:r>
            <a:endParaRPr lang="es-MX" dirty="0"/>
          </a:p>
        </p:txBody>
      </p:sp>
      <p:graphicFrame>
        <p:nvGraphicFramePr>
          <p:cNvPr id="3" name="Object 5">
            <a:extLst>
              <a:ext uri="{FF2B5EF4-FFF2-40B4-BE49-F238E27FC236}">
                <a16:creationId xmlns:a16="http://schemas.microsoft.com/office/drawing/2014/main" id="{10BAB0CA-D34F-4F7B-A880-058CCB839A74}"/>
              </a:ext>
            </a:extLst>
          </p:cNvPr>
          <p:cNvGraphicFramePr>
            <a:graphicFrameLocks noChangeAspect="1"/>
          </p:cNvGraphicFramePr>
          <p:nvPr/>
        </p:nvGraphicFramePr>
        <p:xfrm>
          <a:off x="368300" y="293998"/>
          <a:ext cx="1868488" cy="531812"/>
        </p:xfrm>
        <a:graphic>
          <a:graphicData uri="http://schemas.openxmlformats.org/presentationml/2006/ole">
            <mc:AlternateContent xmlns:mc="http://schemas.openxmlformats.org/markup-compatibility/2006">
              <mc:Choice xmlns:v="urn:schemas-microsoft-com:vml" Requires="v">
                <p:oleObj name="Image" r:id="rId2" imgW="2768254" imgH="787024" progId="Photoshop.Image.11">
                  <p:embed/>
                </p:oleObj>
              </mc:Choice>
              <mc:Fallback>
                <p:oleObj name="Image" r:id="rId2" imgW="2768254" imgH="787024" progId="Photoshop.Image.11">
                  <p:embed/>
                  <p:pic>
                    <p:nvPicPr>
                      <p:cNvPr id="3" name="Object 5">
                        <a:extLst>
                          <a:ext uri="{FF2B5EF4-FFF2-40B4-BE49-F238E27FC236}">
                            <a16:creationId xmlns:a16="http://schemas.microsoft.com/office/drawing/2014/main" id="{10BAB0CA-D34F-4F7B-A880-058CCB839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293998"/>
                        <a:ext cx="1868488"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Rectángulo 3">
            <a:extLst>
              <a:ext uri="{FF2B5EF4-FFF2-40B4-BE49-F238E27FC236}">
                <a16:creationId xmlns:a16="http://schemas.microsoft.com/office/drawing/2014/main" id="{72D66F6C-317F-461B-A640-3DEBD041C924}"/>
              </a:ext>
            </a:extLst>
          </p:cNvPr>
          <p:cNvSpPr/>
          <p:nvPr/>
        </p:nvSpPr>
        <p:spPr>
          <a:xfrm>
            <a:off x="8116872" y="2247384"/>
            <a:ext cx="2584580" cy="1940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CP 1 – L1 , L1</a:t>
            </a:r>
          </a:p>
          <a:p>
            <a:pPr algn="ctr"/>
            <a:r>
              <a:rPr lang="es-ES" dirty="0"/>
              <a:t>CP 2 – L2 , L2</a:t>
            </a:r>
          </a:p>
          <a:p>
            <a:pPr algn="ctr"/>
            <a:r>
              <a:rPr lang="es-ES" dirty="0"/>
              <a:t>CP 3 – L3 , L3</a:t>
            </a:r>
          </a:p>
          <a:p>
            <a:pPr algn="ctr"/>
            <a:r>
              <a:rPr lang="es-ES" dirty="0"/>
              <a:t>CP N – LN , LN</a:t>
            </a:r>
            <a:endParaRPr lang="es-MX" dirty="0"/>
          </a:p>
          <a:p>
            <a:pPr algn="ctr"/>
            <a:endParaRPr lang="es-MX" dirty="0"/>
          </a:p>
        </p:txBody>
      </p:sp>
      <p:sp>
        <p:nvSpPr>
          <p:cNvPr id="5" name="CuadroTexto 4">
            <a:extLst>
              <a:ext uri="{FF2B5EF4-FFF2-40B4-BE49-F238E27FC236}">
                <a16:creationId xmlns:a16="http://schemas.microsoft.com/office/drawing/2014/main" id="{AC21025B-2B82-43C1-984C-D211B88F014A}"/>
              </a:ext>
            </a:extLst>
          </p:cNvPr>
          <p:cNvSpPr txBox="1"/>
          <p:nvPr/>
        </p:nvSpPr>
        <p:spPr>
          <a:xfrm>
            <a:off x="7966010" y="1633849"/>
            <a:ext cx="2886303" cy="369332"/>
          </a:xfrm>
          <a:prstGeom prst="rect">
            <a:avLst/>
          </a:prstGeom>
          <a:noFill/>
        </p:spPr>
        <p:txBody>
          <a:bodyPr wrap="none" rtlCol="0">
            <a:spAutoFit/>
          </a:bodyPr>
          <a:lstStyle/>
          <a:p>
            <a:r>
              <a:rPr lang="es-ES" dirty="0"/>
              <a:t>Catálogo de códigos postales</a:t>
            </a:r>
            <a:endParaRPr lang="es-MX" dirty="0"/>
          </a:p>
        </p:txBody>
      </p:sp>
      <p:sp>
        <p:nvSpPr>
          <p:cNvPr id="6" name="Rectángulo 5">
            <a:extLst>
              <a:ext uri="{FF2B5EF4-FFF2-40B4-BE49-F238E27FC236}">
                <a16:creationId xmlns:a16="http://schemas.microsoft.com/office/drawing/2014/main" id="{7EE40D7A-B575-40AF-9300-69A469A85B8D}"/>
              </a:ext>
            </a:extLst>
          </p:cNvPr>
          <p:cNvSpPr/>
          <p:nvPr/>
        </p:nvSpPr>
        <p:spPr>
          <a:xfrm>
            <a:off x="2236788" y="1894114"/>
            <a:ext cx="174738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SETC</a:t>
            </a:r>
            <a:endParaRPr lang="es-MX" dirty="0"/>
          </a:p>
        </p:txBody>
      </p:sp>
      <p:cxnSp>
        <p:nvCxnSpPr>
          <p:cNvPr id="8" name="Conector: angular 7">
            <a:extLst>
              <a:ext uri="{FF2B5EF4-FFF2-40B4-BE49-F238E27FC236}">
                <a16:creationId xmlns:a16="http://schemas.microsoft.com/office/drawing/2014/main" id="{AF780D50-9EF0-412D-B0BE-A760E6DE9ECD}"/>
              </a:ext>
            </a:extLst>
          </p:cNvPr>
          <p:cNvCxnSpPr>
            <a:stCxn id="4" idx="1"/>
            <a:endCxn id="6" idx="3"/>
          </p:cNvCxnSpPr>
          <p:nvPr/>
        </p:nvCxnSpPr>
        <p:spPr>
          <a:xfrm rot="10800000">
            <a:off x="3984172" y="2351314"/>
            <a:ext cx="4132701" cy="86645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ángulo 30">
            <a:extLst>
              <a:ext uri="{FF2B5EF4-FFF2-40B4-BE49-F238E27FC236}">
                <a16:creationId xmlns:a16="http://schemas.microsoft.com/office/drawing/2014/main" id="{85E1D6D9-8AF3-4435-96C4-7542237F4329}"/>
              </a:ext>
            </a:extLst>
          </p:cNvPr>
          <p:cNvSpPr/>
          <p:nvPr/>
        </p:nvSpPr>
        <p:spPr>
          <a:xfrm>
            <a:off x="2236787" y="3085842"/>
            <a:ext cx="174738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Proveedor</a:t>
            </a:r>
            <a:endParaRPr lang="es-MX" dirty="0"/>
          </a:p>
        </p:txBody>
      </p:sp>
      <p:sp>
        <p:nvSpPr>
          <p:cNvPr id="32" name="Rectángulo 31">
            <a:extLst>
              <a:ext uri="{FF2B5EF4-FFF2-40B4-BE49-F238E27FC236}">
                <a16:creationId xmlns:a16="http://schemas.microsoft.com/office/drawing/2014/main" id="{ABDB0D2E-D074-46DC-8CAA-5E21706B6DAD}"/>
              </a:ext>
            </a:extLst>
          </p:cNvPr>
          <p:cNvSpPr/>
          <p:nvPr/>
        </p:nvSpPr>
        <p:spPr>
          <a:xfrm>
            <a:off x="2236787" y="4260507"/>
            <a:ext cx="174738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CEDIS</a:t>
            </a:r>
            <a:endParaRPr lang="es-MX" dirty="0"/>
          </a:p>
        </p:txBody>
      </p:sp>
      <p:sp>
        <p:nvSpPr>
          <p:cNvPr id="33" name="Rectángulo 32">
            <a:extLst>
              <a:ext uri="{FF2B5EF4-FFF2-40B4-BE49-F238E27FC236}">
                <a16:creationId xmlns:a16="http://schemas.microsoft.com/office/drawing/2014/main" id="{1C4496FD-396F-4A92-84D8-2B19A90A7BFF}"/>
              </a:ext>
            </a:extLst>
          </p:cNvPr>
          <p:cNvSpPr/>
          <p:nvPr/>
        </p:nvSpPr>
        <p:spPr>
          <a:xfrm>
            <a:off x="2236787" y="5477800"/>
            <a:ext cx="174738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DST</a:t>
            </a:r>
            <a:endParaRPr lang="es-MX" dirty="0"/>
          </a:p>
        </p:txBody>
      </p:sp>
      <p:cxnSp>
        <p:nvCxnSpPr>
          <p:cNvPr id="34" name="Conector: angular 33">
            <a:extLst>
              <a:ext uri="{FF2B5EF4-FFF2-40B4-BE49-F238E27FC236}">
                <a16:creationId xmlns:a16="http://schemas.microsoft.com/office/drawing/2014/main" id="{D36E11DC-EC0F-41B6-944A-235F431893C0}"/>
              </a:ext>
            </a:extLst>
          </p:cNvPr>
          <p:cNvCxnSpPr>
            <a:cxnSpLocks/>
            <a:stCxn id="4" idx="1"/>
            <a:endCxn id="31" idx="3"/>
          </p:cNvCxnSpPr>
          <p:nvPr/>
        </p:nvCxnSpPr>
        <p:spPr>
          <a:xfrm rot="10800000" flipV="1">
            <a:off x="3984170" y="3217768"/>
            <a:ext cx="4132702" cy="3252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ector: angular 36">
            <a:extLst>
              <a:ext uri="{FF2B5EF4-FFF2-40B4-BE49-F238E27FC236}">
                <a16:creationId xmlns:a16="http://schemas.microsoft.com/office/drawing/2014/main" id="{CBABE26E-F8FF-4C71-995A-F121E7149798}"/>
              </a:ext>
            </a:extLst>
          </p:cNvPr>
          <p:cNvCxnSpPr>
            <a:cxnSpLocks/>
            <a:stCxn id="4" idx="1"/>
            <a:endCxn id="32" idx="3"/>
          </p:cNvCxnSpPr>
          <p:nvPr/>
        </p:nvCxnSpPr>
        <p:spPr>
          <a:xfrm rot="10800000" flipV="1">
            <a:off x="3984170" y="3217767"/>
            <a:ext cx="4132702" cy="149993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ángulo 12">
            <a:extLst>
              <a:ext uri="{FF2B5EF4-FFF2-40B4-BE49-F238E27FC236}">
                <a16:creationId xmlns:a16="http://schemas.microsoft.com/office/drawing/2014/main" id="{D92A5F8B-CF9D-4444-A77D-A23094290B66}"/>
              </a:ext>
            </a:extLst>
          </p:cNvPr>
          <p:cNvSpPr/>
          <p:nvPr/>
        </p:nvSpPr>
        <p:spPr>
          <a:xfrm>
            <a:off x="4926562" y="4260507"/>
            <a:ext cx="54117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T</a:t>
            </a:r>
            <a:endParaRPr lang="es-MX" dirty="0"/>
          </a:p>
        </p:txBody>
      </p:sp>
      <p:sp>
        <p:nvSpPr>
          <p:cNvPr id="57" name="Rectángulo 56">
            <a:extLst>
              <a:ext uri="{FF2B5EF4-FFF2-40B4-BE49-F238E27FC236}">
                <a16:creationId xmlns:a16="http://schemas.microsoft.com/office/drawing/2014/main" id="{0E55AE27-4CA6-4854-ADC2-01CB19404C9F}"/>
              </a:ext>
            </a:extLst>
          </p:cNvPr>
          <p:cNvSpPr/>
          <p:nvPr/>
        </p:nvSpPr>
        <p:spPr>
          <a:xfrm>
            <a:off x="4926562" y="5472922"/>
            <a:ext cx="54117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T</a:t>
            </a:r>
            <a:endParaRPr lang="es-MX" dirty="0"/>
          </a:p>
        </p:txBody>
      </p:sp>
      <p:cxnSp>
        <p:nvCxnSpPr>
          <p:cNvPr id="15" name="Conector: angular 14">
            <a:extLst>
              <a:ext uri="{FF2B5EF4-FFF2-40B4-BE49-F238E27FC236}">
                <a16:creationId xmlns:a16="http://schemas.microsoft.com/office/drawing/2014/main" id="{FD6CC71D-B459-4814-A141-2FC6E3D266D1}"/>
              </a:ext>
            </a:extLst>
          </p:cNvPr>
          <p:cNvCxnSpPr>
            <a:stCxn id="4" idx="1"/>
            <a:endCxn id="33" idx="3"/>
          </p:cNvCxnSpPr>
          <p:nvPr/>
        </p:nvCxnSpPr>
        <p:spPr>
          <a:xfrm rot="10800000" flipV="1">
            <a:off x="3984170" y="3217768"/>
            <a:ext cx="4132702" cy="271723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ombo 15">
            <a:extLst>
              <a:ext uri="{FF2B5EF4-FFF2-40B4-BE49-F238E27FC236}">
                <a16:creationId xmlns:a16="http://schemas.microsoft.com/office/drawing/2014/main" id="{FEB12911-D460-44FB-8AB8-5F204A90730B}"/>
              </a:ext>
            </a:extLst>
          </p:cNvPr>
          <p:cNvSpPr/>
          <p:nvPr/>
        </p:nvSpPr>
        <p:spPr>
          <a:xfrm>
            <a:off x="550506" y="2351313"/>
            <a:ext cx="438539" cy="53181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CuadroTexto 16">
            <a:extLst>
              <a:ext uri="{FF2B5EF4-FFF2-40B4-BE49-F238E27FC236}">
                <a16:creationId xmlns:a16="http://schemas.microsoft.com/office/drawing/2014/main" id="{1A3A795C-A93B-46B2-91AF-168DA53B622E}"/>
              </a:ext>
            </a:extLst>
          </p:cNvPr>
          <p:cNvSpPr txBox="1"/>
          <p:nvPr/>
        </p:nvSpPr>
        <p:spPr>
          <a:xfrm>
            <a:off x="279562" y="2896711"/>
            <a:ext cx="919324" cy="646331"/>
          </a:xfrm>
          <a:prstGeom prst="rect">
            <a:avLst/>
          </a:prstGeom>
          <a:noFill/>
        </p:spPr>
        <p:txBody>
          <a:bodyPr wrap="square" rtlCol="0">
            <a:spAutoFit/>
          </a:bodyPr>
          <a:lstStyle/>
          <a:p>
            <a:pPr algn="ctr"/>
            <a:r>
              <a:rPr lang="es-ES" dirty="0"/>
              <a:t>Colonia Nueva</a:t>
            </a:r>
            <a:endParaRPr lang="es-MX" dirty="0"/>
          </a:p>
        </p:txBody>
      </p:sp>
      <p:sp>
        <p:nvSpPr>
          <p:cNvPr id="58" name="Rectángulo 57">
            <a:extLst>
              <a:ext uri="{FF2B5EF4-FFF2-40B4-BE49-F238E27FC236}">
                <a16:creationId xmlns:a16="http://schemas.microsoft.com/office/drawing/2014/main" id="{D8B08434-CA60-4712-AAB2-721713F3C735}"/>
              </a:ext>
            </a:extLst>
          </p:cNvPr>
          <p:cNvSpPr/>
          <p:nvPr/>
        </p:nvSpPr>
        <p:spPr>
          <a:xfrm>
            <a:off x="4926562" y="3082259"/>
            <a:ext cx="54117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T</a:t>
            </a:r>
            <a:endParaRPr lang="es-MX" dirty="0"/>
          </a:p>
        </p:txBody>
      </p:sp>
      <p:sp>
        <p:nvSpPr>
          <p:cNvPr id="59" name="Rectángulo 58">
            <a:extLst>
              <a:ext uri="{FF2B5EF4-FFF2-40B4-BE49-F238E27FC236}">
                <a16:creationId xmlns:a16="http://schemas.microsoft.com/office/drawing/2014/main" id="{DE48294B-2BFF-4D7C-96A6-47C178655B0D}"/>
              </a:ext>
            </a:extLst>
          </p:cNvPr>
          <p:cNvSpPr/>
          <p:nvPr/>
        </p:nvSpPr>
        <p:spPr>
          <a:xfrm>
            <a:off x="4907805" y="1894113"/>
            <a:ext cx="54117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T</a:t>
            </a:r>
            <a:endParaRPr lang="es-MX" dirty="0"/>
          </a:p>
        </p:txBody>
      </p:sp>
      <p:sp>
        <p:nvSpPr>
          <p:cNvPr id="18" name="Elipse 17">
            <a:extLst>
              <a:ext uri="{FF2B5EF4-FFF2-40B4-BE49-F238E27FC236}">
                <a16:creationId xmlns:a16="http://schemas.microsoft.com/office/drawing/2014/main" id="{4D618478-9C01-49E9-9CD9-212419E441C6}"/>
              </a:ext>
            </a:extLst>
          </p:cNvPr>
          <p:cNvSpPr/>
          <p:nvPr/>
        </p:nvSpPr>
        <p:spPr>
          <a:xfrm>
            <a:off x="8556171" y="4395519"/>
            <a:ext cx="335902" cy="32218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1</a:t>
            </a:r>
            <a:endParaRPr lang="es-MX" dirty="0"/>
          </a:p>
        </p:txBody>
      </p:sp>
      <p:sp>
        <p:nvSpPr>
          <p:cNvPr id="63" name="Elipse 62">
            <a:extLst>
              <a:ext uri="{FF2B5EF4-FFF2-40B4-BE49-F238E27FC236}">
                <a16:creationId xmlns:a16="http://schemas.microsoft.com/office/drawing/2014/main" id="{FC1574D9-46BC-4C01-8531-15AE52D95902}"/>
              </a:ext>
            </a:extLst>
          </p:cNvPr>
          <p:cNvSpPr/>
          <p:nvPr/>
        </p:nvSpPr>
        <p:spPr>
          <a:xfrm>
            <a:off x="1388982" y="1733019"/>
            <a:ext cx="335902" cy="32218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2</a:t>
            </a:r>
            <a:endParaRPr lang="es-MX" dirty="0"/>
          </a:p>
        </p:txBody>
      </p:sp>
    </p:spTree>
    <p:extLst>
      <p:ext uri="{BB962C8B-B14F-4D97-AF65-F5344CB8AC3E}">
        <p14:creationId xmlns:p14="http://schemas.microsoft.com/office/powerpoint/2010/main" val="1768888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6FC601-2750-46DA-8589-BE57B66F730C}"/>
              </a:ext>
            </a:extLst>
          </p:cNvPr>
          <p:cNvSpPr>
            <a:spLocks noGrp="1"/>
          </p:cNvSpPr>
          <p:nvPr>
            <p:ph type="title"/>
          </p:nvPr>
        </p:nvSpPr>
        <p:spPr>
          <a:xfrm>
            <a:off x="2390775" y="308286"/>
            <a:ext cx="8991600" cy="1325563"/>
          </a:xfrm>
        </p:spPr>
        <p:txBody>
          <a:bodyPr/>
          <a:lstStyle/>
          <a:p>
            <a:r>
              <a:rPr lang="es-ES" dirty="0"/>
              <a:t>Catalogo Extendido de Tienda (DST)</a:t>
            </a:r>
            <a:endParaRPr lang="es-MX" dirty="0"/>
          </a:p>
        </p:txBody>
      </p:sp>
      <p:graphicFrame>
        <p:nvGraphicFramePr>
          <p:cNvPr id="3" name="Object 5">
            <a:extLst>
              <a:ext uri="{FF2B5EF4-FFF2-40B4-BE49-F238E27FC236}">
                <a16:creationId xmlns:a16="http://schemas.microsoft.com/office/drawing/2014/main" id="{10BAB0CA-D34F-4F7B-A880-058CCB839A74}"/>
              </a:ext>
            </a:extLst>
          </p:cNvPr>
          <p:cNvGraphicFramePr>
            <a:graphicFrameLocks noChangeAspect="1"/>
          </p:cNvGraphicFramePr>
          <p:nvPr/>
        </p:nvGraphicFramePr>
        <p:xfrm>
          <a:off x="368300" y="293998"/>
          <a:ext cx="1868488" cy="531812"/>
        </p:xfrm>
        <a:graphic>
          <a:graphicData uri="http://schemas.openxmlformats.org/presentationml/2006/ole">
            <mc:AlternateContent xmlns:mc="http://schemas.openxmlformats.org/markup-compatibility/2006">
              <mc:Choice xmlns:v="urn:schemas-microsoft-com:vml" Requires="v">
                <p:oleObj name="Image" r:id="rId2" imgW="2768254" imgH="787024" progId="Photoshop.Image.11">
                  <p:embed/>
                </p:oleObj>
              </mc:Choice>
              <mc:Fallback>
                <p:oleObj name="Image" r:id="rId2" imgW="2768254" imgH="787024" progId="Photoshop.Image.11">
                  <p:embed/>
                  <p:pic>
                    <p:nvPicPr>
                      <p:cNvPr id="3" name="Object 5">
                        <a:extLst>
                          <a:ext uri="{FF2B5EF4-FFF2-40B4-BE49-F238E27FC236}">
                            <a16:creationId xmlns:a16="http://schemas.microsoft.com/office/drawing/2014/main" id="{10BAB0CA-D34F-4F7B-A880-058CCB839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293998"/>
                        <a:ext cx="1868488"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Rectángulo 23">
            <a:extLst>
              <a:ext uri="{FF2B5EF4-FFF2-40B4-BE49-F238E27FC236}">
                <a16:creationId xmlns:a16="http://schemas.microsoft.com/office/drawing/2014/main" id="{E67CA7EB-37E5-461C-B0A5-9EA446FD5B27}"/>
              </a:ext>
            </a:extLst>
          </p:cNvPr>
          <p:cNvSpPr/>
          <p:nvPr/>
        </p:nvSpPr>
        <p:spPr>
          <a:xfrm>
            <a:off x="756205" y="3343308"/>
            <a:ext cx="6428792" cy="690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Catálogo Extendido DST</a:t>
            </a:r>
            <a:endParaRPr lang="es-MX" dirty="0"/>
          </a:p>
        </p:txBody>
      </p:sp>
      <p:sp>
        <p:nvSpPr>
          <p:cNvPr id="27" name="Rectángulo 26">
            <a:extLst>
              <a:ext uri="{FF2B5EF4-FFF2-40B4-BE49-F238E27FC236}">
                <a16:creationId xmlns:a16="http://schemas.microsoft.com/office/drawing/2014/main" id="{3ED40409-92AA-42D2-8157-7F61AC71AEFD}"/>
              </a:ext>
            </a:extLst>
          </p:cNvPr>
          <p:cNvSpPr/>
          <p:nvPr/>
        </p:nvSpPr>
        <p:spPr>
          <a:xfrm>
            <a:off x="7940351" y="2606322"/>
            <a:ext cx="727788" cy="690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1</a:t>
            </a:r>
            <a:endParaRPr lang="es-MX" dirty="0"/>
          </a:p>
        </p:txBody>
      </p:sp>
      <p:sp>
        <p:nvSpPr>
          <p:cNvPr id="28" name="Rectángulo 27">
            <a:extLst>
              <a:ext uri="{FF2B5EF4-FFF2-40B4-BE49-F238E27FC236}">
                <a16:creationId xmlns:a16="http://schemas.microsoft.com/office/drawing/2014/main" id="{106EDCF6-E82B-46B6-B3CF-32C4060F5BAC}"/>
              </a:ext>
            </a:extLst>
          </p:cNvPr>
          <p:cNvSpPr/>
          <p:nvPr/>
        </p:nvSpPr>
        <p:spPr>
          <a:xfrm>
            <a:off x="9004041" y="2592325"/>
            <a:ext cx="727788" cy="690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2</a:t>
            </a:r>
            <a:endParaRPr lang="es-MX" dirty="0"/>
          </a:p>
        </p:txBody>
      </p:sp>
      <p:sp>
        <p:nvSpPr>
          <p:cNvPr id="29" name="Rectángulo 28">
            <a:extLst>
              <a:ext uri="{FF2B5EF4-FFF2-40B4-BE49-F238E27FC236}">
                <a16:creationId xmlns:a16="http://schemas.microsoft.com/office/drawing/2014/main" id="{FC5F00A1-188D-4A6C-9FE1-47FBA1AF2CFF}"/>
              </a:ext>
            </a:extLst>
          </p:cNvPr>
          <p:cNvSpPr/>
          <p:nvPr/>
        </p:nvSpPr>
        <p:spPr>
          <a:xfrm>
            <a:off x="10123715" y="2606322"/>
            <a:ext cx="727788" cy="690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3</a:t>
            </a:r>
            <a:endParaRPr lang="es-MX" dirty="0"/>
          </a:p>
        </p:txBody>
      </p:sp>
      <p:sp>
        <p:nvSpPr>
          <p:cNvPr id="30" name="CuadroTexto 29">
            <a:extLst>
              <a:ext uri="{FF2B5EF4-FFF2-40B4-BE49-F238E27FC236}">
                <a16:creationId xmlns:a16="http://schemas.microsoft.com/office/drawing/2014/main" id="{F6CEED64-ABF4-4E8C-BEEC-CFCB26F6F670}"/>
              </a:ext>
            </a:extLst>
          </p:cNvPr>
          <p:cNvSpPr txBox="1"/>
          <p:nvPr/>
        </p:nvSpPr>
        <p:spPr>
          <a:xfrm>
            <a:off x="8025570" y="3349331"/>
            <a:ext cx="570990" cy="369332"/>
          </a:xfrm>
          <a:prstGeom prst="rect">
            <a:avLst/>
          </a:prstGeom>
          <a:noFill/>
        </p:spPr>
        <p:txBody>
          <a:bodyPr wrap="none" rtlCol="0">
            <a:spAutoFit/>
          </a:bodyPr>
          <a:lstStyle/>
          <a:p>
            <a:r>
              <a:rPr lang="es-ES" dirty="0"/>
              <a:t>{CP}</a:t>
            </a:r>
            <a:endParaRPr lang="es-MX" dirty="0"/>
          </a:p>
        </p:txBody>
      </p:sp>
      <p:sp>
        <p:nvSpPr>
          <p:cNvPr id="31" name="CuadroTexto 30">
            <a:extLst>
              <a:ext uri="{FF2B5EF4-FFF2-40B4-BE49-F238E27FC236}">
                <a16:creationId xmlns:a16="http://schemas.microsoft.com/office/drawing/2014/main" id="{AB611BCD-43A3-4921-903A-BC8E88DE5733}"/>
              </a:ext>
            </a:extLst>
          </p:cNvPr>
          <p:cNvSpPr txBox="1"/>
          <p:nvPr/>
        </p:nvSpPr>
        <p:spPr>
          <a:xfrm>
            <a:off x="9089259" y="3350217"/>
            <a:ext cx="570989" cy="369332"/>
          </a:xfrm>
          <a:prstGeom prst="rect">
            <a:avLst/>
          </a:prstGeom>
          <a:noFill/>
        </p:spPr>
        <p:txBody>
          <a:bodyPr wrap="square" rtlCol="0">
            <a:spAutoFit/>
          </a:bodyPr>
          <a:lstStyle/>
          <a:p>
            <a:r>
              <a:rPr lang="es-ES" dirty="0"/>
              <a:t>{CP}</a:t>
            </a:r>
            <a:endParaRPr lang="es-MX" dirty="0"/>
          </a:p>
        </p:txBody>
      </p:sp>
      <p:sp>
        <p:nvSpPr>
          <p:cNvPr id="32" name="CuadroTexto 31">
            <a:extLst>
              <a:ext uri="{FF2B5EF4-FFF2-40B4-BE49-F238E27FC236}">
                <a16:creationId xmlns:a16="http://schemas.microsoft.com/office/drawing/2014/main" id="{BCCD609D-0726-4066-991F-C51BE3D5A968}"/>
              </a:ext>
            </a:extLst>
          </p:cNvPr>
          <p:cNvSpPr txBox="1"/>
          <p:nvPr/>
        </p:nvSpPr>
        <p:spPr>
          <a:xfrm>
            <a:off x="10208933" y="3349331"/>
            <a:ext cx="570989" cy="369332"/>
          </a:xfrm>
          <a:prstGeom prst="rect">
            <a:avLst/>
          </a:prstGeom>
          <a:noFill/>
        </p:spPr>
        <p:txBody>
          <a:bodyPr wrap="square" rtlCol="0">
            <a:spAutoFit/>
          </a:bodyPr>
          <a:lstStyle/>
          <a:p>
            <a:r>
              <a:rPr lang="es-ES" dirty="0"/>
              <a:t>{CP}</a:t>
            </a:r>
            <a:endParaRPr lang="es-MX" dirty="0"/>
          </a:p>
        </p:txBody>
      </p:sp>
      <p:sp>
        <p:nvSpPr>
          <p:cNvPr id="34" name="CuadroTexto 33">
            <a:extLst>
              <a:ext uri="{FF2B5EF4-FFF2-40B4-BE49-F238E27FC236}">
                <a16:creationId xmlns:a16="http://schemas.microsoft.com/office/drawing/2014/main" id="{B5F631E4-D435-4ECA-8428-17F6AA374AFB}"/>
              </a:ext>
            </a:extLst>
          </p:cNvPr>
          <p:cNvSpPr txBox="1"/>
          <p:nvPr/>
        </p:nvSpPr>
        <p:spPr>
          <a:xfrm>
            <a:off x="2968971" y="4082424"/>
            <a:ext cx="1872629" cy="369332"/>
          </a:xfrm>
          <a:prstGeom prst="rect">
            <a:avLst/>
          </a:prstGeom>
          <a:noFill/>
        </p:spPr>
        <p:txBody>
          <a:bodyPr wrap="none" rtlCol="0">
            <a:spAutoFit/>
          </a:bodyPr>
          <a:lstStyle/>
          <a:p>
            <a:r>
              <a:rPr lang="es-ES" dirty="0"/>
              <a:t>WMS + DSV + DST</a:t>
            </a:r>
            <a:endParaRPr lang="es-MX" dirty="0"/>
          </a:p>
        </p:txBody>
      </p:sp>
      <p:sp>
        <p:nvSpPr>
          <p:cNvPr id="35" name="CuadroTexto 34">
            <a:extLst>
              <a:ext uri="{FF2B5EF4-FFF2-40B4-BE49-F238E27FC236}">
                <a16:creationId xmlns:a16="http://schemas.microsoft.com/office/drawing/2014/main" id="{048F7775-A5FE-4A94-8C45-E1FBDF6B90EA}"/>
              </a:ext>
            </a:extLst>
          </p:cNvPr>
          <p:cNvSpPr txBox="1"/>
          <p:nvPr/>
        </p:nvSpPr>
        <p:spPr>
          <a:xfrm>
            <a:off x="8262202" y="4461480"/>
            <a:ext cx="2683363" cy="646331"/>
          </a:xfrm>
          <a:prstGeom prst="rect">
            <a:avLst/>
          </a:prstGeom>
          <a:noFill/>
        </p:spPr>
        <p:txBody>
          <a:bodyPr wrap="none" rtlCol="0">
            <a:spAutoFit/>
          </a:bodyPr>
          <a:lstStyle/>
          <a:p>
            <a:r>
              <a:rPr lang="es-ES" dirty="0"/>
              <a:t>Transportista X {CP} – 1 y 2</a:t>
            </a:r>
          </a:p>
          <a:p>
            <a:r>
              <a:rPr lang="es-ES" dirty="0"/>
              <a:t>Transportista Y {CP} – 1 y 3</a:t>
            </a:r>
            <a:endParaRPr lang="es-MX" dirty="0"/>
          </a:p>
        </p:txBody>
      </p:sp>
      <p:sp>
        <p:nvSpPr>
          <p:cNvPr id="36" name="CuadroTexto 35">
            <a:extLst>
              <a:ext uri="{FF2B5EF4-FFF2-40B4-BE49-F238E27FC236}">
                <a16:creationId xmlns:a16="http://schemas.microsoft.com/office/drawing/2014/main" id="{C52A8637-2A49-4F3F-98EC-A17556B65D6E}"/>
              </a:ext>
            </a:extLst>
          </p:cNvPr>
          <p:cNvSpPr txBox="1"/>
          <p:nvPr/>
        </p:nvSpPr>
        <p:spPr>
          <a:xfrm>
            <a:off x="1302969" y="4559720"/>
            <a:ext cx="4969950" cy="923330"/>
          </a:xfrm>
          <a:prstGeom prst="rect">
            <a:avLst/>
          </a:prstGeom>
          <a:noFill/>
        </p:spPr>
        <p:txBody>
          <a:bodyPr wrap="none" rtlCol="0">
            <a:spAutoFit/>
          </a:bodyPr>
          <a:lstStyle/>
          <a:p>
            <a:pPr marL="342900" indent="-342900">
              <a:buFont typeface="+mj-lt"/>
              <a:buAutoNum type="arabicPeriod"/>
            </a:pPr>
            <a:r>
              <a:rPr lang="es-ES" dirty="0"/>
              <a:t>{CP} tienda tenga servicio CP cliente (Domicilio)</a:t>
            </a:r>
          </a:p>
          <a:p>
            <a:pPr marL="342900" indent="-342900">
              <a:buFont typeface="+mj-lt"/>
              <a:buAutoNum type="arabicPeriod"/>
            </a:pPr>
            <a:r>
              <a:rPr lang="es-MX" dirty="0"/>
              <a:t>Un transportista que llegue al CP</a:t>
            </a:r>
          </a:p>
          <a:p>
            <a:pPr marL="342900" indent="-342900">
              <a:buFont typeface="+mj-lt"/>
              <a:buAutoNum type="arabicPeriod"/>
            </a:pPr>
            <a:r>
              <a:rPr lang="es-MX" dirty="0"/>
              <a:t>El inventario en la tienda</a:t>
            </a:r>
          </a:p>
        </p:txBody>
      </p:sp>
      <p:sp>
        <p:nvSpPr>
          <p:cNvPr id="37" name="CuadroTexto 36">
            <a:extLst>
              <a:ext uri="{FF2B5EF4-FFF2-40B4-BE49-F238E27FC236}">
                <a16:creationId xmlns:a16="http://schemas.microsoft.com/office/drawing/2014/main" id="{4C7509C9-A92C-4BD2-8FA5-26F2BB7BF875}"/>
              </a:ext>
            </a:extLst>
          </p:cNvPr>
          <p:cNvSpPr txBox="1"/>
          <p:nvPr/>
        </p:nvSpPr>
        <p:spPr>
          <a:xfrm>
            <a:off x="7704401" y="1832312"/>
            <a:ext cx="599844" cy="369332"/>
          </a:xfrm>
          <a:prstGeom prst="rect">
            <a:avLst/>
          </a:prstGeom>
          <a:noFill/>
        </p:spPr>
        <p:txBody>
          <a:bodyPr wrap="none" rtlCol="0">
            <a:spAutoFit/>
          </a:bodyPr>
          <a:lstStyle/>
          <a:p>
            <a:r>
              <a:rPr lang="es-ES" dirty="0"/>
              <a:t>TMS</a:t>
            </a:r>
            <a:endParaRPr lang="es-MX" dirty="0"/>
          </a:p>
        </p:txBody>
      </p:sp>
      <p:sp>
        <p:nvSpPr>
          <p:cNvPr id="39" name="Rectángulo 38">
            <a:extLst>
              <a:ext uri="{FF2B5EF4-FFF2-40B4-BE49-F238E27FC236}">
                <a16:creationId xmlns:a16="http://schemas.microsoft.com/office/drawing/2014/main" id="{55476B0B-53C4-4D7E-8141-D6FEEA42AB74}"/>
              </a:ext>
            </a:extLst>
          </p:cNvPr>
          <p:cNvSpPr/>
          <p:nvPr/>
        </p:nvSpPr>
        <p:spPr>
          <a:xfrm>
            <a:off x="7576458" y="2249669"/>
            <a:ext cx="3805918" cy="31207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0" name="Rectángulo 39">
            <a:extLst>
              <a:ext uri="{FF2B5EF4-FFF2-40B4-BE49-F238E27FC236}">
                <a16:creationId xmlns:a16="http://schemas.microsoft.com/office/drawing/2014/main" id="{5077892A-CE25-48AC-A7F7-EDB5DDFC85E6}"/>
              </a:ext>
            </a:extLst>
          </p:cNvPr>
          <p:cNvSpPr/>
          <p:nvPr/>
        </p:nvSpPr>
        <p:spPr>
          <a:xfrm>
            <a:off x="754066" y="2515350"/>
            <a:ext cx="6428792" cy="690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Catálogo SETC</a:t>
            </a:r>
            <a:endParaRPr lang="es-MX" dirty="0"/>
          </a:p>
        </p:txBody>
      </p:sp>
      <p:sp>
        <p:nvSpPr>
          <p:cNvPr id="41" name="Rectángulo 40">
            <a:extLst>
              <a:ext uri="{FF2B5EF4-FFF2-40B4-BE49-F238E27FC236}">
                <a16:creationId xmlns:a16="http://schemas.microsoft.com/office/drawing/2014/main" id="{41D3CDDB-6B1E-4473-837B-C35674B032C9}"/>
              </a:ext>
            </a:extLst>
          </p:cNvPr>
          <p:cNvSpPr/>
          <p:nvPr/>
        </p:nvSpPr>
        <p:spPr>
          <a:xfrm>
            <a:off x="744736" y="1644171"/>
            <a:ext cx="6428792" cy="690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Catálogo WMS</a:t>
            </a:r>
            <a:endParaRPr lang="es-MX" dirty="0"/>
          </a:p>
        </p:txBody>
      </p:sp>
    </p:spTree>
    <p:extLst>
      <p:ext uri="{BB962C8B-B14F-4D97-AF65-F5344CB8AC3E}">
        <p14:creationId xmlns:p14="http://schemas.microsoft.com/office/powerpoint/2010/main" val="125156685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2779</TotalTime>
  <Words>728</Words>
  <Application>Microsoft Office PowerPoint</Application>
  <PresentationFormat>Panorámica</PresentationFormat>
  <Paragraphs>106</Paragraphs>
  <Slides>7</Slides>
  <Notes>0</Notes>
  <HiddenSlides>0</HiddenSlides>
  <MMClips>0</MMClips>
  <ScaleCrop>false</ScaleCrop>
  <HeadingPairs>
    <vt:vector size="8" baseType="variant">
      <vt:variant>
        <vt:lpstr>Fuentes usadas</vt:lpstr>
      </vt:variant>
      <vt:variant>
        <vt:i4>3</vt:i4>
      </vt:variant>
      <vt:variant>
        <vt:lpstr>Tema</vt:lpstr>
      </vt:variant>
      <vt:variant>
        <vt:i4>1</vt:i4>
      </vt:variant>
      <vt:variant>
        <vt:lpstr>Servidores OLE incrustados</vt:lpstr>
      </vt:variant>
      <vt:variant>
        <vt:i4>1</vt:i4>
      </vt:variant>
      <vt:variant>
        <vt:lpstr>Títulos de diapositiva</vt:lpstr>
      </vt:variant>
      <vt:variant>
        <vt:i4>7</vt:i4>
      </vt:variant>
    </vt:vector>
  </HeadingPairs>
  <TitlesOfParts>
    <vt:vector size="12" baseType="lpstr">
      <vt:lpstr>Arial</vt:lpstr>
      <vt:lpstr>Calibri</vt:lpstr>
      <vt:lpstr>Calibri Light</vt:lpstr>
      <vt:lpstr>Tema de Office</vt:lpstr>
      <vt:lpstr>Image</vt:lpstr>
      <vt:lpstr>Catalogo Extendido de Tienda (DST)</vt:lpstr>
      <vt:lpstr>Catalogo Extendido de Tienda (DST)</vt:lpstr>
      <vt:lpstr>Presentación de PowerPoint</vt:lpstr>
      <vt:lpstr>Catalogo Extendido de Tienda (DST)</vt:lpstr>
      <vt:lpstr>Criterio de selección de tienda/almacén</vt:lpstr>
      <vt:lpstr>Criterio de selección de tienda/almacén</vt:lpstr>
      <vt:lpstr>Catalogo Extendido de Tienda (DST)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Gutierrez Rosas, Antonio</dc:creator>
  <cp:lastModifiedBy>Gutierrez Rosas, Antonio</cp:lastModifiedBy>
  <cp:revision>33</cp:revision>
  <dcterms:created xsi:type="dcterms:W3CDTF">2021-03-05T22:29:53Z</dcterms:created>
  <dcterms:modified xsi:type="dcterms:W3CDTF">2021-03-09T21:37:51Z</dcterms:modified>
</cp:coreProperties>
</file>