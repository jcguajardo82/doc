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265" r:id="rId3"/>
    <p:sldId id="258" r:id="rId4"/>
    <p:sldId id="259" r:id="rId5"/>
    <p:sldId id="260" r:id="rId6"/>
    <p:sldId id="261" r:id="rId7"/>
    <p:sldId id="279" r:id="rId8"/>
    <p:sldId id="270" r:id="rId9"/>
    <p:sldId id="280" r:id="rId10"/>
    <p:sldId id="281" r:id="rId11"/>
    <p:sldId id="278" r:id="rId12"/>
    <p:sldId id="271" r:id="rId13"/>
    <p:sldId id="272" r:id="rId14"/>
    <p:sldId id="274" r:id="rId15"/>
    <p:sldId id="264" r:id="rId16"/>
    <p:sldId id="275" r:id="rId17"/>
    <p:sldId id="276" r:id="rId18"/>
    <p:sldId id="277" r:id="rId19"/>
    <p:sldId id="293" r:id="rId20"/>
    <p:sldId id="295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312" r:id="rId37"/>
    <p:sldId id="313" r:id="rId38"/>
    <p:sldId id="314" r:id="rId39"/>
    <p:sldId id="315" r:id="rId40"/>
    <p:sldId id="316" r:id="rId41"/>
    <p:sldId id="317" r:id="rId42"/>
    <p:sldId id="318" r:id="rId43"/>
    <p:sldId id="319" r:id="rId44"/>
    <p:sldId id="320" r:id="rId45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0" d="100"/>
          <a:sy n="70" d="100"/>
        </p:scale>
        <p:origin x="-1386" y="-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EB732-347C-455A-87F1-B82C709C9CCB}" type="datetimeFigureOut">
              <a:rPr lang="es-ES" smtClean="0"/>
              <a:pPr/>
              <a:t>19/03/2021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9F822D-2F83-4F83-B1D4-B925A108C47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3066-88F5-4DE8-B38A-69669868C6BD}" type="datetimeFigureOut">
              <a:rPr lang="es-ES" smtClean="0"/>
              <a:pPr/>
              <a:t>19/03/2021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8666-A8FB-4AD5-9C33-B92D2BD89179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3066-88F5-4DE8-B38A-69669868C6BD}" type="datetimeFigureOut">
              <a:rPr lang="es-ES" smtClean="0"/>
              <a:pPr/>
              <a:t>19/03/2021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8666-A8FB-4AD5-9C33-B92D2BD89179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3066-88F5-4DE8-B38A-69669868C6BD}" type="datetimeFigureOut">
              <a:rPr lang="es-ES" smtClean="0"/>
              <a:pPr/>
              <a:t>19/03/2021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8666-A8FB-4AD5-9C33-B92D2BD89179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3066-88F5-4DE8-B38A-69669868C6BD}" type="datetimeFigureOut">
              <a:rPr lang="es-ES" smtClean="0"/>
              <a:pPr/>
              <a:t>19/03/2021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8666-A8FB-4AD5-9C33-B92D2BD89179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3066-88F5-4DE8-B38A-69669868C6BD}" type="datetimeFigureOut">
              <a:rPr lang="es-ES" smtClean="0"/>
              <a:pPr/>
              <a:t>19/03/2021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8666-A8FB-4AD5-9C33-B92D2BD89179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3066-88F5-4DE8-B38A-69669868C6BD}" type="datetimeFigureOut">
              <a:rPr lang="es-ES" smtClean="0"/>
              <a:pPr/>
              <a:t>19/03/2021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8666-A8FB-4AD5-9C33-B92D2BD89179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3066-88F5-4DE8-B38A-69669868C6BD}" type="datetimeFigureOut">
              <a:rPr lang="es-ES" smtClean="0"/>
              <a:pPr/>
              <a:t>19/03/2021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8666-A8FB-4AD5-9C33-B92D2BD89179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3066-88F5-4DE8-B38A-69669868C6BD}" type="datetimeFigureOut">
              <a:rPr lang="es-ES" smtClean="0"/>
              <a:pPr/>
              <a:t>19/03/2021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8666-A8FB-4AD5-9C33-B92D2BD89179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3066-88F5-4DE8-B38A-69669868C6BD}" type="datetimeFigureOut">
              <a:rPr lang="es-ES" smtClean="0"/>
              <a:pPr/>
              <a:t>19/03/2021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8666-A8FB-4AD5-9C33-B92D2BD89179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3066-88F5-4DE8-B38A-69669868C6BD}" type="datetimeFigureOut">
              <a:rPr lang="es-ES" smtClean="0"/>
              <a:pPr/>
              <a:t>19/03/2021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8666-A8FB-4AD5-9C33-B92D2BD89179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3066-88F5-4DE8-B38A-69669868C6BD}" type="datetimeFigureOut">
              <a:rPr lang="es-ES" smtClean="0"/>
              <a:pPr/>
              <a:t>19/03/2021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8666-A8FB-4AD5-9C33-B92D2BD89179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43066-88F5-4DE8-B38A-69669868C6BD}" type="datetimeFigureOut">
              <a:rPr lang="es-ES" smtClean="0"/>
              <a:pPr/>
              <a:t>19/03/2021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28666-A8FB-4AD5-9C33-B92D2BD89179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b="4302"/>
          <a:stretch>
            <a:fillRect/>
          </a:stretch>
        </p:blipFill>
        <p:spPr bwMode="auto">
          <a:xfrm>
            <a:off x="0" y="785794"/>
            <a:ext cx="9144000" cy="571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214414" y="2535318"/>
            <a:ext cx="674434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600" b="1" dirty="0" smtClean="0"/>
              <a:t>VISTA PROVEEDOR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" name="5 CuadroTexto"/>
          <p:cNvSpPr txBox="1"/>
          <p:nvPr/>
        </p:nvSpPr>
        <p:spPr>
          <a:xfrm>
            <a:off x="2285984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Alta de Proveedor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8" name="7 Tabla"/>
          <p:cNvGraphicFramePr>
            <a:graphicFrameLocks noGrp="1"/>
          </p:cNvGraphicFramePr>
          <p:nvPr/>
        </p:nvGraphicFramePr>
        <p:xfrm>
          <a:off x="1905024" y="2071678"/>
          <a:ext cx="6096000" cy="4042273"/>
        </p:xfrm>
        <a:graphic>
          <a:graphicData uri="http://schemas.openxmlformats.org/drawingml/2006/table">
            <a:tbl>
              <a:tblPr/>
              <a:tblGrid>
                <a:gridCol w="630621"/>
                <a:gridCol w="693683"/>
                <a:gridCol w="788276"/>
                <a:gridCol w="315310"/>
                <a:gridCol w="651641"/>
                <a:gridCol w="220717"/>
                <a:gridCol w="1019503"/>
                <a:gridCol w="231228"/>
                <a:gridCol w="630621"/>
                <a:gridCol w="147145"/>
                <a:gridCol w="767255"/>
              </a:tblGrid>
              <a:tr h="157655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655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Número de Proveedor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Nombre de Proveedor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655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s-419" sz="700" b="0" i="0" u="none" strike="noStrike">
                          <a:solidFill>
                            <a:srgbClr val="FF0000"/>
                          </a:solidFill>
                          <a:latin typeface="Calibri"/>
                        </a:rPr>
                        <a:t>*(aparecerá en automático cuando ponga el número asignado)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</a:tr>
              <a:tr h="157655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Direccion del Almacén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6619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655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Calle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Número Exterior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Número Interior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619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655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Cuidad/Delegación/Municipio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CP.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619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7655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Entre calle 1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Entre calle 2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655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655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ES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Infomación de contacto operativo 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ES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Infomación de contacto comercial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6619">
                <a:tc>
                  <a:txBody>
                    <a:bodyPr/>
                    <a:lstStyle/>
                    <a:p>
                      <a:pPr algn="l" fontAlgn="ctr"/>
                      <a:endParaRPr lang="es-ES" sz="9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6619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655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Nombre de contacto Operativo 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Nombre de contacto Operativo 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6619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655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Teléfono del contacto Operativo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Teléfono del contacto Operativo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6619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655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Correo electrónico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Correo electrónico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655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655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419" sz="700" b="0" i="1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*Todos los campos son obligatorios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655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GUARDAR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EDITAR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</a:tr>
              <a:tr h="146619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46841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419" sz="700" b="0" i="0" u="none" strike="noStrike">
                          <a:solidFill>
                            <a:srgbClr val="FF0000"/>
                          </a:solidFill>
                          <a:latin typeface="Calibri"/>
                        </a:rPr>
                        <a:t>*No deberá habilitarse el boton de guardar  hasta que esten todos los campos llenos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</a:tr>
              <a:tr h="157655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8 CuadroTexto"/>
          <p:cNvSpPr txBox="1"/>
          <p:nvPr/>
        </p:nvSpPr>
        <p:spPr>
          <a:xfrm>
            <a:off x="3482346" y="59272"/>
            <a:ext cx="2282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PROVEEDOR</a:t>
            </a:r>
          </a:p>
        </p:txBody>
      </p:sp>
      <p:sp>
        <p:nvSpPr>
          <p:cNvPr id="11" name="10 CuadroTexto"/>
          <p:cNvSpPr txBox="1"/>
          <p:nvPr/>
        </p:nvSpPr>
        <p:spPr>
          <a:xfrm>
            <a:off x="-45658" y="2161610"/>
            <a:ext cx="1428596" cy="2723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>
                <a:solidFill>
                  <a:schemeClr val="bg1"/>
                </a:solidFill>
              </a:rPr>
              <a:t>Alta de proveedor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" name="5 CuadroTexto"/>
          <p:cNvSpPr txBox="1"/>
          <p:nvPr/>
        </p:nvSpPr>
        <p:spPr>
          <a:xfrm>
            <a:off x="2285984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Manuales Operativos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3482346" y="59272"/>
            <a:ext cx="2282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PROVEEDOR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2814256" y="2571744"/>
            <a:ext cx="382944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 smtClean="0"/>
              <a:t>Manual de Operación </a:t>
            </a:r>
          </a:p>
          <a:p>
            <a:r>
              <a:rPr lang="es-419" sz="1000" dirty="0" smtClean="0"/>
              <a:t>     Procesos para surtir y enviar una orden</a:t>
            </a:r>
          </a:p>
          <a:p>
            <a:endParaRPr lang="es-419" dirty="0" smtClean="0"/>
          </a:p>
          <a:p>
            <a:r>
              <a:rPr lang="es-419" dirty="0" smtClean="0"/>
              <a:t>Manual de Empaque </a:t>
            </a:r>
          </a:p>
          <a:p>
            <a:r>
              <a:rPr lang="es-419" sz="1000" dirty="0" smtClean="0"/>
              <a:t>      Tipos de empaque que se deben utilizar para un adecuado envio</a:t>
            </a:r>
          </a:p>
          <a:p>
            <a:endParaRPr lang="es-419" sz="1000" dirty="0" smtClean="0"/>
          </a:p>
          <a:p>
            <a:r>
              <a:rPr lang="es-419" dirty="0" smtClean="0"/>
              <a:t>Manual de Actulaización de Inventario </a:t>
            </a:r>
          </a:p>
          <a:p>
            <a:r>
              <a:rPr lang="es-419" sz="900" dirty="0" smtClean="0"/>
              <a:t>     Pasos a seguir para mantener actualizado tu inventario en la página</a:t>
            </a:r>
          </a:p>
          <a:p>
            <a:endParaRPr lang="es-419" dirty="0" smtClean="0"/>
          </a:p>
          <a:p>
            <a:r>
              <a:rPr lang="es-419" dirty="0" smtClean="0"/>
              <a:t>Manual Actualizacion de Contenido</a:t>
            </a:r>
          </a:p>
          <a:p>
            <a:r>
              <a:rPr lang="es-419" sz="900" dirty="0" smtClean="0"/>
              <a:t>     Pasos a seguir para actualizar el contenido de un producto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2599942" y="2714620"/>
            <a:ext cx="214314" cy="7143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11 Rectángulo"/>
          <p:cNvSpPr/>
          <p:nvPr/>
        </p:nvSpPr>
        <p:spPr>
          <a:xfrm>
            <a:off x="2599942" y="3429000"/>
            <a:ext cx="214314" cy="7143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12 Rectángulo"/>
          <p:cNvSpPr/>
          <p:nvPr/>
        </p:nvSpPr>
        <p:spPr>
          <a:xfrm>
            <a:off x="2599942" y="4000504"/>
            <a:ext cx="214314" cy="7143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13 Rectángulo"/>
          <p:cNvSpPr/>
          <p:nvPr/>
        </p:nvSpPr>
        <p:spPr>
          <a:xfrm>
            <a:off x="2599942" y="4714884"/>
            <a:ext cx="214314" cy="7143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14 CuadroTexto"/>
          <p:cNvSpPr txBox="1"/>
          <p:nvPr/>
        </p:nvSpPr>
        <p:spPr>
          <a:xfrm>
            <a:off x="-45658" y="2161610"/>
            <a:ext cx="1428596" cy="2723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>
                <a:solidFill>
                  <a:schemeClr val="bg1"/>
                </a:solidFill>
              </a:rPr>
              <a:t>Alta de proveedor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" name="5 CuadroTexto"/>
          <p:cNvSpPr txBox="1"/>
          <p:nvPr/>
        </p:nvSpPr>
        <p:spPr>
          <a:xfrm>
            <a:off x="2428860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Actualizaciones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3482346" y="59272"/>
            <a:ext cx="2282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PROVEEDOR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2527831" y="2643182"/>
            <a:ext cx="206223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300" b="1" dirty="0" smtClean="0"/>
              <a:t>Actualización de inventario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5090128" y="2643182"/>
            <a:ext cx="20536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300" b="1" dirty="0" smtClean="0"/>
              <a:t>Actualización de contenido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 l="12628" t="15546" r="85867" b="81776"/>
          <a:stretch>
            <a:fillRect/>
          </a:stretch>
        </p:blipFill>
        <p:spPr bwMode="auto">
          <a:xfrm>
            <a:off x="3027897" y="3055292"/>
            <a:ext cx="714380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10 CuadroTexto"/>
          <p:cNvSpPr txBox="1"/>
          <p:nvPr/>
        </p:nvSpPr>
        <p:spPr>
          <a:xfrm>
            <a:off x="2889368" y="3769672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900" dirty="0" smtClean="0"/>
              <a:t>Cargar inventario</a:t>
            </a:r>
            <a:endParaRPr lang="es-ES" sz="900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/>
          <a:srcRect l="12628" t="15546" r="85867" b="81776"/>
          <a:stretch>
            <a:fillRect/>
          </a:stretch>
        </p:blipFill>
        <p:spPr bwMode="auto">
          <a:xfrm>
            <a:off x="5800161" y="3071810"/>
            <a:ext cx="714380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12 CuadroTexto"/>
          <p:cNvSpPr txBox="1"/>
          <p:nvPr/>
        </p:nvSpPr>
        <p:spPr>
          <a:xfrm>
            <a:off x="5661632" y="3786190"/>
            <a:ext cx="11496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900" dirty="0" smtClean="0"/>
              <a:t>Actualizar contenido</a:t>
            </a:r>
            <a:endParaRPr lang="es-ES" sz="900" dirty="0"/>
          </a:p>
        </p:txBody>
      </p:sp>
      <p:sp>
        <p:nvSpPr>
          <p:cNvPr id="14" name="13 CuadroTexto"/>
          <p:cNvSpPr txBox="1"/>
          <p:nvPr/>
        </p:nvSpPr>
        <p:spPr>
          <a:xfrm>
            <a:off x="-45658" y="2161610"/>
            <a:ext cx="1428596" cy="2723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>
                <a:solidFill>
                  <a:schemeClr val="bg1"/>
                </a:solidFill>
              </a:rPr>
              <a:t>Alta de proveedor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" name="5 CuadroTexto"/>
          <p:cNvSpPr txBox="1"/>
          <p:nvPr/>
        </p:nvSpPr>
        <p:spPr>
          <a:xfrm>
            <a:off x="2357422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Total de Ordenes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3482346" y="59272"/>
            <a:ext cx="2282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PROVEEDOR</a:t>
            </a:r>
          </a:p>
        </p:txBody>
      </p:sp>
      <p:graphicFrame>
        <p:nvGraphicFramePr>
          <p:cNvPr id="8" name="7 Tabla"/>
          <p:cNvGraphicFramePr>
            <a:graphicFrameLocks noGrp="1"/>
          </p:cNvGraphicFramePr>
          <p:nvPr/>
        </p:nvGraphicFramePr>
        <p:xfrm>
          <a:off x="1357292" y="2071678"/>
          <a:ext cx="7429549" cy="2155310"/>
        </p:xfrm>
        <a:graphic>
          <a:graphicData uri="http://schemas.openxmlformats.org/drawingml/2006/table">
            <a:tbl>
              <a:tblPr/>
              <a:tblGrid>
                <a:gridCol w="825505"/>
                <a:gridCol w="825505"/>
                <a:gridCol w="825505"/>
                <a:gridCol w="811394"/>
                <a:gridCol w="784055"/>
                <a:gridCol w="993958"/>
                <a:gridCol w="811394"/>
                <a:gridCol w="811394"/>
                <a:gridCol w="740839"/>
              </a:tblGrid>
              <a:tr h="852651"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Numero de orden </a:t>
                      </a:r>
                      <a:r>
                        <a:rPr lang="es-419" sz="10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  <a:br>
                        <a:rPr lang="es-419" sz="10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</a:br>
                      <a:r>
                        <a:rPr lang="es-419" sz="10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(solo mostrar las de pago autorizdo)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Fecha y hora de creación de la orden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Nombre del cliente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Estatus de la orden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Estatus de la Consignación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Número de la Guia</a:t>
                      </a:r>
                      <a:r>
                        <a:rPr lang="es-419" sz="10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  <a:br>
                        <a:rPr lang="es-419" sz="10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</a:br>
                      <a:r>
                        <a:rPr lang="es-419" sz="8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Aplica solo cuando el estatus de la consignación esté en espera de recolección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Estatus de la guia </a:t>
                      </a:r>
                      <a:br>
                        <a:rPr lang="es-419" sz="10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</a:br>
                      <a:r>
                        <a:rPr lang="es-419" sz="8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Aplica solo cuando el estatus de la consignación esté en espera de recolección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0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Numero de Orden de Compra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0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Estatus de Orden de compra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428340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7345672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28-ene-21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Susana Vargas Miranda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Pago Autorizado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espera de recolección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12345654323500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tránsito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567899876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programación de pago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8340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7632453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Susana Vargas Miranda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Pago Autorizado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espera de recolección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12345654234500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tránsito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567899876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En programación de pago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5466"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5466"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" name="13 CuadroTexto"/>
          <p:cNvSpPr txBox="1"/>
          <p:nvPr/>
        </p:nvSpPr>
        <p:spPr>
          <a:xfrm>
            <a:off x="1357290" y="4286256"/>
            <a:ext cx="746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Al dar </a:t>
            </a:r>
            <a:r>
              <a:rPr lang="es-ES" dirty="0" err="1" smtClean="0"/>
              <a:t>click</a:t>
            </a:r>
            <a:r>
              <a:rPr lang="es-ES" dirty="0" smtClean="0"/>
              <a:t> en a orden debe mandar a la ventana de Surtido/Detalle de Orden</a:t>
            </a:r>
            <a:endParaRPr lang="es-ES" dirty="0"/>
          </a:p>
        </p:txBody>
      </p:sp>
      <p:sp>
        <p:nvSpPr>
          <p:cNvPr id="10" name="9 CuadroTexto"/>
          <p:cNvSpPr txBox="1"/>
          <p:nvPr/>
        </p:nvSpPr>
        <p:spPr>
          <a:xfrm>
            <a:off x="-45658" y="2161610"/>
            <a:ext cx="1428596" cy="2723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>
                <a:solidFill>
                  <a:schemeClr val="bg1"/>
                </a:solidFill>
              </a:rPr>
              <a:t>Alta de proveedor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9" name="8 CuadroTexto"/>
          <p:cNvSpPr txBox="1"/>
          <p:nvPr/>
        </p:nvSpPr>
        <p:spPr>
          <a:xfrm>
            <a:off x="3482346" y="59272"/>
            <a:ext cx="2282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PROVEEDOR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2357422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Proceso de Surtido / Aceptar Consignación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1357290" y="2500306"/>
            <a:ext cx="74295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u="sng" dirty="0" smtClean="0"/>
              <a:t>Aceptar consignación</a:t>
            </a:r>
            <a:r>
              <a:rPr lang="es-ES" sz="1000" b="1" dirty="0" smtClean="0"/>
              <a:t>     Solicitud de </a:t>
            </a:r>
            <a:r>
              <a:rPr lang="es-ES" sz="1000" b="1" dirty="0" err="1" smtClean="0"/>
              <a:t>guia</a:t>
            </a:r>
            <a:r>
              <a:rPr lang="es-ES" sz="1000" b="1" dirty="0" smtClean="0"/>
              <a:t>     Cancelar Consignación     Descarga de </a:t>
            </a:r>
            <a:r>
              <a:rPr lang="es-ES" sz="1000" b="1" dirty="0" err="1" smtClean="0"/>
              <a:t>guias</a:t>
            </a:r>
            <a:r>
              <a:rPr lang="es-ES" sz="1000" b="1" dirty="0" smtClean="0"/>
              <a:t>     Confirmar envío de consignación</a:t>
            </a:r>
            <a:endParaRPr lang="es-ES" sz="1000" b="1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/>
          <a:srcRect l="17569" t="21484" r="37408" b="73633"/>
          <a:stretch>
            <a:fillRect/>
          </a:stretch>
        </p:blipFill>
        <p:spPr bwMode="auto">
          <a:xfrm>
            <a:off x="1428728" y="2000240"/>
            <a:ext cx="5857916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6" name="15 Tabla"/>
          <p:cNvGraphicFramePr>
            <a:graphicFrameLocks noGrp="1"/>
          </p:cNvGraphicFramePr>
          <p:nvPr/>
        </p:nvGraphicFramePr>
        <p:xfrm>
          <a:off x="1922164" y="3000372"/>
          <a:ext cx="5364480" cy="2500332"/>
        </p:xfrm>
        <a:graphic>
          <a:graphicData uri="http://schemas.openxmlformats.org/drawingml/2006/table">
            <a:tbl>
              <a:tblPr/>
              <a:tblGrid>
                <a:gridCol w="1048512"/>
                <a:gridCol w="1133856"/>
                <a:gridCol w="731520"/>
                <a:gridCol w="1300954"/>
                <a:gridCol w="1149638"/>
              </a:tblGrid>
              <a:tr h="652260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Pizas solicitadas </a:t>
                      </a:r>
                      <a:r>
                        <a:rPr lang="es-ES" sz="10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para</a:t>
                      </a:r>
                      <a:r>
                        <a:rPr lang="es-ES" sz="1000" b="1" i="0" u="none" strike="noStrike" baseline="0" dirty="0" smtClean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lang="es-ES" sz="1000" b="1" i="0" u="none" strike="noStrike" baseline="0" dirty="0" err="1" smtClean="0">
                          <a:solidFill>
                            <a:srgbClr val="FFFFFF"/>
                          </a:solidFill>
                          <a:latin typeface="Calibri"/>
                        </a:rPr>
                        <a:t>envio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Tipo de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envio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Aceptar </a:t>
                      </a:r>
                      <a:r>
                        <a:rPr lang="es-ES" sz="10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Consignación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462018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2018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2018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1112346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Abanico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2018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1112875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Refrigerador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LTL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7" name="16 CuadroTexto"/>
          <p:cNvSpPr txBox="1"/>
          <p:nvPr/>
        </p:nvSpPr>
        <p:spPr>
          <a:xfrm>
            <a:off x="6357950" y="6072206"/>
            <a:ext cx="224619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ES" b="1" dirty="0" smtClean="0"/>
              <a:t>Aceptar Consignación</a:t>
            </a:r>
            <a:endParaRPr lang="es-ES" b="1" dirty="0"/>
          </a:p>
        </p:txBody>
      </p:sp>
      <p:grpSp>
        <p:nvGrpSpPr>
          <p:cNvPr id="18" name="17 Grupo"/>
          <p:cNvGrpSpPr/>
          <p:nvPr/>
        </p:nvGrpSpPr>
        <p:grpSpPr>
          <a:xfrm>
            <a:off x="6637072" y="3786190"/>
            <a:ext cx="285752" cy="214314"/>
            <a:chOff x="7500958" y="5429264"/>
            <a:chExt cx="285752" cy="214314"/>
          </a:xfrm>
        </p:grpSpPr>
        <p:sp>
          <p:nvSpPr>
            <p:cNvPr id="19" name="18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0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21" name="20 Grupo"/>
          <p:cNvGrpSpPr/>
          <p:nvPr/>
        </p:nvGrpSpPr>
        <p:grpSpPr>
          <a:xfrm>
            <a:off x="6637072" y="4286256"/>
            <a:ext cx="285752" cy="214314"/>
            <a:chOff x="7500958" y="5429264"/>
            <a:chExt cx="285752" cy="214314"/>
          </a:xfrm>
        </p:grpSpPr>
        <p:sp>
          <p:nvSpPr>
            <p:cNvPr id="22" name="21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3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24" name="23 Grupo"/>
          <p:cNvGrpSpPr/>
          <p:nvPr/>
        </p:nvGrpSpPr>
        <p:grpSpPr>
          <a:xfrm>
            <a:off x="6637072" y="4714884"/>
            <a:ext cx="285752" cy="214314"/>
            <a:chOff x="7500958" y="5429264"/>
            <a:chExt cx="285752" cy="214314"/>
          </a:xfrm>
        </p:grpSpPr>
        <p:sp>
          <p:nvSpPr>
            <p:cNvPr id="25" name="24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6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27" name="26 Grupo"/>
          <p:cNvGrpSpPr/>
          <p:nvPr/>
        </p:nvGrpSpPr>
        <p:grpSpPr>
          <a:xfrm>
            <a:off x="6637072" y="5214950"/>
            <a:ext cx="285752" cy="214314"/>
            <a:chOff x="7500958" y="5429264"/>
            <a:chExt cx="285752" cy="214314"/>
          </a:xfrm>
        </p:grpSpPr>
        <p:sp>
          <p:nvSpPr>
            <p:cNvPr id="28" name="27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9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30" name="29 CuadroTexto"/>
          <p:cNvSpPr txBox="1"/>
          <p:nvPr/>
        </p:nvSpPr>
        <p:spPr>
          <a:xfrm>
            <a:off x="-45658" y="2161610"/>
            <a:ext cx="1428596" cy="2723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>
                <a:solidFill>
                  <a:schemeClr val="bg1"/>
                </a:solidFill>
              </a:rPr>
              <a:t>Alta de proveedor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9" name="8 CuadroTexto"/>
          <p:cNvSpPr txBox="1"/>
          <p:nvPr/>
        </p:nvSpPr>
        <p:spPr>
          <a:xfrm>
            <a:off x="3482346" y="59272"/>
            <a:ext cx="2282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PROVEEDOR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2357422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Proceso de Surtido / Solicitud de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</a:rPr>
              <a:t>Guia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1357290" y="2500306"/>
            <a:ext cx="74295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 smtClean="0"/>
              <a:t>Aceptar consignación     </a:t>
            </a:r>
            <a:r>
              <a:rPr lang="es-ES" sz="1000" b="1" u="sng" dirty="0" smtClean="0"/>
              <a:t>Solicitud de </a:t>
            </a:r>
            <a:r>
              <a:rPr lang="es-ES" sz="1000" b="1" u="sng" dirty="0" err="1" smtClean="0"/>
              <a:t>guia</a:t>
            </a:r>
            <a:r>
              <a:rPr lang="es-ES" sz="1000" b="1" u="sng" dirty="0" smtClean="0"/>
              <a:t> </a:t>
            </a:r>
            <a:r>
              <a:rPr lang="es-ES" sz="1000" b="1" dirty="0" smtClean="0"/>
              <a:t>    Cancelar Consignación     Descarga de </a:t>
            </a:r>
            <a:r>
              <a:rPr lang="es-ES" sz="1000" b="1" dirty="0" err="1" smtClean="0"/>
              <a:t>guias</a:t>
            </a:r>
            <a:r>
              <a:rPr lang="es-ES" sz="1000" b="1" dirty="0" smtClean="0"/>
              <a:t>     Confirmar envío de consignación</a:t>
            </a:r>
            <a:endParaRPr lang="es-ES" sz="1000" b="1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/>
          <a:srcRect l="17569" t="21484" r="37408" b="73633"/>
          <a:stretch>
            <a:fillRect/>
          </a:stretch>
        </p:blipFill>
        <p:spPr bwMode="auto">
          <a:xfrm>
            <a:off x="1428728" y="2000240"/>
            <a:ext cx="5857916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6" name="AutoShape 2" descr="Compruebe icono de signo Stock de Foto gratis - Public Domain Pictur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028" name="AutoShape 4" descr="Compruebe icono de signo Stock de Foto gratis - Public Domain Pictur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9" name="28 CuadroTexto"/>
          <p:cNvSpPr txBox="1"/>
          <p:nvPr/>
        </p:nvSpPr>
        <p:spPr>
          <a:xfrm>
            <a:off x="6496982" y="5500702"/>
            <a:ext cx="1505284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ES" b="1" dirty="0" smtClean="0"/>
              <a:t>Generar </a:t>
            </a:r>
            <a:r>
              <a:rPr lang="es-ES" b="1" dirty="0" err="1" smtClean="0"/>
              <a:t>guias</a:t>
            </a:r>
            <a:endParaRPr lang="es-ES" b="1" dirty="0"/>
          </a:p>
        </p:txBody>
      </p:sp>
      <p:graphicFrame>
        <p:nvGraphicFramePr>
          <p:cNvPr id="31" name="30 Tabla"/>
          <p:cNvGraphicFramePr>
            <a:graphicFrameLocks noGrp="1"/>
          </p:cNvGraphicFramePr>
          <p:nvPr/>
        </p:nvGraphicFramePr>
        <p:xfrm>
          <a:off x="1643042" y="3140350"/>
          <a:ext cx="5715040" cy="2003162"/>
        </p:xfrm>
        <a:graphic>
          <a:graphicData uri="http://schemas.openxmlformats.org/drawingml/2006/table">
            <a:tbl>
              <a:tblPr/>
              <a:tblGrid>
                <a:gridCol w="946590"/>
                <a:gridCol w="1514545"/>
                <a:gridCol w="946590"/>
                <a:gridCol w="1124077"/>
                <a:gridCol w="1183238"/>
              </a:tblGrid>
              <a:tr h="253793"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Guias solicitadas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793"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80404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Descipción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Peso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Volumétivo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Tipo Envío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Total de guias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25379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1.2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err="1" smtClean="0">
                          <a:solidFill>
                            <a:srgbClr val="000000"/>
                          </a:solidFill>
                          <a:latin typeface="+mn-lt"/>
                        </a:rPr>
                        <a:t>Paqueteria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379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379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1112346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Abanico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379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1112875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Refrigerador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71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LTL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" name="14 CuadroTexto"/>
          <p:cNvSpPr txBox="1"/>
          <p:nvPr/>
        </p:nvSpPr>
        <p:spPr>
          <a:xfrm>
            <a:off x="-45658" y="2161610"/>
            <a:ext cx="1428596" cy="2723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>
                <a:solidFill>
                  <a:schemeClr val="bg1"/>
                </a:solidFill>
              </a:rPr>
              <a:t>Alta de proveedor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71480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9" name="8 CuadroTexto"/>
          <p:cNvSpPr txBox="1"/>
          <p:nvPr/>
        </p:nvSpPr>
        <p:spPr>
          <a:xfrm>
            <a:off x="3482346" y="59272"/>
            <a:ext cx="2282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PROVEEDOR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2357422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Proceso de Surtido / Descarga de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</a:rPr>
              <a:t>Guias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1357290" y="2500306"/>
            <a:ext cx="74295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 smtClean="0"/>
              <a:t>Aceptar consignación     Solicitud de </a:t>
            </a:r>
            <a:r>
              <a:rPr lang="es-ES" sz="1000" b="1" dirty="0" err="1" smtClean="0"/>
              <a:t>guia</a:t>
            </a:r>
            <a:r>
              <a:rPr lang="es-ES" sz="1000" b="1" dirty="0" smtClean="0"/>
              <a:t>     Cancelar Consignación     </a:t>
            </a:r>
            <a:r>
              <a:rPr lang="es-ES" sz="1000" b="1" u="sng" dirty="0" smtClean="0"/>
              <a:t>Descarga de </a:t>
            </a:r>
            <a:r>
              <a:rPr lang="es-ES" sz="1000" b="1" u="sng" dirty="0" err="1" smtClean="0"/>
              <a:t>guias</a:t>
            </a:r>
            <a:r>
              <a:rPr lang="es-ES" sz="1000" b="1" dirty="0" smtClean="0"/>
              <a:t>     Confirmar envío de consignación</a:t>
            </a:r>
            <a:endParaRPr lang="es-ES" sz="1000" b="1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/>
          <a:srcRect l="17569" t="21484" r="37408" b="73633"/>
          <a:stretch>
            <a:fillRect/>
          </a:stretch>
        </p:blipFill>
        <p:spPr bwMode="auto">
          <a:xfrm>
            <a:off x="1428728" y="2000240"/>
            <a:ext cx="5857916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6" name="AutoShape 2" descr="Compruebe icono de signo Stock de Foto gratis - Public Domain Pictur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028" name="AutoShape 4" descr="Compruebe icono de signo Stock de Foto gratis - Public Domain Pictur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30" name="29 CuadroTexto"/>
          <p:cNvSpPr txBox="1"/>
          <p:nvPr/>
        </p:nvSpPr>
        <p:spPr>
          <a:xfrm>
            <a:off x="2214546" y="5000636"/>
            <a:ext cx="45005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 smtClean="0"/>
              <a:t>Dar </a:t>
            </a:r>
            <a:r>
              <a:rPr lang="es-ES" sz="1600" dirty="0" err="1" smtClean="0"/>
              <a:t>click</a:t>
            </a:r>
            <a:r>
              <a:rPr lang="es-ES" sz="1600" dirty="0" smtClean="0"/>
              <a:t> en la </a:t>
            </a:r>
            <a:r>
              <a:rPr lang="es-ES" sz="1600" dirty="0" err="1" smtClean="0"/>
              <a:t>guia</a:t>
            </a:r>
            <a:r>
              <a:rPr lang="es-ES" sz="1600" dirty="0" smtClean="0"/>
              <a:t> para descargarla</a:t>
            </a:r>
          </a:p>
          <a:p>
            <a:endParaRPr lang="es-ES" sz="1600" dirty="0" smtClean="0"/>
          </a:p>
        </p:txBody>
      </p:sp>
      <p:graphicFrame>
        <p:nvGraphicFramePr>
          <p:cNvPr id="13" name="12 Tabla"/>
          <p:cNvGraphicFramePr>
            <a:graphicFrameLocks noGrp="1"/>
          </p:cNvGraphicFramePr>
          <p:nvPr/>
        </p:nvGraphicFramePr>
        <p:xfrm>
          <a:off x="2357422" y="2952750"/>
          <a:ext cx="4857784" cy="1976450"/>
        </p:xfrm>
        <a:graphic>
          <a:graphicData uri="http://schemas.openxmlformats.org/drawingml/2006/table">
            <a:tbl>
              <a:tblPr/>
              <a:tblGrid>
                <a:gridCol w="2266966"/>
                <a:gridCol w="1009657"/>
                <a:gridCol w="1581161"/>
              </a:tblGrid>
              <a:tr h="39529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No. </a:t>
                      </a:r>
                      <a:r>
                        <a:rPr lang="es-ES" sz="11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Guia</a:t>
                      </a:r>
                      <a:endParaRPr lang="es-ES" sz="11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Descipción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395290">
                <a:tc>
                  <a:txBody>
                    <a:bodyPr/>
                    <a:lstStyle/>
                    <a:p>
                      <a:pPr algn="l" fontAlgn="ctr"/>
                      <a:r>
                        <a:rPr lang="es-ES" sz="11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1234567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Refrigerador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90">
                <a:tc>
                  <a:txBody>
                    <a:bodyPr/>
                    <a:lstStyle/>
                    <a:p>
                      <a:pPr algn="l" fontAlgn="ctr"/>
                      <a:r>
                        <a:rPr lang="es-ES" sz="11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45367323456213400000000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1234567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Locion Dama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90">
                <a:tc>
                  <a:txBody>
                    <a:bodyPr/>
                    <a:lstStyle/>
                    <a:p>
                      <a:pPr algn="l" fontAlgn="ctr"/>
                      <a:r>
                        <a:rPr lang="es-ES" sz="11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45367323456213400000000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1234567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Locion Niño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90">
                <a:tc>
                  <a:txBody>
                    <a:bodyPr/>
                    <a:lstStyle/>
                    <a:p>
                      <a:pPr algn="l" fontAlgn="ctr"/>
                      <a:r>
                        <a:rPr lang="es-ES" sz="1100" b="0" i="0" u="sng" strike="noStrike" dirty="0">
                          <a:solidFill>
                            <a:srgbClr val="0F253F"/>
                          </a:solidFill>
                          <a:latin typeface="Calibri"/>
                        </a:rPr>
                        <a:t>45367323456213400000000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1234567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1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Locion</a:t>
                      </a: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Caballero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" name="14 CuadroTexto"/>
          <p:cNvSpPr txBox="1"/>
          <p:nvPr/>
        </p:nvSpPr>
        <p:spPr>
          <a:xfrm>
            <a:off x="-45658" y="2161610"/>
            <a:ext cx="1428596" cy="2723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>
                <a:solidFill>
                  <a:schemeClr val="bg1"/>
                </a:solidFill>
              </a:rPr>
              <a:t>Alta de proveedor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9" name="8 CuadroTexto"/>
          <p:cNvSpPr txBox="1"/>
          <p:nvPr/>
        </p:nvSpPr>
        <p:spPr>
          <a:xfrm>
            <a:off x="3482346" y="59272"/>
            <a:ext cx="2282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PROVEEDOR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2357422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Confirmar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</a:rPr>
              <a:t>Envio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 de Consignación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1357290" y="2500306"/>
            <a:ext cx="74295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 smtClean="0"/>
              <a:t>Aceptar consignación     Solicitud de </a:t>
            </a:r>
            <a:r>
              <a:rPr lang="es-ES" sz="1000" b="1" dirty="0" err="1" smtClean="0"/>
              <a:t>guia</a:t>
            </a:r>
            <a:r>
              <a:rPr lang="es-ES" sz="1000" b="1" dirty="0" smtClean="0"/>
              <a:t>     Cancelar Consignación     Descarga de </a:t>
            </a:r>
            <a:r>
              <a:rPr lang="es-ES" sz="1000" b="1" dirty="0" err="1" smtClean="0"/>
              <a:t>guias</a:t>
            </a:r>
            <a:r>
              <a:rPr lang="es-ES" sz="1000" b="1" dirty="0" smtClean="0"/>
              <a:t>     </a:t>
            </a:r>
            <a:r>
              <a:rPr lang="es-ES" sz="1000" b="1" u="sng" dirty="0" smtClean="0"/>
              <a:t>Confirmar envío de consignación</a:t>
            </a:r>
            <a:endParaRPr lang="es-ES" sz="1000" b="1" u="sng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/>
          <a:srcRect l="17569" t="21484" r="37408" b="73633"/>
          <a:stretch>
            <a:fillRect/>
          </a:stretch>
        </p:blipFill>
        <p:spPr bwMode="auto">
          <a:xfrm>
            <a:off x="1428728" y="2000240"/>
            <a:ext cx="5857916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6" name="15 Tabla"/>
          <p:cNvGraphicFramePr>
            <a:graphicFrameLocks noGrp="1"/>
          </p:cNvGraphicFramePr>
          <p:nvPr/>
        </p:nvGraphicFramePr>
        <p:xfrm>
          <a:off x="2214546" y="3500438"/>
          <a:ext cx="5143536" cy="1571637"/>
        </p:xfrm>
        <a:graphic>
          <a:graphicData uri="http://schemas.openxmlformats.org/drawingml/2006/table">
            <a:tbl>
              <a:tblPr/>
              <a:tblGrid>
                <a:gridCol w="1916846"/>
                <a:gridCol w="1363090"/>
                <a:gridCol w="851931"/>
                <a:gridCol w="1011669"/>
              </a:tblGrid>
              <a:tr h="280649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No.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Guia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Peso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Volumético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Tipo Envío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Confirmar Envío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322747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 dirty="0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LTL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2747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 dirty="0">
                          <a:solidFill>
                            <a:srgbClr val="0F253F"/>
                          </a:solidFill>
                          <a:latin typeface="Calibri"/>
                        </a:rPr>
                        <a:t>45367323456213400000000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2747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2534678888888880000000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2747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26" name="AutoShape 2" descr="Compruebe icono de signo Stock de Foto gratis - Public Domain Pictur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028" name="AutoShape 4" descr="Compruebe icono de signo Stock de Foto gratis - Public Domain Pictur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grpSp>
        <p:nvGrpSpPr>
          <p:cNvPr id="4" name="18 Grupo"/>
          <p:cNvGrpSpPr/>
          <p:nvPr/>
        </p:nvGrpSpPr>
        <p:grpSpPr>
          <a:xfrm>
            <a:off x="6715140" y="3857628"/>
            <a:ext cx="285752" cy="214314"/>
            <a:chOff x="7500958" y="5429264"/>
            <a:chExt cx="285752" cy="214314"/>
          </a:xfrm>
        </p:grpSpPr>
        <p:sp>
          <p:nvSpPr>
            <p:cNvPr id="17" name="16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5" name="19 Grupo"/>
          <p:cNvGrpSpPr/>
          <p:nvPr/>
        </p:nvGrpSpPr>
        <p:grpSpPr>
          <a:xfrm>
            <a:off x="6715140" y="4143380"/>
            <a:ext cx="285752" cy="214314"/>
            <a:chOff x="7500958" y="5429264"/>
            <a:chExt cx="285752" cy="214314"/>
          </a:xfrm>
        </p:grpSpPr>
        <p:sp>
          <p:nvSpPr>
            <p:cNvPr id="21" name="20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2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6" name="22 Grupo"/>
          <p:cNvGrpSpPr/>
          <p:nvPr/>
        </p:nvGrpSpPr>
        <p:grpSpPr>
          <a:xfrm>
            <a:off x="6715140" y="4429132"/>
            <a:ext cx="285752" cy="214314"/>
            <a:chOff x="7500958" y="5429264"/>
            <a:chExt cx="285752" cy="214314"/>
          </a:xfrm>
        </p:grpSpPr>
        <p:sp>
          <p:nvSpPr>
            <p:cNvPr id="24" name="23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5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7" name="25 Grupo"/>
          <p:cNvGrpSpPr/>
          <p:nvPr/>
        </p:nvGrpSpPr>
        <p:grpSpPr>
          <a:xfrm>
            <a:off x="6715140" y="4714884"/>
            <a:ext cx="285752" cy="214314"/>
            <a:chOff x="7500958" y="5429264"/>
            <a:chExt cx="285752" cy="214314"/>
          </a:xfrm>
        </p:grpSpPr>
        <p:sp>
          <p:nvSpPr>
            <p:cNvPr id="27" name="26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8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9" name="28 CuadroTexto"/>
          <p:cNvSpPr txBox="1"/>
          <p:nvPr/>
        </p:nvSpPr>
        <p:spPr>
          <a:xfrm>
            <a:off x="6143636" y="5572140"/>
            <a:ext cx="114685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ES" b="1" dirty="0" smtClean="0"/>
              <a:t>Confirmar</a:t>
            </a:r>
            <a:endParaRPr lang="es-ES" b="1" dirty="0"/>
          </a:p>
        </p:txBody>
      </p:sp>
      <p:sp>
        <p:nvSpPr>
          <p:cNvPr id="30" name="29 CuadroTexto"/>
          <p:cNvSpPr txBox="1"/>
          <p:nvPr/>
        </p:nvSpPr>
        <p:spPr>
          <a:xfrm>
            <a:off x="1214414" y="6072206"/>
            <a:ext cx="7858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Deben aparecer todas las </a:t>
            </a:r>
            <a:r>
              <a:rPr lang="es-ES" sz="1200" dirty="0" err="1" smtClean="0"/>
              <a:t>guias</a:t>
            </a:r>
            <a:r>
              <a:rPr lang="es-ES" sz="1200" dirty="0" smtClean="0"/>
              <a:t> que el proveedor solicitó para el </a:t>
            </a:r>
            <a:r>
              <a:rPr lang="es-ES" sz="1200" dirty="0" err="1" smtClean="0"/>
              <a:t>reenvio</a:t>
            </a:r>
            <a:r>
              <a:rPr lang="es-ES" sz="1200" dirty="0" smtClean="0"/>
              <a:t>, las </a:t>
            </a:r>
            <a:r>
              <a:rPr lang="es-ES" sz="1200" dirty="0" err="1" smtClean="0"/>
              <a:t>guias</a:t>
            </a:r>
            <a:r>
              <a:rPr lang="es-ES" sz="1200" dirty="0" smtClean="0"/>
              <a:t> que no se detecte movimiento en una semana se deberán cancelar en automático.</a:t>
            </a:r>
          </a:p>
        </p:txBody>
      </p:sp>
      <p:sp>
        <p:nvSpPr>
          <p:cNvPr id="31" name="30 CuadroTexto"/>
          <p:cNvSpPr txBox="1"/>
          <p:nvPr/>
        </p:nvSpPr>
        <p:spPr>
          <a:xfrm>
            <a:off x="-45658" y="2161610"/>
            <a:ext cx="1428596" cy="2723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>
                <a:solidFill>
                  <a:schemeClr val="bg1"/>
                </a:solidFill>
              </a:rPr>
              <a:t>Alta de proveedor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9" name="8 CuadroTexto"/>
          <p:cNvSpPr txBox="1"/>
          <p:nvPr/>
        </p:nvSpPr>
        <p:spPr>
          <a:xfrm>
            <a:off x="3482346" y="59272"/>
            <a:ext cx="2282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PROVEEDOR</a:t>
            </a:r>
          </a:p>
        </p:txBody>
      </p:sp>
      <p:sp>
        <p:nvSpPr>
          <p:cNvPr id="11" name="10 CuadroTexto"/>
          <p:cNvSpPr txBox="1"/>
          <p:nvPr/>
        </p:nvSpPr>
        <p:spPr>
          <a:xfrm>
            <a:off x="2428857" y="1643050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Reenvío de mercancía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12" name="11 Tabla"/>
          <p:cNvGraphicFramePr>
            <a:graphicFrameLocks noGrp="1"/>
          </p:cNvGraphicFramePr>
          <p:nvPr/>
        </p:nvGraphicFramePr>
        <p:xfrm>
          <a:off x="1357287" y="2071678"/>
          <a:ext cx="7500993" cy="1573612"/>
        </p:xfrm>
        <a:graphic>
          <a:graphicData uri="http://schemas.openxmlformats.org/drawingml/2006/table">
            <a:tbl>
              <a:tblPr/>
              <a:tblGrid>
                <a:gridCol w="748820"/>
                <a:gridCol w="748820"/>
                <a:gridCol w="748820"/>
                <a:gridCol w="736019"/>
                <a:gridCol w="876822"/>
                <a:gridCol w="736019"/>
                <a:gridCol w="736019"/>
                <a:gridCol w="736019"/>
                <a:gridCol w="672016"/>
                <a:gridCol w="761619"/>
              </a:tblGrid>
              <a:tr h="774630"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Numero de </a:t>
                      </a:r>
                      <a:r>
                        <a:rPr lang="es-419" sz="9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Consignacion</a:t>
                      </a:r>
                      <a:r>
                        <a:rPr lang="es-419" sz="9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  <a:br>
                        <a:rPr lang="es-419" sz="9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</a:br>
                      <a:endParaRPr lang="es-419" sz="900" b="0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Fecha y hora de creación de la orden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Nombre del cliente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Estatus de la </a:t>
                      </a:r>
                      <a:r>
                        <a:rPr lang="es-ES" sz="900" b="0" i="0" u="none" strike="noStrike" dirty="0" err="1" smtClean="0">
                          <a:solidFill>
                            <a:srgbClr val="FFFFFF"/>
                          </a:solidFill>
                          <a:latin typeface="Calibri"/>
                        </a:rPr>
                        <a:t>consignacion</a:t>
                      </a:r>
                      <a:r>
                        <a:rPr lang="es-ES" sz="900" b="0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 a</a:t>
                      </a:r>
                      <a:r>
                        <a:rPr lang="es-ES" sz="900" b="0" i="0" u="none" strike="noStrike" baseline="0" dirty="0" smtClean="0">
                          <a:solidFill>
                            <a:srgbClr val="FFFFFF"/>
                          </a:solidFill>
                          <a:latin typeface="Calibri"/>
                        </a:rPr>
                        <a:t> reenviar</a:t>
                      </a:r>
                      <a:endParaRPr lang="es-ES" sz="900" b="0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Guia</a:t>
                      </a:r>
                      <a:r>
                        <a:rPr lang="es-ES" sz="9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 de </a:t>
                      </a:r>
                      <a:r>
                        <a:rPr lang="es-ES" sz="9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devolucion</a:t>
                      </a:r>
                      <a:endParaRPr lang="es-ES" sz="9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Estaus de la guia de devolución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Guia de Reenvio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Estatus de guia de reenvio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0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Numero de Orden de Compra nueva</a:t>
                      </a:r>
                      <a:br>
                        <a:rPr lang="es-419" sz="900" b="0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</a:br>
                      <a:r>
                        <a:rPr lang="es-419" sz="900" b="0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(cuando aplique)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0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Estatus de Orden de compra nueva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331370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7345672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28-ene-21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Susana Vargas Miranda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espera de recolección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12345654321234500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En tránsito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12345654321234500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Entregado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567899876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Pagada</a:t>
                      </a:r>
                    </a:p>
                  </a:txBody>
                  <a:tcPr marL="3901" marR="3901" marT="3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2761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7632453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Susana Vargas Miranda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espera de recolección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12345654321234500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tránsito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12345654321234500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En almacén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567899876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En programación de pago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" name="9 CuadroTexto"/>
          <p:cNvSpPr txBox="1"/>
          <p:nvPr/>
        </p:nvSpPr>
        <p:spPr>
          <a:xfrm>
            <a:off x="-45658" y="2161610"/>
            <a:ext cx="1428596" cy="2723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>
                <a:solidFill>
                  <a:schemeClr val="bg1"/>
                </a:solidFill>
              </a:rPr>
              <a:t>Alta de proveedor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9" name="8 CuadroTexto"/>
          <p:cNvSpPr txBox="1"/>
          <p:nvPr/>
        </p:nvSpPr>
        <p:spPr>
          <a:xfrm>
            <a:off x="3482346" y="59272"/>
            <a:ext cx="2282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PROVEEDOR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2357422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</a:rPr>
              <a:t>Reenvio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 de Mercancía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16 CuadroTexto"/>
          <p:cNvSpPr txBox="1"/>
          <p:nvPr/>
        </p:nvSpPr>
        <p:spPr>
          <a:xfrm>
            <a:off x="1357290" y="2714620"/>
            <a:ext cx="74295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u="sng" dirty="0" smtClean="0"/>
              <a:t>Aceptar </a:t>
            </a:r>
            <a:r>
              <a:rPr lang="es-ES" sz="1000" b="1" u="sng" dirty="0" err="1" smtClean="0"/>
              <a:t>reenvio</a:t>
            </a:r>
            <a:r>
              <a:rPr lang="es-ES" sz="1000" b="1" u="sng" dirty="0" smtClean="0"/>
              <a:t>     </a:t>
            </a:r>
            <a:r>
              <a:rPr lang="es-ES" sz="1000" b="1" dirty="0" smtClean="0"/>
              <a:t>Solicitud de </a:t>
            </a:r>
            <a:r>
              <a:rPr lang="es-ES" sz="1000" b="1" dirty="0" err="1" smtClean="0"/>
              <a:t>guia</a:t>
            </a:r>
            <a:r>
              <a:rPr lang="es-ES" sz="1000" b="1" dirty="0" smtClean="0"/>
              <a:t>     Cancelar </a:t>
            </a:r>
            <a:r>
              <a:rPr lang="es-ES" sz="1000" b="1" dirty="0" err="1" smtClean="0"/>
              <a:t>Reenvio</a:t>
            </a:r>
            <a:r>
              <a:rPr lang="es-ES" sz="1000" b="1" dirty="0" smtClean="0"/>
              <a:t>    Descarga de </a:t>
            </a:r>
            <a:r>
              <a:rPr lang="es-ES" sz="1000" b="1" dirty="0" err="1" smtClean="0"/>
              <a:t>guias</a:t>
            </a:r>
            <a:r>
              <a:rPr lang="es-ES" sz="1000" b="1" dirty="0" smtClean="0"/>
              <a:t>         Confirmar </a:t>
            </a:r>
            <a:r>
              <a:rPr lang="es-ES" sz="1000" b="1" dirty="0" err="1" smtClean="0"/>
              <a:t>reenvio</a:t>
            </a:r>
            <a:r>
              <a:rPr lang="es-ES" sz="1000" b="1" dirty="0" smtClean="0"/>
              <a:t> enviado</a:t>
            </a:r>
            <a:endParaRPr lang="es-ES" sz="1000" b="1" dirty="0"/>
          </a:p>
        </p:txBody>
      </p:sp>
      <p:pic>
        <p:nvPicPr>
          <p:cNvPr id="18" name="Picture 1"/>
          <p:cNvPicPr>
            <a:picLocks noChangeAspect="1" noChangeArrowheads="1"/>
          </p:cNvPicPr>
          <p:nvPr/>
        </p:nvPicPr>
        <p:blipFill>
          <a:blip r:embed="rId3"/>
          <a:srcRect l="17569" t="21484" r="37408" b="73633"/>
          <a:stretch>
            <a:fillRect/>
          </a:stretch>
        </p:blipFill>
        <p:spPr bwMode="auto">
          <a:xfrm>
            <a:off x="1428728" y="2214554"/>
            <a:ext cx="5857916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20 CuadroTexto"/>
          <p:cNvSpPr txBox="1"/>
          <p:nvPr/>
        </p:nvSpPr>
        <p:spPr>
          <a:xfrm>
            <a:off x="1357290" y="5795207"/>
            <a:ext cx="7858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Deberá mostrar </a:t>
            </a:r>
            <a:r>
              <a:rPr lang="es-ES" sz="1200" dirty="0" err="1" smtClean="0"/>
              <a:t>unicamente</a:t>
            </a:r>
            <a:r>
              <a:rPr lang="es-ES" sz="1200" dirty="0" smtClean="0"/>
              <a:t> los artículos del </a:t>
            </a:r>
            <a:r>
              <a:rPr lang="es-ES" sz="1200" dirty="0" err="1" smtClean="0"/>
              <a:t>reenvio</a:t>
            </a:r>
            <a:r>
              <a:rPr lang="es-ES" sz="1200" dirty="0" smtClean="0"/>
              <a:t>, cuando el motivo del RMA  sea daño de origen no se generará </a:t>
            </a:r>
          </a:p>
          <a:p>
            <a:r>
              <a:rPr lang="es-ES" sz="1200" dirty="0" smtClean="0"/>
              <a:t>Orden de compra a proveedor y se </a:t>
            </a:r>
            <a:r>
              <a:rPr lang="es-ES" sz="1200" dirty="0" err="1" smtClean="0"/>
              <a:t>aplcará</a:t>
            </a:r>
            <a:r>
              <a:rPr lang="es-ES" sz="1200" dirty="0" smtClean="0"/>
              <a:t> una nota de crédito por el articulo e importe reclamado</a:t>
            </a:r>
          </a:p>
        </p:txBody>
      </p:sp>
      <p:graphicFrame>
        <p:nvGraphicFramePr>
          <p:cNvPr id="22" name="21 Tabla"/>
          <p:cNvGraphicFramePr>
            <a:graphicFrameLocks noGrp="1"/>
          </p:cNvGraphicFramePr>
          <p:nvPr/>
        </p:nvGraphicFramePr>
        <p:xfrm>
          <a:off x="1500166" y="3214686"/>
          <a:ext cx="6096000" cy="2428891"/>
        </p:xfrm>
        <a:graphic>
          <a:graphicData uri="http://schemas.openxmlformats.org/drawingml/2006/table">
            <a:tbl>
              <a:tblPr/>
              <a:tblGrid>
                <a:gridCol w="624164"/>
                <a:gridCol w="894635"/>
                <a:gridCol w="894635"/>
                <a:gridCol w="967454"/>
                <a:gridCol w="624164"/>
                <a:gridCol w="1331549"/>
                <a:gridCol w="759399"/>
              </a:tblGrid>
              <a:tr h="63362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RMA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Motivo RMA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Descipción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Pizas solicitadas para reenvio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Tipo de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envio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Aceptar reenvio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448817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Daño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8817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Robo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8817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Robo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1112346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Abanico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8817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</a:rPr>
                        <a:t>Extravio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1112875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Refrigerador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LTL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pSp>
        <p:nvGrpSpPr>
          <p:cNvPr id="23" name="22 Grupo"/>
          <p:cNvGrpSpPr/>
          <p:nvPr/>
        </p:nvGrpSpPr>
        <p:grpSpPr>
          <a:xfrm>
            <a:off x="7072330" y="3929066"/>
            <a:ext cx="285752" cy="214314"/>
            <a:chOff x="7500958" y="5429264"/>
            <a:chExt cx="285752" cy="214314"/>
          </a:xfrm>
        </p:grpSpPr>
        <p:sp>
          <p:nvSpPr>
            <p:cNvPr id="24" name="23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5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26" name="25 Grupo"/>
          <p:cNvGrpSpPr/>
          <p:nvPr/>
        </p:nvGrpSpPr>
        <p:grpSpPr>
          <a:xfrm>
            <a:off x="7072330" y="4429132"/>
            <a:ext cx="285752" cy="214314"/>
            <a:chOff x="7500958" y="5429264"/>
            <a:chExt cx="285752" cy="214314"/>
          </a:xfrm>
        </p:grpSpPr>
        <p:sp>
          <p:nvSpPr>
            <p:cNvPr id="27" name="26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8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29" name="28 Grupo"/>
          <p:cNvGrpSpPr/>
          <p:nvPr/>
        </p:nvGrpSpPr>
        <p:grpSpPr>
          <a:xfrm>
            <a:off x="7072330" y="4929198"/>
            <a:ext cx="285752" cy="214314"/>
            <a:chOff x="7500958" y="5429264"/>
            <a:chExt cx="285752" cy="214314"/>
          </a:xfrm>
        </p:grpSpPr>
        <p:sp>
          <p:nvSpPr>
            <p:cNvPr id="30" name="29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31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32" name="31 Grupo"/>
          <p:cNvGrpSpPr/>
          <p:nvPr/>
        </p:nvGrpSpPr>
        <p:grpSpPr>
          <a:xfrm>
            <a:off x="7072330" y="5357826"/>
            <a:ext cx="285752" cy="214314"/>
            <a:chOff x="7500958" y="5429264"/>
            <a:chExt cx="285752" cy="214314"/>
          </a:xfrm>
        </p:grpSpPr>
        <p:sp>
          <p:nvSpPr>
            <p:cNvPr id="33" name="32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34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35" name="34 CuadroTexto"/>
          <p:cNvSpPr txBox="1"/>
          <p:nvPr/>
        </p:nvSpPr>
        <p:spPr>
          <a:xfrm>
            <a:off x="6357950" y="6345816"/>
            <a:ext cx="179472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ES" b="1" dirty="0" smtClean="0"/>
              <a:t>Aceptar </a:t>
            </a:r>
            <a:r>
              <a:rPr lang="es-ES" b="1" dirty="0" err="1" smtClean="0"/>
              <a:t>reenvios</a:t>
            </a:r>
            <a:endParaRPr lang="es-ES" b="1" dirty="0"/>
          </a:p>
        </p:txBody>
      </p:sp>
      <p:sp>
        <p:nvSpPr>
          <p:cNvPr id="36" name="35 CuadroTexto"/>
          <p:cNvSpPr txBox="1"/>
          <p:nvPr/>
        </p:nvSpPr>
        <p:spPr>
          <a:xfrm>
            <a:off x="-45658" y="2161610"/>
            <a:ext cx="1428596" cy="2723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>
                <a:solidFill>
                  <a:schemeClr val="bg1"/>
                </a:solidFill>
              </a:rPr>
              <a:t>Alta de proveedor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9" name="8 CuadroTexto"/>
          <p:cNvSpPr txBox="1"/>
          <p:nvPr/>
        </p:nvSpPr>
        <p:spPr>
          <a:xfrm>
            <a:off x="3482346" y="59272"/>
            <a:ext cx="2282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PROVEEDOR</a:t>
            </a:r>
          </a:p>
        </p:txBody>
      </p:sp>
      <p:graphicFrame>
        <p:nvGraphicFramePr>
          <p:cNvPr id="19" name="18 Tabla"/>
          <p:cNvGraphicFramePr>
            <a:graphicFrameLocks noGrp="1"/>
          </p:cNvGraphicFramePr>
          <p:nvPr/>
        </p:nvGraphicFramePr>
        <p:xfrm>
          <a:off x="1643042" y="2080431"/>
          <a:ext cx="5715040" cy="2003162"/>
        </p:xfrm>
        <a:graphic>
          <a:graphicData uri="http://schemas.openxmlformats.org/drawingml/2006/table">
            <a:tbl>
              <a:tblPr/>
              <a:tblGrid>
                <a:gridCol w="946590"/>
                <a:gridCol w="1514545"/>
                <a:gridCol w="946590"/>
                <a:gridCol w="1124077"/>
                <a:gridCol w="1183238"/>
              </a:tblGrid>
              <a:tr h="253793"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Guias solicitadas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793"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80404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Descipción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Peso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Volumétivo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Tipo Envío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Total de guias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25379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1.2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err="1" smtClean="0">
                          <a:solidFill>
                            <a:srgbClr val="000000"/>
                          </a:solidFill>
                          <a:latin typeface="+mn-lt"/>
                        </a:rPr>
                        <a:t>Paqueteria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379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379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1112346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Abanico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379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1112875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Refrigerador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71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LTL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0" name="19 CuadroTexto"/>
          <p:cNvSpPr txBox="1"/>
          <p:nvPr/>
        </p:nvSpPr>
        <p:spPr>
          <a:xfrm>
            <a:off x="2214546" y="1428736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Solicitud de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</a:rPr>
              <a:t>guias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 de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</a:rPr>
              <a:t>reenvio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20 CuadroTexto"/>
          <p:cNvSpPr txBox="1"/>
          <p:nvPr/>
        </p:nvSpPr>
        <p:spPr>
          <a:xfrm>
            <a:off x="1500166" y="4223571"/>
            <a:ext cx="7858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Deberá mostrar </a:t>
            </a:r>
            <a:r>
              <a:rPr lang="es-ES" sz="1200" dirty="0" err="1" smtClean="0"/>
              <a:t>unicamente</a:t>
            </a:r>
            <a:r>
              <a:rPr lang="es-ES" sz="1200" dirty="0" smtClean="0"/>
              <a:t> los artículos  que se hayan aceptado para el </a:t>
            </a:r>
            <a:r>
              <a:rPr lang="es-ES" sz="1200" dirty="0" err="1" smtClean="0"/>
              <a:t>reenvio</a:t>
            </a:r>
            <a:endParaRPr lang="es-ES" sz="1200" dirty="0" smtClean="0"/>
          </a:p>
        </p:txBody>
      </p:sp>
      <p:sp>
        <p:nvSpPr>
          <p:cNvPr id="10" name="9 CuadroTexto"/>
          <p:cNvSpPr txBox="1"/>
          <p:nvPr/>
        </p:nvSpPr>
        <p:spPr>
          <a:xfrm>
            <a:off x="6496982" y="5500702"/>
            <a:ext cx="1505284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ES" b="1" dirty="0" smtClean="0"/>
              <a:t>Generar </a:t>
            </a:r>
            <a:r>
              <a:rPr lang="es-ES" b="1" dirty="0" err="1" smtClean="0"/>
              <a:t>guias</a:t>
            </a:r>
            <a:endParaRPr lang="es-ES" b="1" dirty="0"/>
          </a:p>
        </p:txBody>
      </p:sp>
      <p:sp>
        <p:nvSpPr>
          <p:cNvPr id="11" name="10 CuadroTexto"/>
          <p:cNvSpPr txBox="1"/>
          <p:nvPr/>
        </p:nvSpPr>
        <p:spPr>
          <a:xfrm>
            <a:off x="-45658" y="2161610"/>
            <a:ext cx="1428596" cy="2723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>
                <a:solidFill>
                  <a:schemeClr val="bg1"/>
                </a:solidFill>
              </a:rPr>
              <a:t>Alta de proveedor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9" name="8 CuadroTexto"/>
          <p:cNvSpPr txBox="1"/>
          <p:nvPr/>
        </p:nvSpPr>
        <p:spPr>
          <a:xfrm>
            <a:off x="3482346" y="59272"/>
            <a:ext cx="2282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PROVEEDOR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2357422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</a:rPr>
              <a:t>Reenvio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 de Mercancía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1357290" y="2500306"/>
            <a:ext cx="74295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 smtClean="0"/>
              <a:t>Aceptar consignación     Solicitud de </a:t>
            </a:r>
            <a:r>
              <a:rPr lang="es-ES" sz="1000" b="1" dirty="0" err="1" smtClean="0"/>
              <a:t>guia</a:t>
            </a:r>
            <a:r>
              <a:rPr lang="es-ES" sz="1000" b="1" dirty="0" smtClean="0"/>
              <a:t>     Cancelar Consignación     Descarga de </a:t>
            </a:r>
            <a:r>
              <a:rPr lang="es-ES" sz="1000" b="1" dirty="0" err="1" smtClean="0"/>
              <a:t>guias</a:t>
            </a:r>
            <a:r>
              <a:rPr lang="es-ES" sz="1000" b="1" dirty="0" smtClean="0"/>
              <a:t>     </a:t>
            </a:r>
            <a:r>
              <a:rPr lang="es-ES" sz="1000" b="1" u="sng" dirty="0" smtClean="0"/>
              <a:t>Confirmar envío de consignación</a:t>
            </a:r>
            <a:endParaRPr lang="es-ES" sz="1000" b="1" u="sng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/>
          <a:srcRect l="17569" t="21484" r="37408" b="73633"/>
          <a:stretch>
            <a:fillRect/>
          </a:stretch>
        </p:blipFill>
        <p:spPr bwMode="auto">
          <a:xfrm>
            <a:off x="1428728" y="2000240"/>
            <a:ext cx="5857916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12 CuadroTexto"/>
          <p:cNvSpPr txBox="1"/>
          <p:nvPr/>
        </p:nvSpPr>
        <p:spPr>
          <a:xfrm>
            <a:off x="2214546" y="292893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Confirmar envío de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</a:rPr>
              <a:t>Reenvio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 de mercancía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16" name="15 Tabla"/>
          <p:cNvGraphicFramePr>
            <a:graphicFrameLocks noGrp="1"/>
          </p:cNvGraphicFramePr>
          <p:nvPr/>
        </p:nvGraphicFramePr>
        <p:xfrm>
          <a:off x="2214546" y="3500438"/>
          <a:ext cx="5143536" cy="1571637"/>
        </p:xfrm>
        <a:graphic>
          <a:graphicData uri="http://schemas.openxmlformats.org/drawingml/2006/table">
            <a:tbl>
              <a:tblPr/>
              <a:tblGrid>
                <a:gridCol w="1916846"/>
                <a:gridCol w="1363090"/>
                <a:gridCol w="851931"/>
                <a:gridCol w="1011669"/>
              </a:tblGrid>
              <a:tr h="280649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No.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Guia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Peso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Volumético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Tipo Envío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Confirmar Envío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322747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 dirty="0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LTL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2747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 dirty="0">
                          <a:solidFill>
                            <a:srgbClr val="0F253F"/>
                          </a:solidFill>
                          <a:latin typeface="Calibri"/>
                        </a:rPr>
                        <a:t>45367323456213400000000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2747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2534678888888880000000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2747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26" name="AutoShape 2" descr="Compruebe icono de signo Stock de Foto gratis - Public Domain Pictur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028" name="AutoShape 4" descr="Compruebe icono de signo Stock de Foto gratis - Public Domain Pictur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grpSp>
        <p:nvGrpSpPr>
          <p:cNvPr id="4" name="18 Grupo"/>
          <p:cNvGrpSpPr/>
          <p:nvPr/>
        </p:nvGrpSpPr>
        <p:grpSpPr>
          <a:xfrm>
            <a:off x="6715140" y="3857628"/>
            <a:ext cx="285752" cy="214314"/>
            <a:chOff x="7500958" y="5429264"/>
            <a:chExt cx="285752" cy="214314"/>
          </a:xfrm>
        </p:grpSpPr>
        <p:sp>
          <p:nvSpPr>
            <p:cNvPr id="17" name="16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5" name="19 Grupo"/>
          <p:cNvGrpSpPr/>
          <p:nvPr/>
        </p:nvGrpSpPr>
        <p:grpSpPr>
          <a:xfrm>
            <a:off x="6715140" y="4143380"/>
            <a:ext cx="285752" cy="214314"/>
            <a:chOff x="7500958" y="5429264"/>
            <a:chExt cx="285752" cy="214314"/>
          </a:xfrm>
        </p:grpSpPr>
        <p:sp>
          <p:nvSpPr>
            <p:cNvPr id="21" name="20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2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6" name="22 Grupo"/>
          <p:cNvGrpSpPr/>
          <p:nvPr/>
        </p:nvGrpSpPr>
        <p:grpSpPr>
          <a:xfrm>
            <a:off x="6715140" y="4429132"/>
            <a:ext cx="285752" cy="214314"/>
            <a:chOff x="7500958" y="5429264"/>
            <a:chExt cx="285752" cy="214314"/>
          </a:xfrm>
        </p:grpSpPr>
        <p:sp>
          <p:nvSpPr>
            <p:cNvPr id="24" name="23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5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7" name="25 Grupo"/>
          <p:cNvGrpSpPr/>
          <p:nvPr/>
        </p:nvGrpSpPr>
        <p:grpSpPr>
          <a:xfrm>
            <a:off x="6715140" y="4714884"/>
            <a:ext cx="285752" cy="214314"/>
            <a:chOff x="7500958" y="5429264"/>
            <a:chExt cx="285752" cy="214314"/>
          </a:xfrm>
        </p:grpSpPr>
        <p:sp>
          <p:nvSpPr>
            <p:cNvPr id="27" name="26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8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9" name="28 CuadroTexto"/>
          <p:cNvSpPr txBox="1"/>
          <p:nvPr/>
        </p:nvSpPr>
        <p:spPr>
          <a:xfrm>
            <a:off x="6143636" y="5572140"/>
            <a:ext cx="114685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ES" b="1" dirty="0" smtClean="0"/>
              <a:t>Confirmar</a:t>
            </a:r>
            <a:endParaRPr lang="es-ES" b="1" dirty="0"/>
          </a:p>
        </p:txBody>
      </p:sp>
      <p:sp>
        <p:nvSpPr>
          <p:cNvPr id="30" name="29 CuadroTexto"/>
          <p:cNvSpPr txBox="1"/>
          <p:nvPr/>
        </p:nvSpPr>
        <p:spPr>
          <a:xfrm>
            <a:off x="1214414" y="6072206"/>
            <a:ext cx="7858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Deben aparecer todas las </a:t>
            </a:r>
            <a:r>
              <a:rPr lang="es-ES" sz="1200" dirty="0" err="1" smtClean="0"/>
              <a:t>guias</a:t>
            </a:r>
            <a:r>
              <a:rPr lang="es-ES" sz="1200" dirty="0" smtClean="0"/>
              <a:t> que el proveedor solicitó para el </a:t>
            </a:r>
            <a:r>
              <a:rPr lang="es-ES" sz="1200" dirty="0" err="1" smtClean="0"/>
              <a:t>reenvio</a:t>
            </a:r>
            <a:r>
              <a:rPr lang="es-ES" sz="1200" dirty="0" smtClean="0"/>
              <a:t>, las </a:t>
            </a:r>
            <a:r>
              <a:rPr lang="es-ES" sz="1200" dirty="0" err="1" smtClean="0"/>
              <a:t>guias</a:t>
            </a:r>
            <a:r>
              <a:rPr lang="es-ES" sz="1200" dirty="0" smtClean="0"/>
              <a:t> que no se detecte movimiento en una semana se deberán cancelar en automático.</a:t>
            </a:r>
          </a:p>
        </p:txBody>
      </p:sp>
      <p:sp>
        <p:nvSpPr>
          <p:cNvPr id="31" name="30 CuadroTexto"/>
          <p:cNvSpPr txBox="1"/>
          <p:nvPr/>
        </p:nvSpPr>
        <p:spPr>
          <a:xfrm>
            <a:off x="-45658" y="2161610"/>
            <a:ext cx="1428596" cy="2723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>
                <a:solidFill>
                  <a:schemeClr val="bg1"/>
                </a:solidFill>
              </a:rPr>
              <a:t>Alta de proveedor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" name="5 CuadroTexto"/>
          <p:cNvSpPr txBox="1"/>
          <p:nvPr/>
        </p:nvSpPr>
        <p:spPr>
          <a:xfrm>
            <a:off x="2285984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Estatus de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</a:rPr>
              <a:t>guias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 de envíos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3482346" y="59272"/>
            <a:ext cx="2282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PROVEEDOR</a:t>
            </a:r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3"/>
          <a:srcRect l="17569" t="14392" r="57724" b="80571"/>
          <a:stretch>
            <a:fillRect/>
          </a:stretch>
        </p:blipFill>
        <p:spPr bwMode="auto">
          <a:xfrm>
            <a:off x="1571604" y="2143116"/>
            <a:ext cx="373956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13 CuadroTexto"/>
          <p:cNvSpPr txBox="1"/>
          <p:nvPr/>
        </p:nvSpPr>
        <p:spPr>
          <a:xfrm>
            <a:off x="6099824" y="5274246"/>
            <a:ext cx="2687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 smtClean="0"/>
              <a:t>Click</a:t>
            </a:r>
            <a:r>
              <a:rPr lang="es-ES" dirty="0" smtClean="0"/>
              <a:t> en </a:t>
            </a:r>
            <a:r>
              <a:rPr lang="es-ES" dirty="0" err="1" smtClean="0"/>
              <a:t>guia</a:t>
            </a:r>
            <a:r>
              <a:rPr lang="es-ES" dirty="0" smtClean="0"/>
              <a:t> para imprimir</a:t>
            </a:r>
            <a:endParaRPr lang="es-ES" dirty="0"/>
          </a:p>
        </p:txBody>
      </p:sp>
      <p:sp>
        <p:nvSpPr>
          <p:cNvPr id="13" name="12 CuadroTexto"/>
          <p:cNvSpPr txBox="1"/>
          <p:nvPr/>
        </p:nvSpPr>
        <p:spPr>
          <a:xfrm>
            <a:off x="-45658" y="2161610"/>
            <a:ext cx="1428596" cy="2723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>
                <a:solidFill>
                  <a:schemeClr val="bg1"/>
                </a:solidFill>
              </a:rPr>
              <a:t>Alta de proveedor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graphicFrame>
        <p:nvGraphicFramePr>
          <p:cNvPr id="15" name="14 Tabla"/>
          <p:cNvGraphicFramePr>
            <a:graphicFrameLocks noGrp="1"/>
          </p:cNvGraphicFramePr>
          <p:nvPr/>
        </p:nvGraphicFramePr>
        <p:xfrm>
          <a:off x="1524000" y="2911190"/>
          <a:ext cx="7334277" cy="2018008"/>
        </p:xfrm>
        <a:graphic>
          <a:graphicData uri="http://schemas.openxmlformats.org/drawingml/2006/table">
            <a:tbl>
              <a:tblPr/>
              <a:tblGrid>
                <a:gridCol w="683820"/>
                <a:gridCol w="929277"/>
                <a:gridCol w="1064751"/>
                <a:gridCol w="572271"/>
                <a:gridCol w="591128"/>
                <a:gridCol w="1235996"/>
                <a:gridCol w="752346"/>
                <a:gridCol w="752344"/>
                <a:gridCol w="752344"/>
              </a:tblGrid>
              <a:tr h="47010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Numero de </a:t>
                      </a:r>
                      <a:r>
                        <a:rPr lang="es-ES" sz="1000" b="1" i="0" u="none" strike="noStrike" dirty="0" err="1" smtClean="0">
                          <a:solidFill>
                            <a:srgbClr val="FFFFFF"/>
                          </a:solidFill>
                          <a:latin typeface="Calibri"/>
                        </a:rPr>
                        <a:t>Consignacion</a:t>
                      </a:r>
                      <a:r>
                        <a:rPr lang="es-ES" sz="10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Tipo almacén</a:t>
                      </a:r>
                      <a:endParaRPr lang="es-419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Fecha y hora de creación de la orden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Tipo de Guia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Paqueteria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Número de la Guia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Estatus de la guia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Fecha de entrega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Nombre</a:t>
                      </a:r>
                      <a:r>
                        <a:rPr lang="es-ES" sz="1000" b="1" i="0" u="none" strike="noStrike" baseline="0" dirty="0" smtClean="0">
                          <a:solidFill>
                            <a:srgbClr val="FFFFFF"/>
                          </a:solidFill>
                          <a:latin typeface="Calibri"/>
                        </a:rPr>
                        <a:t> de quien </a:t>
                      </a:r>
                      <a:r>
                        <a:rPr lang="es-ES" sz="1000" b="1" i="0" u="none" strike="noStrike" baseline="0" dirty="0" err="1" smtClean="0">
                          <a:solidFill>
                            <a:srgbClr val="FFFFFF"/>
                          </a:solidFill>
                          <a:latin typeface="Calibri"/>
                        </a:rPr>
                        <a:t>recibio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DSV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Envio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 dirty="0" smtClean="0">
                          <a:solidFill>
                            <a:srgbClr val="0F253F"/>
                          </a:solidFill>
                          <a:latin typeface="Calibri"/>
                        </a:rPr>
                        <a:t>456273567230000000</a:t>
                      </a:r>
                      <a:endParaRPr lang="es-ES" sz="1000" b="0" i="0" u="sng" strike="noStrike" dirty="0">
                        <a:solidFill>
                          <a:srgbClr val="0F253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tránsito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DST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Envio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 dirty="0" smtClean="0">
                          <a:solidFill>
                            <a:srgbClr val="0F253F"/>
                          </a:solidFill>
                          <a:latin typeface="Calibri"/>
                        </a:rPr>
                        <a:t>432346213400000000</a:t>
                      </a:r>
                      <a:endParaRPr lang="es-ES" sz="1000" b="0" i="0" u="sng" strike="noStrike" dirty="0">
                        <a:solidFill>
                          <a:srgbClr val="0F253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Entregada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WMS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smtClean="0">
                          <a:solidFill>
                            <a:srgbClr val="000000"/>
                          </a:solidFill>
                          <a:latin typeface="Calibri"/>
                        </a:rPr>
                        <a:t>Envio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DHL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 dirty="0" smtClean="0">
                          <a:solidFill>
                            <a:srgbClr val="0F253F"/>
                          </a:solidFill>
                          <a:latin typeface="Calibri"/>
                        </a:rPr>
                        <a:t>278888888880000000</a:t>
                      </a:r>
                      <a:endParaRPr lang="es-ES" sz="1000" b="0" i="0" u="sng" strike="noStrike" dirty="0">
                        <a:solidFill>
                          <a:srgbClr val="0F253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Almacén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76843423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28-feb-21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smtClean="0">
                          <a:solidFill>
                            <a:srgbClr val="000000"/>
                          </a:solidFill>
                          <a:latin typeface="Calibri"/>
                        </a:rPr>
                        <a:t>Envio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ENVIO CLICK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 dirty="0" smtClean="0">
                          <a:solidFill>
                            <a:srgbClr val="0F253F"/>
                          </a:solidFill>
                          <a:latin typeface="Calibri"/>
                        </a:rPr>
                        <a:t>434567898230000000</a:t>
                      </a:r>
                      <a:endParaRPr lang="es-ES" sz="1000" b="0" i="0" u="sng" strike="noStrike" dirty="0">
                        <a:solidFill>
                          <a:srgbClr val="0F253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Cancelada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78965433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27-feb-21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</a:rPr>
                        <a:t>Envio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 dirty="0" smtClean="0">
                          <a:solidFill>
                            <a:srgbClr val="0F253F"/>
                          </a:solidFill>
                          <a:latin typeface="Calibri"/>
                        </a:rPr>
                        <a:t>434567898230000000</a:t>
                      </a:r>
                      <a:endParaRPr lang="es-ES" sz="1000" b="0" i="0" u="sng" strike="noStrike" dirty="0">
                        <a:solidFill>
                          <a:srgbClr val="0F253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Entregada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" name="5 CuadroTexto"/>
          <p:cNvSpPr txBox="1"/>
          <p:nvPr/>
        </p:nvSpPr>
        <p:spPr>
          <a:xfrm>
            <a:off x="2285984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Estatus de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</a:rPr>
              <a:t>guias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 de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</a:rPr>
              <a:t>Reenvio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3482346" y="59272"/>
            <a:ext cx="2282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PROVEEDOR</a:t>
            </a:r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3"/>
          <a:srcRect l="17569" t="14392" r="57724" b="80571"/>
          <a:stretch>
            <a:fillRect/>
          </a:stretch>
        </p:blipFill>
        <p:spPr bwMode="auto">
          <a:xfrm>
            <a:off x="1571604" y="2143116"/>
            <a:ext cx="373956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13 CuadroTexto"/>
          <p:cNvSpPr txBox="1"/>
          <p:nvPr/>
        </p:nvSpPr>
        <p:spPr>
          <a:xfrm>
            <a:off x="6099824" y="5274246"/>
            <a:ext cx="2687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 smtClean="0"/>
              <a:t>Click</a:t>
            </a:r>
            <a:r>
              <a:rPr lang="es-ES" dirty="0" smtClean="0"/>
              <a:t> en </a:t>
            </a:r>
            <a:r>
              <a:rPr lang="es-ES" dirty="0" err="1" smtClean="0"/>
              <a:t>guia</a:t>
            </a:r>
            <a:r>
              <a:rPr lang="es-ES" dirty="0" smtClean="0"/>
              <a:t> para imprimir</a:t>
            </a:r>
            <a:endParaRPr lang="es-ES" dirty="0"/>
          </a:p>
        </p:txBody>
      </p:sp>
      <p:sp>
        <p:nvSpPr>
          <p:cNvPr id="13" name="12 CuadroTexto"/>
          <p:cNvSpPr txBox="1"/>
          <p:nvPr/>
        </p:nvSpPr>
        <p:spPr>
          <a:xfrm>
            <a:off x="-45658" y="2161610"/>
            <a:ext cx="1428596" cy="2723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>
                <a:solidFill>
                  <a:schemeClr val="bg1"/>
                </a:solidFill>
              </a:rPr>
              <a:t>Alta de proveedor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graphicFrame>
        <p:nvGraphicFramePr>
          <p:cNvPr id="11" name="10 Tabla"/>
          <p:cNvGraphicFramePr>
            <a:graphicFrameLocks noGrp="1"/>
          </p:cNvGraphicFramePr>
          <p:nvPr/>
        </p:nvGraphicFramePr>
        <p:xfrm>
          <a:off x="1524000" y="2911192"/>
          <a:ext cx="7334278" cy="2157505"/>
        </p:xfrm>
        <a:graphic>
          <a:graphicData uri="http://schemas.openxmlformats.org/drawingml/2006/table">
            <a:tbl>
              <a:tblPr/>
              <a:tblGrid>
                <a:gridCol w="548346"/>
                <a:gridCol w="584244"/>
                <a:gridCol w="1089869"/>
                <a:gridCol w="705209"/>
                <a:gridCol w="576990"/>
                <a:gridCol w="1572586"/>
                <a:gridCol w="752346"/>
                <a:gridCol w="752344"/>
                <a:gridCol w="752344"/>
              </a:tblGrid>
              <a:tr h="47010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Numero de </a:t>
                      </a:r>
                      <a:r>
                        <a:rPr lang="es-ES" sz="10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Consignación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Tipo Almacén</a:t>
                      </a:r>
                      <a:endParaRPr lang="es-419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Fecha y hora de creación de la orden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Tipo de Guia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Paqueteria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Número de la Guia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Estatus de la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guia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Fecha de entrega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Nombre de Quien </a:t>
                      </a:r>
                      <a:r>
                        <a:rPr lang="es-ES" sz="1000" b="1" i="0" u="none" strike="noStrike" dirty="0" err="1" smtClean="0">
                          <a:solidFill>
                            <a:srgbClr val="FFFFFF"/>
                          </a:solidFill>
                          <a:latin typeface="Calibri"/>
                        </a:rPr>
                        <a:t>recibio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DSV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smtClean="0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tránsito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DST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smtClean="0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45367323456213400000000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Entregada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DST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smtClean="0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DHL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2534678888888880000000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Almacén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76843423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28-feb-21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smtClean="0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ENVIO CLICK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Cancelada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78965433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27-feb-21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Entregada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" name="5 CuadroTexto"/>
          <p:cNvSpPr txBox="1"/>
          <p:nvPr/>
        </p:nvSpPr>
        <p:spPr>
          <a:xfrm>
            <a:off x="2357422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Proceso de Devoluciones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3482346" y="59272"/>
            <a:ext cx="2282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PROVEEDOR</a:t>
            </a:r>
          </a:p>
        </p:txBody>
      </p:sp>
      <p:graphicFrame>
        <p:nvGraphicFramePr>
          <p:cNvPr id="14" name="13 Tabla"/>
          <p:cNvGraphicFramePr>
            <a:graphicFrameLocks noGrp="1"/>
          </p:cNvGraphicFramePr>
          <p:nvPr/>
        </p:nvGraphicFramePr>
        <p:xfrm>
          <a:off x="1428728" y="1928802"/>
          <a:ext cx="7262840" cy="1888889"/>
        </p:xfrm>
        <a:graphic>
          <a:graphicData uri="http://schemas.openxmlformats.org/drawingml/2006/table">
            <a:tbl>
              <a:tblPr/>
              <a:tblGrid>
                <a:gridCol w="610109"/>
                <a:gridCol w="874489"/>
                <a:gridCol w="587104"/>
                <a:gridCol w="857256"/>
                <a:gridCol w="721527"/>
                <a:gridCol w="1395625"/>
                <a:gridCol w="742299"/>
                <a:gridCol w="610109"/>
                <a:gridCol w="864322"/>
              </a:tblGrid>
              <a:tr h="558429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Numero de orden 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Fecha y hora de creación de la orden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Solicitud</a:t>
                      </a:r>
                      <a:r>
                        <a:rPr lang="es-ES" sz="900" b="1" i="0" u="none" strike="noStrike" baseline="0" dirty="0" smtClean="0">
                          <a:solidFill>
                            <a:srgbClr val="FFFFFF"/>
                          </a:solidFill>
                          <a:latin typeface="Calibri"/>
                        </a:rPr>
                        <a:t> RMA</a:t>
                      </a:r>
                      <a:endParaRPr lang="es-ES" sz="9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Motivo</a:t>
                      </a:r>
                      <a:r>
                        <a:rPr lang="es-ES" sz="900" b="1" i="0" u="none" strike="noStrike" baseline="0" dirty="0" smtClean="0">
                          <a:solidFill>
                            <a:srgbClr val="FFFFFF"/>
                          </a:solidFill>
                          <a:latin typeface="Calibri"/>
                        </a:rPr>
                        <a:t> RMA</a:t>
                      </a:r>
                      <a:endParaRPr lang="es-ES" sz="9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Paqueteria</a:t>
                      </a:r>
                      <a:endParaRPr lang="es-ES" sz="9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Número de la Guia de devolución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Estatus de la guia de devolución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Fecha de entrega al almacén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Recibido por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255946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Daño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tránsito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5946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Robo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45367323456213400000000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Entregada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13-mar-21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SOE: Alberto Juarez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5946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</a:rPr>
                        <a:t>Extravio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DHL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2534678888888880000000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Almacén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5946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76843423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28-feb-21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Daño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ENVIO CLICK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Cancelada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5946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78965433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27-feb-21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Faltante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Entregada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10-mar-21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SOE: Alberto 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Juarez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" name="14 CuadroTexto"/>
          <p:cNvSpPr txBox="1"/>
          <p:nvPr/>
        </p:nvSpPr>
        <p:spPr>
          <a:xfrm>
            <a:off x="2357422" y="3857628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Recibo de Devoluciones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17" name="16 Tabla"/>
          <p:cNvGraphicFramePr>
            <a:graphicFrameLocks noGrp="1"/>
          </p:cNvGraphicFramePr>
          <p:nvPr/>
        </p:nvGraphicFramePr>
        <p:xfrm>
          <a:off x="1357290" y="4214818"/>
          <a:ext cx="7572429" cy="2000262"/>
        </p:xfrm>
        <a:graphic>
          <a:graphicData uri="http://schemas.openxmlformats.org/drawingml/2006/table">
            <a:tbl>
              <a:tblPr/>
              <a:tblGrid>
                <a:gridCol w="737574"/>
                <a:gridCol w="1057190"/>
                <a:gridCol w="919880"/>
                <a:gridCol w="785818"/>
                <a:gridCol w="1846952"/>
                <a:gridCol w="749867"/>
                <a:gridCol w="1475148"/>
              </a:tblGrid>
              <a:tr h="320042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RMA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Descipción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Piezas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Número de la Guia de devolución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Condiciones de paquete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Recibo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42005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Dañado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005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buen estado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005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1112346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Abanico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2534678888888880000000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Dañado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005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1112875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Refrigerador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Dañado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pSp>
        <p:nvGrpSpPr>
          <p:cNvPr id="18" name="18 Grupo"/>
          <p:cNvGrpSpPr/>
          <p:nvPr/>
        </p:nvGrpSpPr>
        <p:grpSpPr>
          <a:xfrm>
            <a:off x="8001024" y="4572008"/>
            <a:ext cx="285752" cy="214314"/>
            <a:chOff x="7500958" y="5429264"/>
            <a:chExt cx="285752" cy="214314"/>
          </a:xfrm>
        </p:grpSpPr>
        <p:sp>
          <p:nvSpPr>
            <p:cNvPr id="19" name="18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0" name="Picture 5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21" name="18 Grupo"/>
          <p:cNvGrpSpPr/>
          <p:nvPr/>
        </p:nvGrpSpPr>
        <p:grpSpPr>
          <a:xfrm>
            <a:off x="8001024" y="4929198"/>
            <a:ext cx="285752" cy="214314"/>
            <a:chOff x="7500958" y="5429264"/>
            <a:chExt cx="285752" cy="214314"/>
          </a:xfrm>
        </p:grpSpPr>
        <p:sp>
          <p:nvSpPr>
            <p:cNvPr id="22" name="21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3" name="Picture 5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24" name="18 Grupo"/>
          <p:cNvGrpSpPr/>
          <p:nvPr/>
        </p:nvGrpSpPr>
        <p:grpSpPr>
          <a:xfrm>
            <a:off x="8001024" y="5357826"/>
            <a:ext cx="285752" cy="214314"/>
            <a:chOff x="7500958" y="5429264"/>
            <a:chExt cx="285752" cy="214314"/>
          </a:xfrm>
        </p:grpSpPr>
        <p:sp>
          <p:nvSpPr>
            <p:cNvPr id="25" name="24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6" name="Picture 5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27" name="18 Grupo"/>
          <p:cNvGrpSpPr/>
          <p:nvPr/>
        </p:nvGrpSpPr>
        <p:grpSpPr>
          <a:xfrm>
            <a:off x="8001024" y="5857892"/>
            <a:ext cx="285752" cy="214314"/>
            <a:chOff x="7500958" y="5429264"/>
            <a:chExt cx="285752" cy="214314"/>
          </a:xfrm>
        </p:grpSpPr>
        <p:sp>
          <p:nvSpPr>
            <p:cNvPr id="28" name="27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9" name="Picture 5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30" name="29 CuadroTexto"/>
          <p:cNvSpPr txBox="1"/>
          <p:nvPr/>
        </p:nvSpPr>
        <p:spPr>
          <a:xfrm>
            <a:off x="6572264" y="6357958"/>
            <a:ext cx="226889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ES" b="1" dirty="0" smtClean="0"/>
              <a:t>Confirmar Devolución</a:t>
            </a:r>
            <a:endParaRPr lang="es-ES" b="1" dirty="0"/>
          </a:p>
        </p:txBody>
      </p:sp>
      <p:sp>
        <p:nvSpPr>
          <p:cNvPr id="31" name="30 CuadroTexto"/>
          <p:cNvSpPr txBox="1"/>
          <p:nvPr/>
        </p:nvSpPr>
        <p:spPr>
          <a:xfrm>
            <a:off x="-45658" y="2161610"/>
            <a:ext cx="1428596" cy="2723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>
                <a:solidFill>
                  <a:schemeClr val="bg1"/>
                </a:solidFill>
              </a:rPr>
              <a:t>Alta de proveedor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" name="5 CuadroTexto"/>
          <p:cNvSpPr txBox="1"/>
          <p:nvPr/>
        </p:nvSpPr>
        <p:spPr>
          <a:xfrm>
            <a:off x="2357422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Proceso de Devoluciones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3482346" y="59272"/>
            <a:ext cx="2282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PROVEEDOR</a:t>
            </a:r>
          </a:p>
        </p:txBody>
      </p:sp>
      <p:pic>
        <p:nvPicPr>
          <p:cNvPr id="27" name="Picture 1"/>
          <p:cNvPicPr>
            <a:picLocks noChangeAspect="1" noChangeArrowheads="1"/>
          </p:cNvPicPr>
          <p:nvPr/>
        </p:nvPicPr>
        <p:blipFill>
          <a:blip r:embed="rId3"/>
          <a:srcRect l="17569" t="21484" r="37408" b="73633"/>
          <a:stretch>
            <a:fillRect/>
          </a:stretch>
        </p:blipFill>
        <p:spPr bwMode="auto">
          <a:xfrm>
            <a:off x="1428728" y="2000240"/>
            <a:ext cx="5857916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1" name="30 Tabla"/>
          <p:cNvGraphicFramePr>
            <a:graphicFrameLocks noGrp="1"/>
          </p:cNvGraphicFramePr>
          <p:nvPr/>
        </p:nvGraphicFramePr>
        <p:xfrm>
          <a:off x="1524000" y="2571744"/>
          <a:ext cx="6095999" cy="1563927"/>
        </p:xfrm>
        <a:graphic>
          <a:graphicData uri="http://schemas.openxmlformats.org/drawingml/2006/table">
            <a:tbl>
              <a:tblPr/>
              <a:tblGrid>
                <a:gridCol w="668665"/>
                <a:gridCol w="958420"/>
                <a:gridCol w="635232"/>
                <a:gridCol w="668665"/>
                <a:gridCol w="1147876"/>
                <a:gridCol w="679810"/>
                <a:gridCol w="1337331"/>
              </a:tblGrid>
              <a:tr h="329247"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RMA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Descipción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Piezas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8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Número de la Guia de devolución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Condiciones de paquete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Consfirmar reembolso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308670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Dañado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8670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buen estado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8670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1112346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Abanico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2534678888888880000000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Dañado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8670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1112875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Refrigerador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Dañado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pSp>
        <p:nvGrpSpPr>
          <p:cNvPr id="32" name="18 Grupo"/>
          <p:cNvGrpSpPr/>
          <p:nvPr/>
        </p:nvGrpSpPr>
        <p:grpSpPr>
          <a:xfrm>
            <a:off x="6715140" y="2992664"/>
            <a:ext cx="285752" cy="214314"/>
            <a:chOff x="7500958" y="5429264"/>
            <a:chExt cx="285752" cy="214314"/>
          </a:xfrm>
        </p:grpSpPr>
        <p:sp>
          <p:nvSpPr>
            <p:cNvPr id="33" name="32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34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35" name="18 Grupo"/>
          <p:cNvGrpSpPr/>
          <p:nvPr/>
        </p:nvGrpSpPr>
        <p:grpSpPr>
          <a:xfrm>
            <a:off x="6715140" y="3278416"/>
            <a:ext cx="285752" cy="214314"/>
            <a:chOff x="7500958" y="5429264"/>
            <a:chExt cx="285752" cy="214314"/>
          </a:xfrm>
        </p:grpSpPr>
        <p:sp>
          <p:nvSpPr>
            <p:cNvPr id="36" name="35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37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38" name="18 Grupo"/>
          <p:cNvGrpSpPr/>
          <p:nvPr/>
        </p:nvGrpSpPr>
        <p:grpSpPr>
          <a:xfrm>
            <a:off x="6715140" y="3564168"/>
            <a:ext cx="285752" cy="214314"/>
            <a:chOff x="7500958" y="5429264"/>
            <a:chExt cx="285752" cy="214314"/>
          </a:xfrm>
        </p:grpSpPr>
        <p:sp>
          <p:nvSpPr>
            <p:cNvPr id="39" name="38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40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41" name="18 Grupo"/>
          <p:cNvGrpSpPr/>
          <p:nvPr/>
        </p:nvGrpSpPr>
        <p:grpSpPr>
          <a:xfrm>
            <a:off x="6715140" y="3849920"/>
            <a:ext cx="285752" cy="214314"/>
            <a:chOff x="7500958" y="5429264"/>
            <a:chExt cx="285752" cy="214314"/>
          </a:xfrm>
        </p:grpSpPr>
        <p:sp>
          <p:nvSpPr>
            <p:cNvPr id="42" name="41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43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44" name="43 CuadroTexto"/>
          <p:cNvSpPr txBox="1"/>
          <p:nvPr/>
        </p:nvSpPr>
        <p:spPr>
          <a:xfrm>
            <a:off x="5429256" y="4357694"/>
            <a:ext cx="226235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ES" b="1" dirty="0" smtClean="0"/>
              <a:t>Confirmar Reembolso</a:t>
            </a:r>
            <a:endParaRPr lang="es-ES" b="1" dirty="0"/>
          </a:p>
        </p:txBody>
      </p:sp>
      <p:sp>
        <p:nvSpPr>
          <p:cNvPr id="23" name="22 CuadroTexto"/>
          <p:cNvSpPr txBox="1"/>
          <p:nvPr/>
        </p:nvSpPr>
        <p:spPr>
          <a:xfrm>
            <a:off x="-45658" y="2161610"/>
            <a:ext cx="1428596" cy="2723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>
                <a:solidFill>
                  <a:schemeClr val="bg1"/>
                </a:solidFill>
              </a:rPr>
              <a:t>Alta de proveedor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285852" y="2535318"/>
            <a:ext cx="647856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600" b="1" dirty="0" smtClean="0"/>
              <a:t>VISTA </a:t>
            </a:r>
            <a:r>
              <a:rPr lang="es-ES" sz="6600" b="1" dirty="0" smtClean="0"/>
              <a:t>WMS CEDIS</a:t>
            </a:r>
            <a:endParaRPr lang="es-ES" sz="66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" name="5 CuadroTexto"/>
          <p:cNvSpPr txBox="1"/>
          <p:nvPr/>
        </p:nvSpPr>
        <p:spPr>
          <a:xfrm>
            <a:off x="2285984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Manuales Operativos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3482346" y="59272"/>
            <a:ext cx="2211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</a:t>
            </a:r>
            <a:r>
              <a:rPr lang="es-ES" b="1" dirty="0" smtClean="0"/>
              <a:t>CEDIS WMS</a:t>
            </a:r>
            <a:endParaRPr lang="es-ES" b="1" dirty="0" smtClean="0"/>
          </a:p>
        </p:txBody>
      </p:sp>
      <p:sp>
        <p:nvSpPr>
          <p:cNvPr id="10" name="9 CuadroTexto"/>
          <p:cNvSpPr txBox="1"/>
          <p:nvPr/>
        </p:nvSpPr>
        <p:spPr>
          <a:xfrm>
            <a:off x="2814256" y="2571744"/>
            <a:ext cx="3829446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 smtClean="0"/>
              <a:t>Manual de Operación </a:t>
            </a:r>
          </a:p>
          <a:p>
            <a:r>
              <a:rPr lang="es-419" sz="1000" dirty="0" smtClean="0"/>
              <a:t>     Procesos para surtir y enviar una orden</a:t>
            </a:r>
          </a:p>
          <a:p>
            <a:endParaRPr lang="es-419" dirty="0" smtClean="0"/>
          </a:p>
          <a:p>
            <a:r>
              <a:rPr lang="es-419" dirty="0" smtClean="0"/>
              <a:t>Manual de Empaque </a:t>
            </a:r>
          </a:p>
          <a:p>
            <a:r>
              <a:rPr lang="es-419" sz="1000" dirty="0" smtClean="0"/>
              <a:t>      Tipos de empaque que se deben utilizar para un adecuado envio</a:t>
            </a:r>
          </a:p>
          <a:p>
            <a:endParaRPr lang="es-419" sz="1000" dirty="0" smtClean="0"/>
          </a:p>
          <a:p>
            <a:r>
              <a:rPr lang="es-419" dirty="0" smtClean="0"/>
              <a:t>Manual de Embarque</a:t>
            </a:r>
            <a:endParaRPr lang="es-419" dirty="0" smtClean="0"/>
          </a:p>
          <a:p>
            <a:r>
              <a:rPr lang="es-419" sz="900" dirty="0" smtClean="0"/>
              <a:t>     Pasos a seguir para mantener actualizado tu inventario en la página</a:t>
            </a:r>
          </a:p>
          <a:p>
            <a:endParaRPr lang="es-419" dirty="0" smtClean="0"/>
          </a:p>
        </p:txBody>
      </p:sp>
      <p:sp>
        <p:nvSpPr>
          <p:cNvPr id="11" name="10 Rectángulo"/>
          <p:cNvSpPr/>
          <p:nvPr/>
        </p:nvSpPr>
        <p:spPr>
          <a:xfrm>
            <a:off x="2599942" y="2714620"/>
            <a:ext cx="214314" cy="7143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11 Rectángulo"/>
          <p:cNvSpPr/>
          <p:nvPr/>
        </p:nvSpPr>
        <p:spPr>
          <a:xfrm>
            <a:off x="2599942" y="3429000"/>
            <a:ext cx="214314" cy="7143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12 Rectángulo"/>
          <p:cNvSpPr/>
          <p:nvPr/>
        </p:nvSpPr>
        <p:spPr>
          <a:xfrm>
            <a:off x="2599942" y="4000504"/>
            <a:ext cx="214314" cy="7143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14 CuadroTexto"/>
          <p:cNvSpPr txBox="1"/>
          <p:nvPr/>
        </p:nvSpPr>
        <p:spPr>
          <a:xfrm>
            <a:off x="-45658" y="2161610"/>
            <a:ext cx="1428596" cy="2446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Manuales </a:t>
            </a:r>
            <a:r>
              <a:rPr lang="es-419" sz="900" b="1" dirty="0" smtClean="0">
                <a:solidFill>
                  <a:schemeClr val="bg1"/>
                </a:solidFill>
              </a:rPr>
              <a:t>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" name="5 CuadroTexto"/>
          <p:cNvSpPr txBox="1"/>
          <p:nvPr/>
        </p:nvSpPr>
        <p:spPr>
          <a:xfrm>
            <a:off x="2357422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Consignaciones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8" name="7 Tabla"/>
          <p:cNvGraphicFramePr>
            <a:graphicFrameLocks noGrp="1"/>
          </p:cNvGraphicFramePr>
          <p:nvPr/>
        </p:nvGraphicFramePr>
        <p:xfrm>
          <a:off x="1357292" y="2071678"/>
          <a:ext cx="7358113" cy="2022815"/>
        </p:xfrm>
        <a:graphic>
          <a:graphicData uri="http://schemas.openxmlformats.org/drawingml/2006/table">
            <a:tbl>
              <a:tblPr/>
              <a:tblGrid>
                <a:gridCol w="1033492"/>
                <a:gridCol w="1033492"/>
                <a:gridCol w="1033492"/>
                <a:gridCol w="1015826"/>
                <a:gridCol w="981598"/>
                <a:gridCol w="1244387"/>
                <a:gridCol w="1015826"/>
              </a:tblGrid>
              <a:tr h="852651"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Numero de orden </a:t>
                      </a:r>
                      <a:r>
                        <a:rPr lang="es-419" sz="10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  <a:br>
                        <a:rPr lang="es-419" sz="10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</a:br>
                      <a:r>
                        <a:rPr lang="es-419" sz="10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(solo mostrar las de pago autorizdo)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Fecha y hora de creación de la orden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Nombre del cliente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Estatus de la orden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Estatus de la Consignación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Número de la Guia</a:t>
                      </a:r>
                      <a:r>
                        <a:rPr lang="es-419" sz="10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  <a:br>
                        <a:rPr lang="es-419" sz="10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</a:br>
                      <a:r>
                        <a:rPr lang="es-419" sz="8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Aplica solo cuando el estatus de la consignación esté en espera de recolección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Estatus de la guia </a:t>
                      </a:r>
                      <a:br>
                        <a:rPr lang="es-419" sz="10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</a:br>
                      <a:r>
                        <a:rPr lang="es-419" sz="8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Aplica solo cuando el estatus de la consignación esté en espera de recolección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428340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7345672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28-ene-21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Susana Vargas Miranda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Pago Autorizado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espera de recolección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12345654323500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tránsito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8340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7632453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Susana Vargas Miranda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Pago Autorizado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espera de recolección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12345654234500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tránsito</a:t>
                      </a: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5466"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5466"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4342" marR="4342" marT="43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" name="13 CuadroTexto"/>
          <p:cNvSpPr txBox="1"/>
          <p:nvPr/>
        </p:nvSpPr>
        <p:spPr>
          <a:xfrm>
            <a:off x="1357290" y="4286256"/>
            <a:ext cx="746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Al dar </a:t>
            </a:r>
            <a:r>
              <a:rPr lang="es-ES" dirty="0" err="1" smtClean="0"/>
              <a:t>click</a:t>
            </a:r>
            <a:r>
              <a:rPr lang="es-ES" dirty="0" smtClean="0"/>
              <a:t> en a orden debe mandar a la ventana de Surtido/Detalle de Orden</a:t>
            </a:r>
            <a:endParaRPr lang="es-ES" dirty="0"/>
          </a:p>
        </p:txBody>
      </p:sp>
      <p:sp>
        <p:nvSpPr>
          <p:cNvPr id="11" name="10 CuadroTexto"/>
          <p:cNvSpPr txBox="1"/>
          <p:nvPr/>
        </p:nvSpPr>
        <p:spPr>
          <a:xfrm>
            <a:off x="-45658" y="2161610"/>
            <a:ext cx="1428596" cy="2446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Manuales </a:t>
            </a:r>
            <a:r>
              <a:rPr lang="es-419" sz="900" b="1" dirty="0" smtClean="0">
                <a:solidFill>
                  <a:schemeClr val="bg1"/>
                </a:solidFill>
              </a:rPr>
              <a:t>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3482346" y="59272"/>
            <a:ext cx="2211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</a:t>
            </a:r>
            <a:r>
              <a:rPr lang="es-ES" b="1" dirty="0" smtClean="0"/>
              <a:t>CEDIS WMS</a:t>
            </a:r>
            <a:endParaRPr lang="es-E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8" name="7 CuadroTexto"/>
          <p:cNvSpPr txBox="1"/>
          <p:nvPr/>
        </p:nvSpPr>
        <p:spPr>
          <a:xfrm>
            <a:off x="2357422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Proceso de Surtido / Aceptar Consignación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1357290" y="2500306"/>
            <a:ext cx="74295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u="sng" dirty="0" smtClean="0"/>
              <a:t>Aceptar consignación</a:t>
            </a:r>
            <a:r>
              <a:rPr lang="es-ES" sz="1000" b="1" dirty="0" smtClean="0"/>
              <a:t>     Solicitud de </a:t>
            </a:r>
            <a:r>
              <a:rPr lang="es-ES" sz="1000" b="1" dirty="0" err="1" smtClean="0"/>
              <a:t>guia</a:t>
            </a:r>
            <a:r>
              <a:rPr lang="es-ES" sz="1000" b="1" dirty="0" smtClean="0"/>
              <a:t>     Cancelar Consignación     Descarga de </a:t>
            </a:r>
            <a:r>
              <a:rPr lang="es-ES" sz="1000" b="1" dirty="0" err="1" smtClean="0"/>
              <a:t>guias</a:t>
            </a:r>
            <a:r>
              <a:rPr lang="es-ES" sz="1000" b="1" dirty="0" smtClean="0"/>
              <a:t>     Confirmar envío de consignación</a:t>
            </a:r>
            <a:endParaRPr lang="es-ES" sz="1000" b="1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/>
          <a:srcRect l="17569" t="21484" r="37408" b="73633"/>
          <a:stretch>
            <a:fillRect/>
          </a:stretch>
        </p:blipFill>
        <p:spPr bwMode="auto">
          <a:xfrm>
            <a:off x="1428728" y="2000240"/>
            <a:ext cx="5857916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6" name="15 Tabla"/>
          <p:cNvGraphicFramePr>
            <a:graphicFrameLocks noGrp="1"/>
          </p:cNvGraphicFramePr>
          <p:nvPr/>
        </p:nvGraphicFramePr>
        <p:xfrm>
          <a:off x="1922164" y="3000372"/>
          <a:ext cx="5364480" cy="2500332"/>
        </p:xfrm>
        <a:graphic>
          <a:graphicData uri="http://schemas.openxmlformats.org/drawingml/2006/table">
            <a:tbl>
              <a:tblPr/>
              <a:tblGrid>
                <a:gridCol w="1048512"/>
                <a:gridCol w="1133856"/>
                <a:gridCol w="731520"/>
                <a:gridCol w="1300954"/>
                <a:gridCol w="1149638"/>
              </a:tblGrid>
              <a:tr h="652260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Pizas solicitadas </a:t>
                      </a:r>
                      <a:r>
                        <a:rPr lang="es-ES" sz="10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para</a:t>
                      </a:r>
                      <a:r>
                        <a:rPr lang="es-ES" sz="1000" b="1" i="0" u="none" strike="noStrike" baseline="0" dirty="0" smtClean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lang="es-ES" sz="1000" b="1" i="0" u="none" strike="noStrike" baseline="0" dirty="0" err="1" smtClean="0">
                          <a:solidFill>
                            <a:srgbClr val="FFFFFF"/>
                          </a:solidFill>
                          <a:latin typeface="Calibri"/>
                        </a:rPr>
                        <a:t>envio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Tipo de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envio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Aceptar </a:t>
                      </a:r>
                      <a:r>
                        <a:rPr lang="es-ES" sz="10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Consignación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462018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2018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2018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1112346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Abanico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2018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1112875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Refrigerador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LTL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7" name="16 CuadroTexto"/>
          <p:cNvSpPr txBox="1"/>
          <p:nvPr/>
        </p:nvSpPr>
        <p:spPr>
          <a:xfrm>
            <a:off x="6357950" y="6072206"/>
            <a:ext cx="224619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ES" b="1" dirty="0" smtClean="0"/>
              <a:t>Aceptar Consignación</a:t>
            </a:r>
            <a:endParaRPr lang="es-ES" b="1" dirty="0"/>
          </a:p>
        </p:txBody>
      </p:sp>
      <p:grpSp>
        <p:nvGrpSpPr>
          <p:cNvPr id="4" name="17 Grupo"/>
          <p:cNvGrpSpPr/>
          <p:nvPr/>
        </p:nvGrpSpPr>
        <p:grpSpPr>
          <a:xfrm>
            <a:off x="6637072" y="3786190"/>
            <a:ext cx="285752" cy="214314"/>
            <a:chOff x="7500958" y="5429264"/>
            <a:chExt cx="285752" cy="214314"/>
          </a:xfrm>
        </p:grpSpPr>
        <p:sp>
          <p:nvSpPr>
            <p:cNvPr id="19" name="18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0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5" name="20 Grupo"/>
          <p:cNvGrpSpPr/>
          <p:nvPr/>
        </p:nvGrpSpPr>
        <p:grpSpPr>
          <a:xfrm>
            <a:off x="6637072" y="4286256"/>
            <a:ext cx="285752" cy="214314"/>
            <a:chOff x="7500958" y="5429264"/>
            <a:chExt cx="285752" cy="214314"/>
          </a:xfrm>
        </p:grpSpPr>
        <p:sp>
          <p:nvSpPr>
            <p:cNvPr id="22" name="21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3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6" name="23 Grupo"/>
          <p:cNvGrpSpPr/>
          <p:nvPr/>
        </p:nvGrpSpPr>
        <p:grpSpPr>
          <a:xfrm>
            <a:off x="6637072" y="4714884"/>
            <a:ext cx="285752" cy="214314"/>
            <a:chOff x="7500958" y="5429264"/>
            <a:chExt cx="285752" cy="214314"/>
          </a:xfrm>
        </p:grpSpPr>
        <p:sp>
          <p:nvSpPr>
            <p:cNvPr id="25" name="24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6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7" name="26 Grupo"/>
          <p:cNvGrpSpPr/>
          <p:nvPr/>
        </p:nvGrpSpPr>
        <p:grpSpPr>
          <a:xfrm>
            <a:off x="6637072" y="5214950"/>
            <a:ext cx="285752" cy="214314"/>
            <a:chOff x="7500958" y="5429264"/>
            <a:chExt cx="285752" cy="214314"/>
          </a:xfrm>
        </p:grpSpPr>
        <p:sp>
          <p:nvSpPr>
            <p:cNvPr id="28" name="27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9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4" name="23 CuadroTexto"/>
          <p:cNvSpPr txBox="1"/>
          <p:nvPr/>
        </p:nvSpPr>
        <p:spPr>
          <a:xfrm>
            <a:off x="-45658" y="2161610"/>
            <a:ext cx="1428596" cy="2446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Manuales </a:t>
            </a:r>
            <a:r>
              <a:rPr lang="es-419" sz="900" b="1" dirty="0" smtClean="0">
                <a:solidFill>
                  <a:schemeClr val="bg1"/>
                </a:solidFill>
              </a:rPr>
              <a:t>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sp>
        <p:nvSpPr>
          <p:cNvPr id="27" name="26 CuadroTexto"/>
          <p:cNvSpPr txBox="1"/>
          <p:nvPr/>
        </p:nvSpPr>
        <p:spPr>
          <a:xfrm>
            <a:off x="3482346" y="59272"/>
            <a:ext cx="2211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</a:t>
            </a:r>
            <a:r>
              <a:rPr lang="es-ES" b="1" dirty="0" smtClean="0"/>
              <a:t>CEDIS WMS</a:t>
            </a:r>
            <a:endParaRPr lang="es-E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8" name="7 CuadroTexto"/>
          <p:cNvSpPr txBox="1"/>
          <p:nvPr/>
        </p:nvSpPr>
        <p:spPr>
          <a:xfrm>
            <a:off x="2357422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Proceso de Surtido / Solicitud de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</a:rPr>
              <a:t>Guia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1357290" y="2500306"/>
            <a:ext cx="74295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 smtClean="0"/>
              <a:t>Aceptar consignación     </a:t>
            </a:r>
            <a:r>
              <a:rPr lang="es-ES" sz="1000" b="1" u="sng" dirty="0" smtClean="0"/>
              <a:t>Solicitud de </a:t>
            </a:r>
            <a:r>
              <a:rPr lang="es-ES" sz="1000" b="1" u="sng" dirty="0" err="1" smtClean="0"/>
              <a:t>guia</a:t>
            </a:r>
            <a:r>
              <a:rPr lang="es-ES" sz="1000" b="1" u="sng" dirty="0" smtClean="0"/>
              <a:t> </a:t>
            </a:r>
            <a:r>
              <a:rPr lang="es-ES" sz="1000" b="1" dirty="0" smtClean="0"/>
              <a:t>    Cancelar Consignación     Descarga de </a:t>
            </a:r>
            <a:r>
              <a:rPr lang="es-ES" sz="1000" b="1" dirty="0" err="1" smtClean="0"/>
              <a:t>guias</a:t>
            </a:r>
            <a:r>
              <a:rPr lang="es-ES" sz="1000" b="1" dirty="0" smtClean="0"/>
              <a:t>     Confirmar envío de consignación</a:t>
            </a:r>
            <a:endParaRPr lang="es-ES" sz="1000" b="1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/>
          <a:srcRect l="17569" t="21484" r="37408" b="73633"/>
          <a:stretch>
            <a:fillRect/>
          </a:stretch>
        </p:blipFill>
        <p:spPr bwMode="auto">
          <a:xfrm>
            <a:off x="1428728" y="2000240"/>
            <a:ext cx="5857916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6" name="AutoShape 2" descr="Compruebe icono de signo Stock de Foto gratis - Public Domain Pictur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028" name="AutoShape 4" descr="Compruebe icono de signo Stock de Foto gratis - Public Domain Pictur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9" name="28 CuadroTexto"/>
          <p:cNvSpPr txBox="1"/>
          <p:nvPr/>
        </p:nvSpPr>
        <p:spPr>
          <a:xfrm>
            <a:off x="6496982" y="5500702"/>
            <a:ext cx="1505284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ES" b="1" dirty="0" smtClean="0"/>
              <a:t>Generar </a:t>
            </a:r>
            <a:r>
              <a:rPr lang="es-ES" b="1" dirty="0" err="1" smtClean="0"/>
              <a:t>guias</a:t>
            </a:r>
            <a:endParaRPr lang="es-ES" b="1" dirty="0"/>
          </a:p>
        </p:txBody>
      </p:sp>
      <p:graphicFrame>
        <p:nvGraphicFramePr>
          <p:cNvPr id="31" name="30 Tabla"/>
          <p:cNvGraphicFramePr>
            <a:graphicFrameLocks noGrp="1"/>
          </p:cNvGraphicFramePr>
          <p:nvPr/>
        </p:nvGraphicFramePr>
        <p:xfrm>
          <a:off x="1643042" y="3140350"/>
          <a:ext cx="5715040" cy="2003162"/>
        </p:xfrm>
        <a:graphic>
          <a:graphicData uri="http://schemas.openxmlformats.org/drawingml/2006/table">
            <a:tbl>
              <a:tblPr/>
              <a:tblGrid>
                <a:gridCol w="946590"/>
                <a:gridCol w="1514545"/>
                <a:gridCol w="946590"/>
                <a:gridCol w="1124077"/>
                <a:gridCol w="1183238"/>
              </a:tblGrid>
              <a:tr h="253793"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Guias solicitadas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793"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80404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Descipción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Peso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Volumétivo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Tipo Envío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Total de guias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25379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1.2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err="1" smtClean="0">
                          <a:solidFill>
                            <a:srgbClr val="000000"/>
                          </a:solidFill>
                          <a:latin typeface="+mn-lt"/>
                        </a:rPr>
                        <a:t>Paqueteria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379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379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1112346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Abanico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379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1112875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Refrigerador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71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LTL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" name="13 CuadroTexto"/>
          <p:cNvSpPr txBox="1"/>
          <p:nvPr/>
        </p:nvSpPr>
        <p:spPr>
          <a:xfrm>
            <a:off x="-45658" y="2161610"/>
            <a:ext cx="1428596" cy="2446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Manuales </a:t>
            </a:r>
            <a:r>
              <a:rPr lang="es-419" sz="900" b="1" dirty="0" smtClean="0">
                <a:solidFill>
                  <a:schemeClr val="bg1"/>
                </a:solidFill>
              </a:rPr>
              <a:t>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sp>
        <p:nvSpPr>
          <p:cNvPr id="16" name="15 CuadroTexto"/>
          <p:cNvSpPr txBox="1"/>
          <p:nvPr/>
        </p:nvSpPr>
        <p:spPr>
          <a:xfrm>
            <a:off x="3482346" y="59272"/>
            <a:ext cx="2211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</a:t>
            </a:r>
            <a:r>
              <a:rPr lang="es-ES" b="1" dirty="0" smtClean="0"/>
              <a:t>CEDIS WMS</a:t>
            </a:r>
            <a:endParaRPr lang="es-E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71480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8" name="7 CuadroTexto"/>
          <p:cNvSpPr txBox="1"/>
          <p:nvPr/>
        </p:nvSpPr>
        <p:spPr>
          <a:xfrm>
            <a:off x="2357422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Proceso de Surtido / Descarga de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</a:rPr>
              <a:t>Guias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1357290" y="2500306"/>
            <a:ext cx="74295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 smtClean="0"/>
              <a:t>Aceptar consignación     Solicitud de </a:t>
            </a:r>
            <a:r>
              <a:rPr lang="es-ES" sz="1000" b="1" dirty="0" err="1" smtClean="0"/>
              <a:t>guia</a:t>
            </a:r>
            <a:r>
              <a:rPr lang="es-ES" sz="1000" b="1" dirty="0" smtClean="0"/>
              <a:t>     Cancelar Consignación     </a:t>
            </a:r>
            <a:r>
              <a:rPr lang="es-ES" sz="1000" b="1" u="sng" dirty="0" smtClean="0"/>
              <a:t>Descarga de </a:t>
            </a:r>
            <a:r>
              <a:rPr lang="es-ES" sz="1000" b="1" u="sng" dirty="0" err="1" smtClean="0"/>
              <a:t>guias</a:t>
            </a:r>
            <a:r>
              <a:rPr lang="es-ES" sz="1000" b="1" dirty="0" smtClean="0"/>
              <a:t>     Confirmar envío de consignación</a:t>
            </a:r>
            <a:endParaRPr lang="es-ES" sz="1000" b="1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/>
          <a:srcRect l="17569" t="21484" r="37408" b="73633"/>
          <a:stretch>
            <a:fillRect/>
          </a:stretch>
        </p:blipFill>
        <p:spPr bwMode="auto">
          <a:xfrm>
            <a:off x="1428728" y="2000240"/>
            <a:ext cx="5857916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6" name="AutoShape 2" descr="Compruebe icono de signo Stock de Foto gratis - Public Domain Pictur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028" name="AutoShape 4" descr="Compruebe icono de signo Stock de Foto gratis - Public Domain Pictur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30" name="29 CuadroTexto"/>
          <p:cNvSpPr txBox="1"/>
          <p:nvPr/>
        </p:nvSpPr>
        <p:spPr>
          <a:xfrm>
            <a:off x="2214546" y="5000636"/>
            <a:ext cx="45005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 smtClean="0"/>
              <a:t>Dar </a:t>
            </a:r>
            <a:r>
              <a:rPr lang="es-ES" sz="1600" dirty="0" err="1" smtClean="0"/>
              <a:t>click</a:t>
            </a:r>
            <a:r>
              <a:rPr lang="es-ES" sz="1600" dirty="0" smtClean="0"/>
              <a:t> en la </a:t>
            </a:r>
            <a:r>
              <a:rPr lang="es-ES" sz="1600" dirty="0" err="1" smtClean="0"/>
              <a:t>guia</a:t>
            </a:r>
            <a:r>
              <a:rPr lang="es-ES" sz="1600" dirty="0" smtClean="0"/>
              <a:t> para descargarla</a:t>
            </a:r>
          </a:p>
          <a:p>
            <a:endParaRPr lang="es-ES" sz="1600" dirty="0" smtClean="0"/>
          </a:p>
        </p:txBody>
      </p:sp>
      <p:graphicFrame>
        <p:nvGraphicFramePr>
          <p:cNvPr id="13" name="12 Tabla"/>
          <p:cNvGraphicFramePr>
            <a:graphicFrameLocks noGrp="1"/>
          </p:cNvGraphicFramePr>
          <p:nvPr/>
        </p:nvGraphicFramePr>
        <p:xfrm>
          <a:off x="2357422" y="2952750"/>
          <a:ext cx="4857784" cy="1976450"/>
        </p:xfrm>
        <a:graphic>
          <a:graphicData uri="http://schemas.openxmlformats.org/drawingml/2006/table">
            <a:tbl>
              <a:tblPr/>
              <a:tblGrid>
                <a:gridCol w="2266966"/>
                <a:gridCol w="1009657"/>
                <a:gridCol w="1581161"/>
              </a:tblGrid>
              <a:tr h="39529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No. </a:t>
                      </a:r>
                      <a:r>
                        <a:rPr lang="es-ES" sz="11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Guia</a:t>
                      </a:r>
                      <a:endParaRPr lang="es-ES" sz="11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Descipción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395290">
                <a:tc>
                  <a:txBody>
                    <a:bodyPr/>
                    <a:lstStyle/>
                    <a:p>
                      <a:pPr algn="l" fontAlgn="ctr"/>
                      <a:r>
                        <a:rPr lang="es-ES" sz="11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1234567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Refrigerador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90">
                <a:tc>
                  <a:txBody>
                    <a:bodyPr/>
                    <a:lstStyle/>
                    <a:p>
                      <a:pPr algn="l" fontAlgn="ctr"/>
                      <a:r>
                        <a:rPr lang="es-ES" sz="11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45367323456213400000000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1234567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Locion Dama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90">
                <a:tc>
                  <a:txBody>
                    <a:bodyPr/>
                    <a:lstStyle/>
                    <a:p>
                      <a:pPr algn="l" fontAlgn="ctr"/>
                      <a:r>
                        <a:rPr lang="es-ES" sz="11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45367323456213400000000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1234567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Locion Niño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90">
                <a:tc>
                  <a:txBody>
                    <a:bodyPr/>
                    <a:lstStyle/>
                    <a:p>
                      <a:pPr algn="l" fontAlgn="ctr"/>
                      <a:r>
                        <a:rPr lang="es-ES" sz="1100" b="0" i="0" u="sng" strike="noStrike" dirty="0">
                          <a:solidFill>
                            <a:srgbClr val="0F253F"/>
                          </a:solidFill>
                          <a:latin typeface="Calibri"/>
                        </a:rPr>
                        <a:t>45367323456213400000000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1234567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1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Locion</a:t>
                      </a: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Caballero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" name="13 CuadroTexto"/>
          <p:cNvSpPr txBox="1"/>
          <p:nvPr/>
        </p:nvSpPr>
        <p:spPr>
          <a:xfrm>
            <a:off x="-45658" y="2161610"/>
            <a:ext cx="1428596" cy="2446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Manuales </a:t>
            </a:r>
            <a:r>
              <a:rPr lang="es-419" sz="900" b="1" dirty="0" smtClean="0">
                <a:solidFill>
                  <a:schemeClr val="bg1"/>
                </a:solidFill>
              </a:rPr>
              <a:t>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sp>
        <p:nvSpPr>
          <p:cNvPr id="16" name="15 CuadroTexto"/>
          <p:cNvSpPr txBox="1"/>
          <p:nvPr/>
        </p:nvSpPr>
        <p:spPr>
          <a:xfrm>
            <a:off x="3482346" y="59272"/>
            <a:ext cx="2211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</a:t>
            </a:r>
            <a:r>
              <a:rPr lang="es-ES" b="1" dirty="0" smtClean="0"/>
              <a:t>CEDIS WMS</a:t>
            </a:r>
            <a:endParaRPr lang="es-E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8" name="7 CuadroTexto"/>
          <p:cNvSpPr txBox="1"/>
          <p:nvPr/>
        </p:nvSpPr>
        <p:spPr>
          <a:xfrm>
            <a:off x="2357422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Confirmar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</a:rPr>
              <a:t>Envio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 de Consignación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1357290" y="2500306"/>
            <a:ext cx="74295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 smtClean="0"/>
              <a:t>Aceptar consignación     Solicitud de </a:t>
            </a:r>
            <a:r>
              <a:rPr lang="es-ES" sz="1000" b="1" dirty="0" err="1" smtClean="0"/>
              <a:t>guia</a:t>
            </a:r>
            <a:r>
              <a:rPr lang="es-ES" sz="1000" b="1" dirty="0" smtClean="0"/>
              <a:t>     Cancelar Consignación     Descarga de </a:t>
            </a:r>
            <a:r>
              <a:rPr lang="es-ES" sz="1000" b="1" dirty="0" err="1" smtClean="0"/>
              <a:t>guias</a:t>
            </a:r>
            <a:r>
              <a:rPr lang="es-ES" sz="1000" b="1" dirty="0" smtClean="0"/>
              <a:t>     </a:t>
            </a:r>
            <a:r>
              <a:rPr lang="es-ES" sz="1000" b="1" u="sng" dirty="0" smtClean="0"/>
              <a:t>Confirmar envío de consignación</a:t>
            </a:r>
            <a:endParaRPr lang="es-ES" sz="1000" b="1" u="sng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/>
          <a:srcRect l="17569" t="21484" r="37408" b="73633"/>
          <a:stretch>
            <a:fillRect/>
          </a:stretch>
        </p:blipFill>
        <p:spPr bwMode="auto">
          <a:xfrm>
            <a:off x="1428728" y="2000240"/>
            <a:ext cx="5857916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6" name="15 Tabla"/>
          <p:cNvGraphicFramePr>
            <a:graphicFrameLocks noGrp="1"/>
          </p:cNvGraphicFramePr>
          <p:nvPr/>
        </p:nvGraphicFramePr>
        <p:xfrm>
          <a:off x="2214546" y="3500438"/>
          <a:ext cx="5143536" cy="1571637"/>
        </p:xfrm>
        <a:graphic>
          <a:graphicData uri="http://schemas.openxmlformats.org/drawingml/2006/table">
            <a:tbl>
              <a:tblPr/>
              <a:tblGrid>
                <a:gridCol w="1916846"/>
                <a:gridCol w="1363090"/>
                <a:gridCol w="851931"/>
                <a:gridCol w="1011669"/>
              </a:tblGrid>
              <a:tr h="280649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No.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Guia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Peso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Volumético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Tipo Envío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Confirmar Envío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322747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 dirty="0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LTL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2747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 dirty="0">
                          <a:solidFill>
                            <a:srgbClr val="0F253F"/>
                          </a:solidFill>
                          <a:latin typeface="Calibri"/>
                        </a:rPr>
                        <a:t>45367323456213400000000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2747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2534678888888880000000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2747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26" name="AutoShape 2" descr="Compruebe icono de signo Stock de Foto gratis - Public Domain Pictur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028" name="AutoShape 4" descr="Compruebe icono de signo Stock de Foto gratis - Public Domain Pictur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grpSp>
        <p:nvGrpSpPr>
          <p:cNvPr id="4" name="18 Grupo"/>
          <p:cNvGrpSpPr/>
          <p:nvPr/>
        </p:nvGrpSpPr>
        <p:grpSpPr>
          <a:xfrm>
            <a:off x="6715140" y="3857628"/>
            <a:ext cx="285752" cy="214314"/>
            <a:chOff x="7500958" y="5429264"/>
            <a:chExt cx="285752" cy="214314"/>
          </a:xfrm>
        </p:grpSpPr>
        <p:sp>
          <p:nvSpPr>
            <p:cNvPr id="17" name="16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5" name="19 Grupo"/>
          <p:cNvGrpSpPr/>
          <p:nvPr/>
        </p:nvGrpSpPr>
        <p:grpSpPr>
          <a:xfrm>
            <a:off x="6715140" y="4143380"/>
            <a:ext cx="285752" cy="214314"/>
            <a:chOff x="7500958" y="5429264"/>
            <a:chExt cx="285752" cy="214314"/>
          </a:xfrm>
        </p:grpSpPr>
        <p:sp>
          <p:nvSpPr>
            <p:cNvPr id="21" name="20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2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6" name="22 Grupo"/>
          <p:cNvGrpSpPr/>
          <p:nvPr/>
        </p:nvGrpSpPr>
        <p:grpSpPr>
          <a:xfrm>
            <a:off x="6715140" y="4429132"/>
            <a:ext cx="285752" cy="214314"/>
            <a:chOff x="7500958" y="5429264"/>
            <a:chExt cx="285752" cy="214314"/>
          </a:xfrm>
        </p:grpSpPr>
        <p:sp>
          <p:nvSpPr>
            <p:cNvPr id="24" name="23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5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7" name="25 Grupo"/>
          <p:cNvGrpSpPr/>
          <p:nvPr/>
        </p:nvGrpSpPr>
        <p:grpSpPr>
          <a:xfrm>
            <a:off x="6715140" y="4714884"/>
            <a:ext cx="285752" cy="214314"/>
            <a:chOff x="7500958" y="5429264"/>
            <a:chExt cx="285752" cy="214314"/>
          </a:xfrm>
        </p:grpSpPr>
        <p:sp>
          <p:nvSpPr>
            <p:cNvPr id="27" name="26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8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9" name="28 CuadroTexto"/>
          <p:cNvSpPr txBox="1"/>
          <p:nvPr/>
        </p:nvSpPr>
        <p:spPr>
          <a:xfrm>
            <a:off x="6143636" y="5572140"/>
            <a:ext cx="114685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ES" b="1" dirty="0" smtClean="0"/>
              <a:t>Confirmar</a:t>
            </a:r>
            <a:endParaRPr lang="es-ES" b="1" dirty="0"/>
          </a:p>
        </p:txBody>
      </p:sp>
      <p:sp>
        <p:nvSpPr>
          <p:cNvPr id="30" name="29 CuadroTexto"/>
          <p:cNvSpPr txBox="1"/>
          <p:nvPr/>
        </p:nvSpPr>
        <p:spPr>
          <a:xfrm>
            <a:off x="1214414" y="6072206"/>
            <a:ext cx="7858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Deben aparecer todas las </a:t>
            </a:r>
            <a:r>
              <a:rPr lang="es-ES" sz="1200" dirty="0" err="1" smtClean="0"/>
              <a:t>guias</a:t>
            </a:r>
            <a:r>
              <a:rPr lang="es-ES" sz="1200" dirty="0" smtClean="0"/>
              <a:t> que el proveedor solicitó para el </a:t>
            </a:r>
            <a:r>
              <a:rPr lang="es-ES" sz="1200" dirty="0" err="1" smtClean="0"/>
              <a:t>reenvio</a:t>
            </a:r>
            <a:r>
              <a:rPr lang="es-ES" sz="1200" dirty="0" smtClean="0"/>
              <a:t>, las </a:t>
            </a:r>
            <a:r>
              <a:rPr lang="es-ES" sz="1200" dirty="0" err="1" smtClean="0"/>
              <a:t>guias</a:t>
            </a:r>
            <a:r>
              <a:rPr lang="es-ES" sz="1200" dirty="0" smtClean="0"/>
              <a:t> que no se detecte movimiento en una semana se deberán cancelar en automático.</a:t>
            </a:r>
          </a:p>
        </p:txBody>
      </p:sp>
      <p:sp>
        <p:nvSpPr>
          <p:cNvPr id="32" name="31 CuadroTexto"/>
          <p:cNvSpPr txBox="1"/>
          <p:nvPr/>
        </p:nvSpPr>
        <p:spPr>
          <a:xfrm>
            <a:off x="-45658" y="2161610"/>
            <a:ext cx="1428596" cy="2446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Manuales </a:t>
            </a:r>
            <a:r>
              <a:rPr lang="es-419" sz="900" b="1" dirty="0" smtClean="0">
                <a:solidFill>
                  <a:schemeClr val="bg1"/>
                </a:solidFill>
              </a:rPr>
              <a:t>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sp>
        <p:nvSpPr>
          <p:cNvPr id="33" name="32 CuadroTexto"/>
          <p:cNvSpPr txBox="1"/>
          <p:nvPr/>
        </p:nvSpPr>
        <p:spPr>
          <a:xfrm>
            <a:off x="3482346" y="59272"/>
            <a:ext cx="2211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</a:t>
            </a:r>
            <a:r>
              <a:rPr lang="es-ES" b="1" dirty="0" smtClean="0"/>
              <a:t>CEDIS WMS</a:t>
            </a:r>
            <a:endParaRPr lang="es-E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11" name="10 CuadroTexto"/>
          <p:cNvSpPr txBox="1"/>
          <p:nvPr/>
        </p:nvSpPr>
        <p:spPr>
          <a:xfrm>
            <a:off x="2428857" y="1643050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Reenvío de mercancía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12" name="11 Tabla"/>
          <p:cNvGraphicFramePr>
            <a:graphicFrameLocks noGrp="1"/>
          </p:cNvGraphicFramePr>
          <p:nvPr/>
        </p:nvGraphicFramePr>
        <p:xfrm>
          <a:off x="1357286" y="2071678"/>
          <a:ext cx="7358117" cy="1428761"/>
        </p:xfrm>
        <a:graphic>
          <a:graphicData uri="http://schemas.openxmlformats.org/drawingml/2006/table">
            <a:tbl>
              <a:tblPr/>
              <a:tblGrid>
                <a:gridCol w="908123"/>
                <a:gridCol w="908123"/>
                <a:gridCol w="908123"/>
                <a:gridCol w="892598"/>
                <a:gridCol w="1063356"/>
                <a:gridCol w="892598"/>
                <a:gridCol w="892598"/>
                <a:gridCol w="892598"/>
              </a:tblGrid>
              <a:tr h="774630"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Numero de </a:t>
                      </a:r>
                      <a:r>
                        <a:rPr lang="es-419" sz="9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Consignacion</a:t>
                      </a:r>
                      <a:r>
                        <a:rPr lang="es-419" sz="9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  <a:br>
                        <a:rPr lang="es-419" sz="9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</a:br>
                      <a:endParaRPr lang="es-419" sz="900" b="0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Fecha y hora de creación de la orden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Nombre del cliente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Estatus de la </a:t>
                      </a:r>
                      <a:r>
                        <a:rPr lang="es-ES" sz="900" b="0" i="0" u="none" strike="noStrike" dirty="0" err="1" smtClean="0">
                          <a:solidFill>
                            <a:srgbClr val="FFFFFF"/>
                          </a:solidFill>
                          <a:latin typeface="Calibri"/>
                        </a:rPr>
                        <a:t>consignacion</a:t>
                      </a:r>
                      <a:r>
                        <a:rPr lang="es-ES" sz="900" b="0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 a</a:t>
                      </a:r>
                      <a:r>
                        <a:rPr lang="es-ES" sz="900" b="0" i="0" u="none" strike="noStrike" baseline="0" dirty="0" smtClean="0">
                          <a:solidFill>
                            <a:srgbClr val="FFFFFF"/>
                          </a:solidFill>
                          <a:latin typeface="Calibri"/>
                        </a:rPr>
                        <a:t> reenviar</a:t>
                      </a:r>
                      <a:endParaRPr lang="es-ES" sz="900" b="0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Guia</a:t>
                      </a:r>
                      <a:r>
                        <a:rPr lang="es-ES" sz="9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 de </a:t>
                      </a:r>
                      <a:r>
                        <a:rPr lang="es-ES" sz="9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devolucion</a:t>
                      </a:r>
                      <a:endParaRPr lang="es-ES" sz="9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Estaus de la guia de devolución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Guia de Reenvio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Estatus de guia de reenvio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331370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7345672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28-ene-21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Susana Vargas Miranda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espera de recolección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12345654321234500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En tránsito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12345654321234500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Entregado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2761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7632453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Susana Vargas Miranda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espera de recolección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12345654321234500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tránsito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12345654321234500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En almacén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3" name="12 CuadroTexto"/>
          <p:cNvSpPr txBox="1"/>
          <p:nvPr/>
        </p:nvSpPr>
        <p:spPr>
          <a:xfrm>
            <a:off x="-45658" y="2161610"/>
            <a:ext cx="1428596" cy="2446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Manuales </a:t>
            </a:r>
            <a:r>
              <a:rPr lang="es-419" sz="900" b="1" dirty="0" smtClean="0">
                <a:solidFill>
                  <a:schemeClr val="bg1"/>
                </a:solidFill>
              </a:rPr>
              <a:t>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sp>
        <p:nvSpPr>
          <p:cNvPr id="14" name="13 CuadroTexto"/>
          <p:cNvSpPr txBox="1"/>
          <p:nvPr/>
        </p:nvSpPr>
        <p:spPr>
          <a:xfrm>
            <a:off x="3482346" y="59272"/>
            <a:ext cx="2211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</a:t>
            </a:r>
            <a:r>
              <a:rPr lang="es-ES" b="1" dirty="0" smtClean="0"/>
              <a:t>CEDIS WMS</a:t>
            </a:r>
            <a:endParaRPr lang="es-E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8" name="7 CuadroTexto"/>
          <p:cNvSpPr txBox="1"/>
          <p:nvPr/>
        </p:nvSpPr>
        <p:spPr>
          <a:xfrm>
            <a:off x="2357422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</a:rPr>
              <a:t>Reenvio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 de Mercancía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16 CuadroTexto"/>
          <p:cNvSpPr txBox="1"/>
          <p:nvPr/>
        </p:nvSpPr>
        <p:spPr>
          <a:xfrm>
            <a:off x="1357290" y="2714620"/>
            <a:ext cx="74295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u="sng" dirty="0" smtClean="0"/>
              <a:t>Aceptar </a:t>
            </a:r>
            <a:r>
              <a:rPr lang="es-ES" sz="1000" b="1" u="sng" dirty="0" err="1" smtClean="0"/>
              <a:t>reenvio</a:t>
            </a:r>
            <a:r>
              <a:rPr lang="es-ES" sz="1000" b="1" u="sng" dirty="0" smtClean="0"/>
              <a:t>     </a:t>
            </a:r>
            <a:r>
              <a:rPr lang="es-ES" sz="1000" b="1" dirty="0" smtClean="0"/>
              <a:t>Solicitud de </a:t>
            </a:r>
            <a:r>
              <a:rPr lang="es-ES" sz="1000" b="1" dirty="0" err="1" smtClean="0"/>
              <a:t>guia</a:t>
            </a:r>
            <a:r>
              <a:rPr lang="es-ES" sz="1000" b="1" dirty="0" smtClean="0"/>
              <a:t>     Cancelar </a:t>
            </a:r>
            <a:r>
              <a:rPr lang="es-ES" sz="1000" b="1" dirty="0" err="1" smtClean="0"/>
              <a:t>Reenvio</a:t>
            </a:r>
            <a:r>
              <a:rPr lang="es-ES" sz="1000" b="1" dirty="0" smtClean="0"/>
              <a:t>    Descarga de </a:t>
            </a:r>
            <a:r>
              <a:rPr lang="es-ES" sz="1000" b="1" dirty="0" err="1" smtClean="0"/>
              <a:t>guias</a:t>
            </a:r>
            <a:r>
              <a:rPr lang="es-ES" sz="1000" b="1" dirty="0" smtClean="0"/>
              <a:t>         Confirmar </a:t>
            </a:r>
            <a:r>
              <a:rPr lang="es-ES" sz="1000" b="1" dirty="0" err="1" smtClean="0"/>
              <a:t>reenvio</a:t>
            </a:r>
            <a:r>
              <a:rPr lang="es-ES" sz="1000" b="1" dirty="0" smtClean="0"/>
              <a:t> enviado</a:t>
            </a:r>
            <a:endParaRPr lang="es-ES" sz="1000" b="1" dirty="0"/>
          </a:p>
        </p:txBody>
      </p:sp>
      <p:pic>
        <p:nvPicPr>
          <p:cNvPr id="18" name="Picture 1"/>
          <p:cNvPicPr>
            <a:picLocks noChangeAspect="1" noChangeArrowheads="1"/>
          </p:cNvPicPr>
          <p:nvPr/>
        </p:nvPicPr>
        <p:blipFill>
          <a:blip r:embed="rId3"/>
          <a:srcRect l="17569" t="21484" r="37408" b="73633"/>
          <a:stretch>
            <a:fillRect/>
          </a:stretch>
        </p:blipFill>
        <p:spPr bwMode="auto">
          <a:xfrm>
            <a:off x="1428728" y="2214554"/>
            <a:ext cx="5857916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20 CuadroTexto"/>
          <p:cNvSpPr txBox="1"/>
          <p:nvPr/>
        </p:nvSpPr>
        <p:spPr>
          <a:xfrm>
            <a:off x="1357290" y="5795207"/>
            <a:ext cx="7858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Deberá mostrar </a:t>
            </a:r>
            <a:r>
              <a:rPr lang="es-ES" sz="1200" dirty="0" err="1" smtClean="0"/>
              <a:t>unicamente</a:t>
            </a:r>
            <a:r>
              <a:rPr lang="es-ES" sz="1200" dirty="0" smtClean="0"/>
              <a:t> los artículos del </a:t>
            </a:r>
            <a:r>
              <a:rPr lang="es-ES" sz="1200" dirty="0" err="1" smtClean="0"/>
              <a:t>reenvio</a:t>
            </a:r>
            <a:r>
              <a:rPr lang="es-ES" sz="1200" dirty="0" smtClean="0"/>
              <a:t>, cuando el motivo del RMA  sea daño de origen no se generará </a:t>
            </a:r>
          </a:p>
          <a:p>
            <a:r>
              <a:rPr lang="es-ES" sz="1200" dirty="0" smtClean="0"/>
              <a:t>Orden de compra a proveedor y se </a:t>
            </a:r>
            <a:r>
              <a:rPr lang="es-ES" sz="1200" dirty="0" err="1" smtClean="0"/>
              <a:t>aplcará</a:t>
            </a:r>
            <a:r>
              <a:rPr lang="es-ES" sz="1200" dirty="0" smtClean="0"/>
              <a:t> una nota de crédito por el articulo e importe reclamado</a:t>
            </a:r>
          </a:p>
        </p:txBody>
      </p:sp>
      <p:graphicFrame>
        <p:nvGraphicFramePr>
          <p:cNvPr id="22" name="21 Tabla"/>
          <p:cNvGraphicFramePr>
            <a:graphicFrameLocks noGrp="1"/>
          </p:cNvGraphicFramePr>
          <p:nvPr/>
        </p:nvGraphicFramePr>
        <p:xfrm>
          <a:off x="1500166" y="3214686"/>
          <a:ext cx="6096000" cy="2428891"/>
        </p:xfrm>
        <a:graphic>
          <a:graphicData uri="http://schemas.openxmlformats.org/drawingml/2006/table">
            <a:tbl>
              <a:tblPr/>
              <a:tblGrid>
                <a:gridCol w="624164"/>
                <a:gridCol w="894635"/>
                <a:gridCol w="894635"/>
                <a:gridCol w="967454"/>
                <a:gridCol w="624164"/>
                <a:gridCol w="1331549"/>
                <a:gridCol w="759399"/>
              </a:tblGrid>
              <a:tr h="63362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RMA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Motivo RMA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Descipción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Pizas solicitadas para reenvio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Tipo de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envio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Aceptar reenvio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448817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Daño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8817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Robo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8817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Robo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1112346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Abanico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8817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</a:rPr>
                        <a:t>Extravio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1112875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Refrigerador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LTL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pSp>
        <p:nvGrpSpPr>
          <p:cNvPr id="4" name="22 Grupo"/>
          <p:cNvGrpSpPr/>
          <p:nvPr/>
        </p:nvGrpSpPr>
        <p:grpSpPr>
          <a:xfrm>
            <a:off x="7072330" y="3929066"/>
            <a:ext cx="285752" cy="214314"/>
            <a:chOff x="7500958" y="5429264"/>
            <a:chExt cx="285752" cy="214314"/>
          </a:xfrm>
        </p:grpSpPr>
        <p:sp>
          <p:nvSpPr>
            <p:cNvPr id="24" name="23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5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5" name="25 Grupo"/>
          <p:cNvGrpSpPr/>
          <p:nvPr/>
        </p:nvGrpSpPr>
        <p:grpSpPr>
          <a:xfrm>
            <a:off x="7072330" y="4429132"/>
            <a:ext cx="285752" cy="214314"/>
            <a:chOff x="7500958" y="5429264"/>
            <a:chExt cx="285752" cy="214314"/>
          </a:xfrm>
        </p:grpSpPr>
        <p:sp>
          <p:nvSpPr>
            <p:cNvPr id="27" name="26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8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6" name="28 Grupo"/>
          <p:cNvGrpSpPr/>
          <p:nvPr/>
        </p:nvGrpSpPr>
        <p:grpSpPr>
          <a:xfrm>
            <a:off x="7072330" y="4929198"/>
            <a:ext cx="285752" cy="214314"/>
            <a:chOff x="7500958" y="5429264"/>
            <a:chExt cx="285752" cy="214314"/>
          </a:xfrm>
        </p:grpSpPr>
        <p:sp>
          <p:nvSpPr>
            <p:cNvPr id="30" name="29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31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7" name="31 Grupo"/>
          <p:cNvGrpSpPr/>
          <p:nvPr/>
        </p:nvGrpSpPr>
        <p:grpSpPr>
          <a:xfrm>
            <a:off x="7072330" y="5357826"/>
            <a:ext cx="285752" cy="214314"/>
            <a:chOff x="7500958" y="5429264"/>
            <a:chExt cx="285752" cy="214314"/>
          </a:xfrm>
        </p:grpSpPr>
        <p:sp>
          <p:nvSpPr>
            <p:cNvPr id="33" name="32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34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35" name="34 CuadroTexto"/>
          <p:cNvSpPr txBox="1"/>
          <p:nvPr/>
        </p:nvSpPr>
        <p:spPr>
          <a:xfrm>
            <a:off x="6357950" y="6345816"/>
            <a:ext cx="179472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ES" b="1" dirty="0" smtClean="0"/>
              <a:t>Aceptar </a:t>
            </a:r>
            <a:r>
              <a:rPr lang="es-ES" b="1" dirty="0" err="1" smtClean="0"/>
              <a:t>reenvios</a:t>
            </a:r>
            <a:endParaRPr lang="es-ES" b="1" dirty="0"/>
          </a:p>
        </p:txBody>
      </p:sp>
      <p:sp>
        <p:nvSpPr>
          <p:cNvPr id="26" name="25 CuadroTexto"/>
          <p:cNvSpPr txBox="1"/>
          <p:nvPr/>
        </p:nvSpPr>
        <p:spPr>
          <a:xfrm>
            <a:off x="-45658" y="2161610"/>
            <a:ext cx="1428596" cy="2446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Manuales </a:t>
            </a:r>
            <a:r>
              <a:rPr lang="es-419" sz="900" b="1" dirty="0" smtClean="0">
                <a:solidFill>
                  <a:schemeClr val="bg1"/>
                </a:solidFill>
              </a:rPr>
              <a:t>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sp>
        <p:nvSpPr>
          <p:cNvPr id="29" name="28 CuadroTexto"/>
          <p:cNvSpPr txBox="1"/>
          <p:nvPr/>
        </p:nvSpPr>
        <p:spPr>
          <a:xfrm>
            <a:off x="3482346" y="59272"/>
            <a:ext cx="2211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</a:t>
            </a:r>
            <a:r>
              <a:rPr lang="es-ES" b="1" dirty="0" smtClean="0"/>
              <a:t>CEDIS WMS</a:t>
            </a:r>
            <a:endParaRPr lang="es-E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aphicFrame>
        <p:nvGraphicFramePr>
          <p:cNvPr id="19" name="18 Tabla"/>
          <p:cNvGraphicFramePr>
            <a:graphicFrameLocks noGrp="1"/>
          </p:cNvGraphicFramePr>
          <p:nvPr/>
        </p:nvGraphicFramePr>
        <p:xfrm>
          <a:off x="1643042" y="2080431"/>
          <a:ext cx="5715040" cy="2003162"/>
        </p:xfrm>
        <a:graphic>
          <a:graphicData uri="http://schemas.openxmlformats.org/drawingml/2006/table">
            <a:tbl>
              <a:tblPr/>
              <a:tblGrid>
                <a:gridCol w="946590"/>
                <a:gridCol w="1514545"/>
                <a:gridCol w="946590"/>
                <a:gridCol w="1124077"/>
                <a:gridCol w="1183238"/>
              </a:tblGrid>
              <a:tr h="253793"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Guias solicitadas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793"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80404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Descipción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Peso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Volumétivo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Tipo Envío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Total de guias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25379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1.2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err="1" smtClean="0">
                          <a:solidFill>
                            <a:srgbClr val="000000"/>
                          </a:solidFill>
                          <a:latin typeface="+mn-lt"/>
                        </a:rPr>
                        <a:t>Paqueteria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379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379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1112346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Abanico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379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1112875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Refrigerador</a:t>
                      </a:r>
                    </a:p>
                  </a:txBody>
                  <a:tcPr marL="9144" marR="9144" marT="9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71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LTL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0" name="19 CuadroTexto"/>
          <p:cNvSpPr txBox="1"/>
          <p:nvPr/>
        </p:nvSpPr>
        <p:spPr>
          <a:xfrm>
            <a:off x="2214546" y="1428736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Solicitud de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</a:rPr>
              <a:t>guias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 de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</a:rPr>
              <a:t>reenvio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20 CuadroTexto"/>
          <p:cNvSpPr txBox="1"/>
          <p:nvPr/>
        </p:nvSpPr>
        <p:spPr>
          <a:xfrm>
            <a:off x="1500166" y="4223571"/>
            <a:ext cx="7858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Deberá mostrar </a:t>
            </a:r>
            <a:r>
              <a:rPr lang="es-ES" sz="1200" dirty="0" err="1" smtClean="0"/>
              <a:t>unicamente</a:t>
            </a:r>
            <a:r>
              <a:rPr lang="es-ES" sz="1200" dirty="0" smtClean="0"/>
              <a:t> los artículos  que se hayan aceptado para el </a:t>
            </a:r>
            <a:r>
              <a:rPr lang="es-ES" sz="1200" dirty="0" err="1" smtClean="0"/>
              <a:t>reenvio</a:t>
            </a:r>
            <a:endParaRPr lang="es-ES" sz="1200" dirty="0" smtClean="0"/>
          </a:p>
        </p:txBody>
      </p:sp>
      <p:sp>
        <p:nvSpPr>
          <p:cNvPr id="10" name="9 CuadroTexto"/>
          <p:cNvSpPr txBox="1"/>
          <p:nvPr/>
        </p:nvSpPr>
        <p:spPr>
          <a:xfrm>
            <a:off x="6496982" y="5500702"/>
            <a:ext cx="1505284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ES" b="1" dirty="0" smtClean="0"/>
              <a:t>Generar </a:t>
            </a:r>
            <a:r>
              <a:rPr lang="es-ES" b="1" dirty="0" err="1" smtClean="0"/>
              <a:t>guias</a:t>
            </a:r>
            <a:endParaRPr lang="es-ES" b="1" dirty="0"/>
          </a:p>
        </p:txBody>
      </p:sp>
      <p:sp>
        <p:nvSpPr>
          <p:cNvPr id="12" name="11 CuadroTexto"/>
          <p:cNvSpPr txBox="1"/>
          <p:nvPr/>
        </p:nvSpPr>
        <p:spPr>
          <a:xfrm>
            <a:off x="-45658" y="2161610"/>
            <a:ext cx="1428596" cy="2446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Manuales </a:t>
            </a:r>
            <a:r>
              <a:rPr lang="es-419" sz="900" b="1" dirty="0" smtClean="0">
                <a:solidFill>
                  <a:schemeClr val="bg1"/>
                </a:solidFill>
              </a:rPr>
              <a:t>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sp>
        <p:nvSpPr>
          <p:cNvPr id="13" name="12 CuadroTexto"/>
          <p:cNvSpPr txBox="1"/>
          <p:nvPr/>
        </p:nvSpPr>
        <p:spPr>
          <a:xfrm>
            <a:off x="3482346" y="59272"/>
            <a:ext cx="2211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</a:t>
            </a:r>
            <a:r>
              <a:rPr lang="es-ES" b="1" dirty="0" smtClean="0"/>
              <a:t>CEDIS WMS</a:t>
            </a:r>
            <a:endParaRPr lang="es-E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8" name="7 CuadroTexto"/>
          <p:cNvSpPr txBox="1"/>
          <p:nvPr/>
        </p:nvSpPr>
        <p:spPr>
          <a:xfrm>
            <a:off x="2357422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</a:rPr>
              <a:t>Reenvio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 de Mercancía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1357290" y="2500306"/>
            <a:ext cx="74295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 smtClean="0"/>
              <a:t>Aceptar consignación     Solicitud de </a:t>
            </a:r>
            <a:r>
              <a:rPr lang="es-ES" sz="1000" b="1" dirty="0" err="1" smtClean="0"/>
              <a:t>guia</a:t>
            </a:r>
            <a:r>
              <a:rPr lang="es-ES" sz="1000" b="1" dirty="0" smtClean="0"/>
              <a:t>     Cancelar Consignación     Descarga de </a:t>
            </a:r>
            <a:r>
              <a:rPr lang="es-ES" sz="1000" b="1" dirty="0" err="1" smtClean="0"/>
              <a:t>guias</a:t>
            </a:r>
            <a:r>
              <a:rPr lang="es-ES" sz="1000" b="1" dirty="0" smtClean="0"/>
              <a:t>     </a:t>
            </a:r>
            <a:r>
              <a:rPr lang="es-ES" sz="1000" b="1" u="sng" dirty="0" smtClean="0"/>
              <a:t>Confirmar envío de consignación</a:t>
            </a:r>
            <a:endParaRPr lang="es-ES" sz="1000" b="1" u="sng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/>
          <a:srcRect l="17569" t="21484" r="37408" b="73633"/>
          <a:stretch>
            <a:fillRect/>
          </a:stretch>
        </p:blipFill>
        <p:spPr bwMode="auto">
          <a:xfrm>
            <a:off x="1428728" y="2000240"/>
            <a:ext cx="5857916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12 CuadroTexto"/>
          <p:cNvSpPr txBox="1"/>
          <p:nvPr/>
        </p:nvSpPr>
        <p:spPr>
          <a:xfrm>
            <a:off x="2214546" y="292893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Confirmar envío de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</a:rPr>
              <a:t>Reenvio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 de mercancía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16" name="15 Tabla"/>
          <p:cNvGraphicFramePr>
            <a:graphicFrameLocks noGrp="1"/>
          </p:cNvGraphicFramePr>
          <p:nvPr/>
        </p:nvGraphicFramePr>
        <p:xfrm>
          <a:off x="2214546" y="3500438"/>
          <a:ext cx="5143536" cy="1571637"/>
        </p:xfrm>
        <a:graphic>
          <a:graphicData uri="http://schemas.openxmlformats.org/drawingml/2006/table">
            <a:tbl>
              <a:tblPr/>
              <a:tblGrid>
                <a:gridCol w="1916846"/>
                <a:gridCol w="1363090"/>
                <a:gridCol w="851931"/>
                <a:gridCol w="1011669"/>
              </a:tblGrid>
              <a:tr h="280649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No.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Guia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Peso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Volumético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Tipo Envío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Confirmar Envío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322747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 dirty="0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LTL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2747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 dirty="0">
                          <a:solidFill>
                            <a:srgbClr val="0F253F"/>
                          </a:solidFill>
                          <a:latin typeface="Calibri"/>
                        </a:rPr>
                        <a:t>45367323456213400000000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2747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2534678888888880000000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2747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Paqueteria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26" name="AutoShape 2" descr="Compruebe icono de signo Stock de Foto gratis - Public Domain Pictur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028" name="AutoShape 4" descr="Compruebe icono de signo Stock de Foto gratis - Public Domain Pictur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grpSp>
        <p:nvGrpSpPr>
          <p:cNvPr id="4" name="18 Grupo"/>
          <p:cNvGrpSpPr/>
          <p:nvPr/>
        </p:nvGrpSpPr>
        <p:grpSpPr>
          <a:xfrm>
            <a:off x="6715140" y="3857628"/>
            <a:ext cx="285752" cy="214314"/>
            <a:chOff x="7500958" y="5429264"/>
            <a:chExt cx="285752" cy="214314"/>
          </a:xfrm>
        </p:grpSpPr>
        <p:sp>
          <p:nvSpPr>
            <p:cNvPr id="17" name="16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5" name="19 Grupo"/>
          <p:cNvGrpSpPr/>
          <p:nvPr/>
        </p:nvGrpSpPr>
        <p:grpSpPr>
          <a:xfrm>
            <a:off x="6715140" y="4143380"/>
            <a:ext cx="285752" cy="214314"/>
            <a:chOff x="7500958" y="5429264"/>
            <a:chExt cx="285752" cy="214314"/>
          </a:xfrm>
        </p:grpSpPr>
        <p:sp>
          <p:nvSpPr>
            <p:cNvPr id="21" name="20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2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6" name="22 Grupo"/>
          <p:cNvGrpSpPr/>
          <p:nvPr/>
        </p:nvGrpSpPr>
        <p:grpSpPr>
          <a:xfrm>
            <a:off x="6715140" y="4429132"/>
            <a:ext cx="285752" cy="214314"/>
            <a:chOff x="7500958" y="5429264"/>
            <a:chExt cx="285752" cy="214314"/>
          </a:xfrm>
        </p:grpSpPr>
        <p:sp>
          <p:nvSpPr>
            <p:cNvPr id="24" name="23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5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7" name="25 Grupo"/>
          <p:cNvGrpSpPr/>
          <p:nvPr/>
        </p:nvGrpSpPr>
        <p:grpSpPr>
          <a:xfrm>
            <a:off x="6715140" y="4714884"/>
            <a:ext cx="285752" cy="214314"/>
            <a:chOff x="7500958" y="5429264"/>
            <a:chExt cx="285752" cy="214314"/>
          </a:xfrm>
        </p:grpSpPr>
        <p:sp>
          <p:nvSpPr>
            <p:cNvPr id="27" name="26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8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9" name="28 CuadroTexto"/>
          <p:cNvSpPr txBox="1"/>
          <p:nvPr/>
        </p:nvSpPr>
        <p:spPr>
          <a:xfrm>
            <a:off x="6143636" y="5572140"/>
            <a:ext cx="114685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ES" b="1" dirty="0" smtClean="0"/>
              <a:t>Confirmar</a:t>
            </a:r>
            <a:endParaRPr lang="es-ES" b="1" dirty="0"/>
          </a:p>
        </p:txBody>
      </p:sp>
      <p:sp>
        <p:nvSpPr>
          <p:cNvPr id="30" name="29 CuadroTexto"/>
          <p:cNvSpPr txBox="1"/>
          <p:nvPr/>
        </p:nvSpPr>
        <p:spPr>
          <a:xfrm>
            <a:off x="1214414" y="6072206"/>
            <a:ext cx="7858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Deben aparecer todas las </a:t>
            </a:r>
            <a:r>
              <a:rPr lang="es-ES" sz="1200" dirty="0" err="1" smtClean="0"/>
              <a:t>guias</a:t>
            </a:r>
            <a:r>
              <a:rPr lang="es-ES" sz="1200" dirty="0" smtClean="0"/>
              <a:t> que el proveedor solicitó para el </a:t>
            </a:r>
            <a:r>
              <a:rPr lang="es-ES" sz="1200" dirty="0" err="1" smtClean="0"/>
              <a:t>reenvio</a:t>
            </a:r>
            <a:r>
              <a:rPr lang="es-ES" sz="1200" dirty="0" smtClean="0"/>
              <a:t>, las </a:t>
            </a:r>
            <a:r>
              <a:rPr lang="es-ES" sz="1200" dirty="0" err="1" smtClean="0"/>
              <a:t>guias</a:t>
            </a:r>
            <a:r>
              <a:rPr lang="es-ES" sz="1200" dirty="0" smtClean="0"/>
              <a:t> que no se detecte movimiento en una semana se deberán cancelar en automático.</a:t>
            </a:r>
          </a:p>
        </p:txBody>
      </p:sp>
      <p:sp>
        <p:nvSpPr>
          <p:cNvPr id="32" name="31 CuadroTexto"/>
          <p:cNvSpPr txBox="1"/>
          <p:nvPr/>
        </p:nvSpPr>
        <p:spPr>
          <a:xfrm>
            <a:off x="-45658" y="2161610"/>
            <a:ext cx="1428596" cy="2446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Manuales </a:t>
            </a:r>
            <a:r>
              <a:rPr lang="es-419" sz="900" b="1" dirty="0" smtClean="0">
                <a:solidFill>
                  <a:schemeClr val="bg1"/>
                </a:solidFill>
              </a:rPr>
              <a:t>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sp>
        <p:nvSpPr>
          <p:cNvPr id="33" name="32 CuadroTexto"/>
          <p:cNvSpPr txBox="1"/>
          <p:nvPr/>
        </p:nvSpPr>
        <p:spPr>
          <a:xfrm>
            <a:off x="3482346" y="59272"/>
            <a:ext cx="2211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</a:t>
            </a:r>
            <a:r>
              <a:rPr lang="es-ES" b="1" dirty="0" smtClean="0"/>
              <a:t>CEDIS WMS</a:t>
            </a:r>
            <a:endParaRPr lang="es-E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" name="5 CuadroTexto"/>
          <p:cNvSpPr txBox="1"/>
          <p:nvPr/>
        </p:nvSpPr>
        <p:spPr>
          <a:xfrm>
            <a:off x="2285984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Estatus de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</a:rPr>
              <a:t>guias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 de envíos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3"/>
          <a:srcRect l="17569" t="14392" r="57724" b="80571"/>
          <a:stretch>
            <a:fillRect/>
          </a:stretch>
        </p:blipFill>
        <p:spPr bwMode="auto">
          <a:xfrm>
            <a:off x="1571604" y="2143116"/>
            <a:ext cx="373956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13 CuadroTexto"/>
          <p:cNvSpPr txBox="1"/>
          <p:nvPr/>
        </p:nvSpPr>
        <p:spPr>
          <a:xfrm>
            <a:off x="6099824" y="5274246"/>
            <a:ext cx="2687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 smtClean="0"/>
              <a:t>Click</a:t>
            </a:r>
            <a:r>
              <a:rPr lang="es-ES" dirty="0" smtClean="0"/>
              <a:t> en </a:t>
            </a:r>
            <a:r>
              <a:rPr lang="es-ES" dirty="0" err="1" smtClean="0"/>
              <a:t>guia</a:t>
            </a:r>
            <a:r>
              <a:rPr lang="es-ES" dirty="0" smtClean="0"/>
              <a:t> para imprimir</a:t>
            </a:r>
            <a:endParaRPr lang="es-ES" dirty="0"/>
          </a:p>
        </p:txBody>
      </p:sp>
      <p:graphicFrame>
        <p:nvGraphicFramePr>
          <p:cNvPr id="15" name="14 Tabla"/>
          <p:cNvGraphicFramePr>
            <a:graphicFrameLocks noGrp="1"/>
          </p:cNvGraphicFramePr>
          <p:nvPr/>
        </p:nvGraphicFramePr>
        <p:xfrm>
          <a:off x="1524000" y="2911190"/>
          <a:ext cx="7334277" cy="2018008"/>
        </p:xfrm>
        <a:graphic>
          <a:graphicData uri="http://schemas.openxmlformats.org/drawingml/2006/table">
            <a:tbl>
              <a:tblPr/>
              <a:tblGrid>
                <a:gridCol w="683820"/>
                <a:gridCol w="929277"/>
                <a:gridCol w="1064751"/>
                <a:gridCol w="572271"/>
                <a:gridCol w="591128"/>
                <a:gridCol w="1235996"/>
                <a:gridCol w="752346"/>
                <a:gridCol w="752344"/>
                <a:gridCol w="752344"/>
              </a:tblGrid>
              <a:tr h="47010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Numero de </a:t>
                      </a:r>
                      <a:r>
                        <a:rPr lang="es-ES" sz="1000" b="1" i="0" u="none" strike="noStrike" dirty="0" err="1" smtClean="0">
                          <a:solidFill>
                            <a:srgbClr val="FFFFFF"/>
                          </a:solidFill>
                          <a:latin typeface="Calibri"/>
                        </a:rPr>
                        <a:t>Consignacion</a:t>
                      </a:r>
                      <a:r>
                        <a:rPr lang="es-ES" sz="10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Tipo almacén</a:t>
                      </a:r>
                      <a:endParaRPr lang="es-419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Fecha y hora de creación de la orden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Tipo de Guia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Paqueteria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Número de la Guia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Estatus de la guia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Fecha de entrega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Nombre</a:t>
                      </a:r>
                      <a:r>
                        <a:rPr lang="es-ES" sz="1000" b="1" i="0" u="none" strike="noStrike" baseline="0" dirty="0" smtClean="0">
                          <a:solidFill>
                            <a:srgbClr val="FFFFFF"/>
                          </a:solidFill>
                          <a:latin typeface="Calibri"/>
                        </a:rPr>
                        <a:t> de quien </a:t>
                      </a:r>
                      <a:r>
                        <a:rPr lang="es-ES" sz="1000" b="1" i="0" u="none" strike="noStrike" baseline="0" dirty="0" err="1" smtClean="0">
                          <a:solidFill>
                            <a:srgbClr val="FFFFFF"/>
                          </a:solidFill>
                          <a:latin typeface="Calibri"/>
                        </a:rPr>
                        <a:t>recibio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DSV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Envio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 dirty="0" smtClean="0">
                          <a:solidFill>
                            <a:srgbClr val="0F253F"/>
                          </a:solidFill>
                          <a:latin typeface="Calibri"/>
                        </a:rPr>
                        <a:t>456273567230000000</a:t>
                      </a:r>
                      <a:endParaRPr lang="es-ES" sz="1000" b="0" i="0" u="sng" strike="noStrike" dirty="0">
                        <a:solidFill>
                          <a:srgbClr val="0F253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tránsito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DST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Envio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 dirty="0" smtClean="0">
                          <a:solidFill>
                            <a:srgbClr val="0F253F"/>
                          </a:solidFill>
                          <a:latin typeface="Calibri"/>
                        </a:rPr>
                        <a:t>432346213400000000</a:t>
                      </a:r>
                      <a:endParaRPr lang="es-ES" sz="1000" b="0" i="0" u="sng" strike="noStrike" dirty="0">
                        <a:solidFill>
                          <a:srgbClr val="0F253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Entregada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WMS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smtClean="0">
                          <a:solidFill>
                            <a:srgbClr val="000000"/>
                          </a:solidFill>
                          <a:latin typeface="Calibri"/>
                        </a:rPr>
                        <a:t>Envio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DHL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 dirty="0" smtClean="0">
                          <a:solidFill>
                            <a:srgbClr val="0F253F"/>
                          </a:solidFill>
                          <a:latin typeface="Calibri"/>
                        </a:rPr>
                        <a:t>278888888880000000</a:t>
                      </a:r>
                      <a:endParaRPr lang="es-ES" sz="1000" b="0" i="0" u="sng" strike="noStrike" dirty="0">
                        <a:solidFill>
                          <a:srgbClr val="0F253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Almacén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76843423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28-feb-21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smtClean="0">
                          <a:solidFill>
                            <a:srgbClr val="000000"/>
                          </a:solidFill>
                          <a:latin typeface="Calibri"/>
                        </a:rPr>
                        <a:t>Envio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ENVIO CLICK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 dirty="0" smtClean="0">
                          <a:solidFill>
                            <a:srgbClr val="0F253F"/>
                          </a:solidFill>
                          <a:latin typeface="Calibri"/>
                        </a:rPr>
                        <a:t>434567898230000000</a:t>
                      </a:r>
                      <a:endParaRPr lang="es-ES" sz="1000" b="0" i="0" u="sng" strike="noStrike" dirty="0">
                        <a:solidFill>
                          <a:srgbClr val="0F253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Cancelada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78965433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27-feb-21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</a:rPr>
                        <a:t>Envio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 dirty="0" smtClean="0">
                          <a:solidFill>
                            <a:srgbClr val="0F253F"/>
                          </a:solidFill>
                          <a:latin typeface="Calibri"/>
                        </a:rPr>
                        <a:t>434567898230000000</a:t>
                      </a:r>
                      <a:endParaRPr lang="es-ES" sz="1000" b="0" i="0" u="sng" strike="noStrike" dirty="0">
                        <a:solidFill>
                          <a:srgbClr val="0F253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Entregada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-45658" y="2161610"/>
            <a:ext cx="1428596" cy="2446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Manuales </a:t>
            </a:r>
            <a:r>
              <a:rPr lang="es-419" sz="900" b="1" dirty="0" smtClean="0">
                <a:solidFill>
                  <a:schemeClr val="bg1"/>
                </a:solidFill>
              </a:rPr>
              <a:t>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3482346" y="59272"/>
            <a:ext cx="2211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</a:t>
            </a:r>
            <a:r>
              <a:rPr lang="es-ES" b="1" dirty="0" smtClean="0"/>
              <a:t>CEDIS WMS</a:t>
            </a:r>
            <a:endParaRPr lang="es-E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" name="5 CuadroTexto"/>
          <p:cNvSpPr txBox="1"/>
          <p:nvPr/>
        </p:nvSpPr>
        <p:spPr>
          <a:xfrm>
            <a:off x="2285984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Estatus de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</a:rPr>
              <a:t>guias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 de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</a:rPr>
              <a:t>Reenvio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3"/>
          <a:srcRect l="17569" t="14392" r="57724" b="80571"/>
          <a:stretch>
            <a:fillRect/>
          </a:stretch>
        </p:blipFill>
        <p:spPr bwMode="auto">
          <a:xfrm>
            <a:off x="1571604" y="2143116"/>
            <a:ext cx="373956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13 CuadroTexto"/>
          <p:cNvSpPr txBox="1"/>
          <p:nvPr/>
        </p:nvSpPr>
        <p:spPr>
          <a:xfrm>
            <a:off x="6099824" y="5274246"/>
            <a:ext cx="2687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 smtClean="0"/>
              <a:t>Click</a:t>
            </a:r>
            <a:r>
              <a:rPr lang="es-ES" dirty="0" smtClean="0"/>
              <a:t> en </a:t>
            </a:r>
            <a:r>
              <a:rPr lang="es-ES" dirty="0" err="1" smtClean="0"/>
              <a:t>guia</a:t>
            </a:r>
            <a:r>
              <a:rPr lang="es-ES" dirty="0" smtClean="0"/>
              <a:t> para imprimir</a:t>
            </a:r>
            <a:endParaRPr lang="es-ES" dirty="0"/>
          </a:p>
        </p:txBody>
      </p:sp>
      <p:graphicFrame>
        <p:nvGraphicFramePr>
          <p:cNvPr id="11" name="10 Tabla"/>
          <p:cNvGraphicFramePr>
            <a:graphicFrameLocks noGrp="1"/>
          </p:cNvGraphicFramePr>
          <p:nvPr/>
        </p:nvGraphicFramePr>
        <p:xfrm>
          <a:off x="1524000" y="2911192"/>
          <a:ext cx="7334278" cy="2157505"/>
        </p:xfrm>
        <a:graphic>
          <a:graphicData uri="http://schemas.openxmlformats.org/drawingml/2006/table">
            <a:tbl>
              <a:tblPr/>
              <a:tblGrid>
                <a:gridCol w="548346"/>
                <a:gridCol w="584244"/>
                <a:gridCol w="1089869"/>
                <a:gridCol w="705209"/>
                <a:gridCol w="576990"/>
                <a:gridCol w="1572586"/>
                <a:gridCol w="752346"/>
                <a:gridCol w="752344"/>
                <a:gridCol w="752344"/>
              </a:tblGrid>
              <a:tr h="47010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Numero de </a:t>
                      </a:r>
                      <a:r>
                        <a:rPr lang="es-ES" sz="10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Consignación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Tipo Almacén</a:t>
                      </a:r>
                      <a:endParaRPr lang="es-419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Fecha y hora de creación de la orden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Tipo de Guia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Paqueteria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Número de la Guia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Estatus de la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guia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Fecha de entrega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Nombre de Quien </a:t>
                      </a:r>
                      <a:r>
                        <a:rPr lang="es-ES" sz="1000" b="1" i="0" u="none" strike="noStrike" dirty="0" err="1" smtClean="0">
                          <a:solidFill>
                            <a:srgbClr val="FFFFFF"/>
                          </a:solidFill>
                          <a:latin typeface="Calibri"/>
                        </a:rPr>
                        <a:t>recibio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DSV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smtClean="0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tránsito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DST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smtClean="0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45367323456213400000000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Entregada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DST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smtClean="0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DHL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2534678888888880000000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Almacén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76843423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28-feb-21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smtClean="0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ENVIO CLICK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Cancelada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78965433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27-feb-21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Entregada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11 CuadroTexto"/>
          <p:cNvSpPr txBox="1"/>
          <p:nvPr/>
        </p:nvSpPr>
        <p:spPr>
          <a:xfrm>
            <a:off x="-45658" y="2161610"/>
            <a:ext cx="1428596" cy="2446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Manuales </a:t>
            </a:r>
            <a:r>
              <a:rPr lang="es-419" sz="900" b="1" dirty="0" smtClean="0">
                <a:solidFill>
                  <a:schemeClr val="bg1"/>
                </a:solidFill>
              </a:rPr>
              <a:t>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sp>
        <p:nvSpPr>
          <p:cNvPr id="15" name="14 CuadroTexto"/>
          <p:cNvSpPr txBox="1"/>
          <p:nvPr/>
        </p:nvSpPr>
        <p:spPr>
          <a:xfrm>
            <a:off x="3482346" y="59272"/>
            <a:ext cx="2211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</a:t>
            </a:r>
            <a:r>
              <a:rPr lang="es-ES" b="1" dirty="0" smtClean="0"/>
              <a:t>CEDIS WMS</a:t>
            </a:r>
            <a:endParaRPr lang="es-E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" name="5 CuadroTexto"/>
          <p:cNvSpPr txBox="1"/>
          <p:nvPr/>
        </p:nvSpPr>
        <p:spPr>
          <a:xfrm>
            <a:off x="2357422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Proceso de Devoluciones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14" name="13 Tabla"/>
          <p:cNvGraphicFramePr>
            <a:graphicFrameLocks noGrp="1"/>
          </p:cNvGraphicFramePr>
          <p:nvPr/>
        </p:nvGraphicFramePr>
        <p:xfrm>
          <a:off x="1428728" y="1928802"/>
          <a:ext cx="7262840" cy="1888889"/>
        </p:xfrm>
        <a:graphic>
          <a:graphicData uri="http://schemas.openxmlformats.org/drawingml/2006/table">
            <a:tbl>
              <a:tblPr/>
              <a:tblGrid>
                <a:gridCol w="610109"/>
                <a:gridCol w="874489"/>
                <a:gridCol w="587104"/>
                <a:gridCol w="857256"/>
                <a:gridCol w="721527"/>
                <a:gridCol w="1395625"/>
                <a:gridCol w="742299"/>
                <a:gridCol w="610109"/>
                <a:gridCol w="864322"/>
              </a:tblGrid>
              <a:tr h="558429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Numero de orden 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Fecha y hora de creación de la orden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Solicitud</a:t>
                      </a:r>
                      <a:r>
                        <a:rPr lang="es-ES" sz="900" b="1" i="0" u="none" strike="noStrike" baseline="0" dirty="0" smtClean="0">
                          <a:solidFill>
                            <a:srgbClr val="FFFFFF"/>
                          </a:solidFill>
                          <a:latin typeface="Calibri"/>
                        </a:rPr>
                        <a:t> RMA</a:t>
                      </a:r>
                      <a:endParaRPr lang="es-ES" sz="9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Motivo</a:t>
                      </a:r>
                      <a:r>
                        <a:rPr lang="es-ES" sz="900" b="1" i="0" u="none" strike="noStrike" baseline="0" dirty="0" smtClean="0">
                          <a:solidFill>
                            <a:srgbClr val="FFFFFF"/>
                          </a:solidFill>
                          <a:latin typeface="Calibri"/>
                        </a:rPr>
                        <a:t> RMA</a:t>
                      </a:r>
                      <a:endParaRPr lang="es-ES" sz="9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Paqueteria</a:t>
                      </a:r>
                      <a:endParaRPr lang="es-ES" sz="9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Número de la Guia de devolución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Estatus de la guia de devolución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Fecha de entrega al almacén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Recibido por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255946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Daño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tránsito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5946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Robo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45367323456213400000000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Entregada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13-mar-21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SOE: Alberto Juarez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5946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</a:rPr>
                        <a:t>Extravio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DHL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2534678888888880000000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Almacén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5946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76843423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28-feb-21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Daño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ENVIO CLICK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Cancelada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5946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78965433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27-feb-21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Faltante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Entregada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10-mar-21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SOE: Alberto 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Juarez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" name="14 CuadroTexto"/>
          <p:cNvSpPr txBox="1"/>
          <p:nvPr/>
        </p:nvSpPr>
        <p:spPr>
          <a:xfrm>
            <a:off x="2357422" y="3857628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Recibo de Devoluciones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17" name="16 Tabla"/>
          <p:cNvGraphicFramePr>
            <a:graphicFrameLocks noGrp="1"/>
          </p:cNvGraphicFramePr>
          <p:nvPr/>
        </p:nvGraphicFramePr>
        <p:xfrm>
          <a:off x="1357290" y="4214818"/>
          <a:ext cx="7572429" cy="2000262"/>
        </p:xfrm>
        <a:graphic>
          <a:graphicData uri="http://schemas.openxmlformats.org/drawingml/2006/table">
            <a:tbl>
              <a:tblPr/>
              <a:tblGrid>
                <a:gridCol w="737574"/>
                <a:gridCol w="1057190"/>
                <a:gridCol w="919880"/>
                <a:gridCol w="785818"/>
                <a:gridCol w="1846952"/>
                <a:gridCol w="749867"/>
                <a:gridCol w="1475148"/>
              </a:tblGrid>
              <a:tr h="320042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RMA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Descipción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Piezas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Número de la Guia de devolución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Condiciones de paquete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Recibo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42005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Dañado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005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buen estado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005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1112346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Abanico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2534678888888880000000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Dañado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005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1112875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Refrigerador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Dañado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pSp>
        <p:nvGrpSpPr>
          <p:cNvPr id="4" name="18 Grupo"/>
          <p:cNvGrpSpPr/>
          <p:nvPr/>
        </p:nvGrpSpPr>
        <p:grpSpPr>
          <a:xfrm>
            <a:off x="8001024" y="4572008"/>
            <a:ext cx="285752" cy="214314"/>
            <a:chOff x="7500958" y="5429264"/>
            <a:chExt cx="285752" cy="214314"/>
          </a:xfrm>
        </p:grpSpPr>
        <p:sp>
          <p:nvSpPr>
            <p:cNvPr id="19" name="18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0" name="Picture 5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5" name="18 Grupo"/>
          <p:cNvGrpSpPr/>
          <p:nvPr/>
        </p:nvGrpSpPr>
        <p:grpSpPr>
          <a:xfrm>
            <a:off x="8001024" y="4929198"/>
            <a:ext cx="285752" cy="214314"/>
            <a:chOff x="7500958" y="5429264"/>
            <a:chExt cx="285752" cy="214314"/>
          </a:xfrm>
        </p:grpSpPr>
        <p:sp>
          <p:nvSpPr>
            <p:cNvPr id="22" name="21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3" name="Picture 5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7" name="18 Grupo"/>
          <p:cNvGrpSpPr/>
          <p:nvPr/>
        </p:nvGrpSpPr>
        <p:grpSpPr>
          <a:xfrm>
            <a:off x="8001024" y="5357826"/>
            <a:ext cx="285752" cy="214314"/>
            <a:chOff x="7500958" y="5429264"/>
            <a:chExt cx="285752" cy="214314"/>
          </a:xfrm>
        </p:grpSpPr>
        <p:sp>
          <p:nvSpPr>
            <p:cNvPr id="25" name="24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6" name="Picture 5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8" name="18 Grupo"/>
          <p:cNvGrpSpPr/>
          <p:nvPr/>
        </p:nvGrpSpPr>
        <p:grpSpPr>
          <a:xfrm>
            <a:off x="8001024" y="5857892"/>
            <a:ext cx="285752" cy="214314"/>
            <a:chOff x="7500958" y="5429264"/>
            <a:chExt cx="285752" cy="214314"/>
          </a:xfrm>
        </p:grpSpPr>
        <p:sp>
          <p:nvSpPr>
            <p:cNvPr id="28" name="27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9" name="Picture 5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30" name="29 CuadroTexto"/>
          <p:cNvSpPr txBox="1"/>
          <p:nvPr/>
        </p:nvSpPr>
        <p:spPr>
          <a:xfrm>
            <a:off x="6572264" y="6357958"/>
            <a:ext cx="226889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ES" b="1" dirty="0" smtClean="0"/>
              <a:t>Confirmar Devolución</a:t>
            </a:r>
            <a:endParaRPr lang="es-ES" b="1" dirty="0"/>
          </a:p>
        </p:txBody>
      </p:sp>
      <p:sp>
        <p:nvSpPr>
          <p:cNvPr id="24" name="23 CuadroTexto"/>
          <p:cNvSpPr txBox="1"/>
          <p:nvPr/>
        </p:nvSpPr>
        <p:spPr>
          <a:xfrm>
            <a:off x="-45658" y="2161610"/>
            <a:ext cx="1428596" cy="2446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Manuales </a:t>
            </a:r>
            <a:r>
              <a:rPr lang="es-419" sz="900" b="1" dirty="0" smtClean="0">
                <a:solidFill>
                  <a:schemeClr val="bg1"/>
                </a:solidFill>
              </a:rPr>
              <a:t>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sp>
        <p:nvSpPr>
          <p:cNvPr id="27" name="26 CuadroTexto"/>
          <p:cNvSpPr txBox="1"/>
          <p:nvPr/>
        </p:nvSpPr>
        <p:spPr>
          <a:xfrm>
            <a:off x="3482346" y="59272"/>
            <a:ext cx="2211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</a:t>
            </a:r>
            <a:r>
              <a:rPr lang="es-ES" b="1" dirty="0" smtClean="0"/>
              <a:t>CEDIS WMS</a:t>
            </a:r>
            <a:endParaRPr lang="es-E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" name="5 CuadroTexto"/>
          <p:cNvSpPr txBox="1"/>
          <p:nvPr/>
        </p:nvSpPr>
        <p:spPr>
          <a:xfrm>
            <a:off x="2357422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Proceso de Devoluciones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7" name="Picture 1"/>
          <p:cNvPicPr>
            <a:picLocks noChangeAspect="1" noChangeArrowheads="1"/>
          </p:cNvPicPr>
          <p:nvPr/>
        </p:nvPicPr>
        <p:blipFill>
          <a:blip r:embed="rId3"/>
          <a:srcRect l="17569" t="21484" r="37408" b="73633"/>
          <a:stretch>
            <a:fillRect/>
          </a:stretch>
        </p:blipFill>
        <p:spPr bwMode="auto">
          <a:xfrm>
            <a:off x="1428728" y="2000240"/>
            <a:ext cx="5857916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1" name="30 Tabla"/>
          <p:cNvGraphicFramePr>
            <a:graphicFrameLocks noGrp="1"/>
          </p:cNvGraphicFramePr>
          <p:nvPr/>
        </p:nvGraphicFramePr>
        <p:xfrm>
          <a:off x="1524000" y="2571744"/>
          <a:ext cx="6095999" cy="1563927"/>
        </p:xfrm>
        <a:graphic>
          <a:graphicData uri="http://schemas.openxmlformats.org/drawingml/2006/table">
            <a:tbl>
              <a:tblPr/>
              <a:tblGrid>
                <a:gridCol w="668665"/>
                <a:gridCol w="958420"/>
                <a:gridCol w="635232"/>
                <a:gridCol w="668665"/>
                <a:gridCol w="1147876"/>
                <a:gridCol w="679810"/>
                <a:gridCol w="1337331"/>
              </a:tblGrid>
              <a:tr h="329247"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RMA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Descipción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Piezas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8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Número de la Guia de devolución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Condiciones de paquete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Consfirmar reembolso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308670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Dañado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8670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buen estado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8670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1112346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Abanico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2534678888888880000000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Dañado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8670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1112875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Refrigerador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Dañado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pSp>
        <p:nvGrpSpPr>
          <p:cNvPr id="4" name="18 Grupo"/>
          <p:cNvGrpSpPr/>
          <p:nvPr/>
        </p:nvGrpSpPr>
        <p:grpSpPr>
          <a:xfrm>
            <a:off x="6715140" y="2992664"/>
            <a:ext cx="285752" cy="214314"/>
            <a:chOff x="7500958" y="5429264"/>
            <a:chExt cx="285752" cy="214314"/>
          </a:xfrm>
        </p:grpSpPr>
        <p:sp>
          <p:nvSpPr>
            <p:cNvPr id="33" name="32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34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5" name="18 Grupo"/>
          <p:cNvGrpSpPr/>
          <p:nvPr/>
        </p:nvGrpSpPr>
        <p:grpSpPr>
          <a:xfrm>
            <a:off x="6715140" y="3278416"/>
            <a:ext cx="285752" cy="214314"/>
            <a:chOff x="7500958" y="5429264"/>
            <a:chExt cx="285752" cy="214314"/>
          </a:xfrm>
        </p:grpSpPr>
        <p:sp>
          <p:nvSpPr>
            <p:cNvPr id="36" name="35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37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7" name="18 Grupo"/>
          <p:cNvGrpSpPr/>
          <p:nvPr/>
        </p:nvGrpSpPr>
        <p:grpSpPr>
          <a:xfrm>
            <a:off x="6715140" y="3564168"/>
            <a:ext cx="285752" cy="214314"/>
            <a:chOff x="7500958" y="5429264"/>
            <a:chExt cx="285752" cy="214314"/>
          </a:xfrm>
        </p:grpSpPr>
        <p:sp>
          <p:nvSpPr>
            <p:cNvPr id="39" name="38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40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8" name="18 Grupo"/>
          <p:cNvGrpSpPr/>
          <p:nvPr/>
        </p:nvGrpSpPr>
        <p:grpSpPr>
          <a:xfrm>
            <a:off x="6715140" y="3849920"/>
            <a:ext cx="285752" cy="214314"/>
            <a:chOff x="7500958" y="5429264"/>
            <a:chExt cx="285752" cy="214314"/>
          </a:xfrm>
        </p:grpSpPr>
        <p:sp>
          <p:nvSpPr>
            <p:cNvPr id="42" name="41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43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44" name="43 CuadroTexto"/>
          <p:cNvSpPr txBox="1"/>
          <p:nvPr/>
        </p:nvSpPr>
        <p:spPr>
          <a:xfrm>
            <a:off x="5429256" y="4357694"/>
            <a:ext cx="226235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ES" b="1" dirty="0" smtClean="0"/>
              <a:t>Confirmar Reembolso</a:t>
            </a:r>
            <a:endParaRPr lang="es-ES" b="1" dirty="0"/>
          </a:p>
        </p:txBody>
      </p:sp>
      <p:sp>
        <p:nvSpPr>
          <p:cNvPr id="24" name="23 CuadroTexto"/>
          <p:cNvSpPr txBox="1"/>
          <p:nvPr/>
        </p:nvSpPr>
        <p:spPr>
          <a:xfrm>
            <a:off x="-45658" y="2161610"/>
            <a:ext cx="1428596" cy="2446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Manuales </a:t>
            </a:r>
            <a:r>
              <a:rPr lang="es-419" sz="900" b="1" dirty="0" smtClean="0">
                <a:solidFill>
                  <a:schemeClr val="bg1"/>
                </a:solidFill>
              </a:rPr>
              <a:t>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sp>
        <p:nvSpPr>
          <p:cNvPr id="25" name="24 CuadroTexto"/>
          <p:cNvSpPr txBox="1"/>
          <p:nvPr/>
        </p:nvSpPr>
        <p:spPr>
          <a:xfrm>
            <a:off x="3482346" y="59272"/>
            <a:ext cx="2211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</a:t>
            </a:r>
            <a:r>
              <a:rPr lang="es-ES" b="1" dirty="0" smtClean="0"/>
              <a:t>CEDIS WMS</a:t>
            </a:r>
            <a:endParaRPr lang="es-E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428596" y="2535318"/>
            <a:ext cx="853656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600" b="1" dirty="0" smtClean="0"/>
              <a:t>VISTA ADMINISTRADOR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10" name="9 CuadroTexto"/>
          <p:cNvSpPr txBox="1"/>
          <p:nvPr/>
        </p:nvSpPr>
        <p:spPr>
          <a:xfrm>
            <a:off x="2143108" y="1428736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Almacenes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3" name="Picture 1"/>
          <p:cNvPicPr>
            <a:picLocks noChangeAspect="1" noChangeArrowheads="1"/>
          </p:cNvPicPr>
          <p:nvPr/>
        </p:nvPicPr>
        <p:blipFill>
          <a:blip r:embed="rId3"/>
          <a:srcRect l="17569" t="14392" r="57724" b="80571"/>
          <a:stretch>
            <a:fillRect/>
          </a:stretch>
        </p:blipFill>
        <p:spPr bwMode="auto">
          <a:xfrm>
            <a:off x="6143636" y="1928802"/>
            <a:ext cx="2739428" cy="313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4" name="13 Tabla"/>
          <p:cNvGraphicFramePr>
            <a:graphicFrameLocks noGrp="1"/>
          </p:cNvGraphicFramePr>
          <p:nvPr/>
        </p:nvGraphicFramePr>
        <p:xfrm>
          <a:off x="1500166" y="3333772"/>
          <a:ext cx="5499100" cy="3238500"/>
        </p:xfrm>
        <a:graphic>
          <a:graphicData uri="http://schemas.openxmlformats.org/drawingml/2006/table">
            <a:tbl>
              <a:tblPr/>
              <a:tblGrid>
                <a:gridCol w="1170224"/>
                <a:gridCol w="1360504"/>
                <a:gridCol w="2968372"/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Tipo_Almacen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Numero_de_Almacen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Nombre_de_Almacen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WMS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5688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Cedis México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21771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MOTODRIVE SA DE CV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327213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Merchandising Services S de RL de CV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21108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Regiomarcas Internacionales SA de CV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395053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Italika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396234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FGX LATIN AMERICA S DEL RL DE CV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12699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21378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SINBIOTIK INTERNACIONAL SA DE CV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20555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FEDELE SA DE CV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22312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Mumulife SAPI de CV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15692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HARES DE MEXICO S.A. DE C.V.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303718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DISTRIBUIDORA MEDICA HOME CARE, S.A. DE C.V.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21446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NEGOCIOS AVANTE SA DE CV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250296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OPERADORA DISA, S.A. DE C.V.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49502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INDUSTRIAS TAMER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21240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PERFUPLAZA S.A. DE C.V.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303684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SOLANUM PHARMA S. DE R.L. DE C.V.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20780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COMTEC IMPORTS SA DE CV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206466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SANTUL HERRAMIENTAS S.A DE C.V.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71233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STEREN PRODUCTO EMPACADO S.A. DE C.V.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" name="14 CuadroTexto"/>
          <p:cNvSpPr txBox="1"/>
          <p:nvPr/>
        </p:nvSpPr>
        <p:spPr>
          <a:xfrm>
            <a:off x="1357290" y="2214554"/>
            <a:ext cx="47870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smtClean="0"/>
              <a:t>Al momento de seleccionar el proveedor me debe mostrar el detalle de:</a:t>
            </a:r>
          </a:p>
          <a:p>
            <a:r>
              <a:rPr lang="es-ES" sz="1200" dirty="0" smtClean="0"/>
              <a:t>- Dirección dada de alta</a:t>
            </a:r>
          </a:p>
          <a:p>
            <a:r>
              <a:rPr lang="es-ES" sz="1200" dirty="0" smtClean="0"/>
              <a:t>- Usuario y contraseña</a:t>
            </a:r>
          </a:p>
          <a:p>
            <a:pPr>
              <a:buFontTx/>
              <a:buChar char="-"/>
            </a:pPr>
            <a:r>
              <a:rPr lang="es-ES" sz="1200" dirty="0" smtClean="0"/>
              <a:t>Actualización de Inventario</a:t>
            </a:r>
          </a:p>
          <a:p>
            <a:pPr>
              <a:buFontTx/>
              <a:buChar char="-"/>
            </a:pPr>
            <a:r>
              <a:rPr lang="es-ES" sz="1200" dirty="0" smtClean="0"/>
              <a:t>- Catálogo de mercancía y detalle de cada artículo e inventario disponible</a:t>
            </a:r>
          </a:p>
          <a:p>
            <a:r>
              <a:rPr lang="es-ES" sz="1200" dirty="0" smtClean="0"/>
              <a:t> </a:t>
            </a:r>
            <a:endParaRPr lang="es-ES" sz="1200" dirty="0"/>
          </a:p>
        </p:txBody>
      </p:sp>
      <p:sp>
        <p:nvSpPr>
          <p:cNvPr id="16" name="15 CuadroTexto"/>
          <p:cNvSpPr txBox="1"/>
          <p:nvPr/>
        </p:nvSpPr>
        <p:spPr>
          <a:xfrm>
            <a:off x="-45658" y="2161610"/>
            <a:ext cx="128913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Almacenes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Estatis de Ordenes 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de Compra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Nivel de existencias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Devoluciones</a:t>
            </a: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sp>
        <p:nvSpPr>
          <p:cNvPr id="17" name="16 CuadroTexto"/>
          <p:cNvSpPr txBox="1"/>
          <p:nvPr/>
        </p:nvSpPr>
        <p:spPr>
          <a:xfrm>
            <a:off x="3482346" y="59272"/>
            <a:ext cx="2770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ADMINISTRADOR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" name="5 CuadroTexto"/>
          <p:cNvSpPr txBox="1"/>
          <p:nvPr/>
        </p:nvSpPr>
        <p:spPr>
          <a:xfrm>
            <a:off x="2285984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Manuales Operativos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3482346" y="59272"/>
            <a:ext cx="2770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ADMINISTRADOR</a:t>
            </a:r>
          </a:p>
        </p:txBody>
      </p:sp>
      <p:sp>
        <p:nvSpPr>
          <p:cNvPr id="17" name="16 Rectángulo"/>
          <p:cNvSpPr/>
          <p:nvPr/>
        </p:nvSpPr>
        <p:spPr>
          <a:xfrm>
            <a:off x="2786050" y="2285992"/>
            <a:ext cx="3571900" cy="4286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17 Rectángulo"/>
          <p:cNvSpPr/>
          <p:nvPr/>
        </p:nvSpPr>
        <p:spPr>
          <a:xfrm>
            <a:off x="2786050" y="3000372"/>
            <a:ext cx="3571900" cy="4286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18 CuadroTexto"/>
          <p:cNvSpPr txBox="1"/>
          <p:nvPr/>
        </p:nvSpPr>
        <p:spPr>
          <a:xfrm>
            <a:off x="1571604" y="2285992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Dirigido a</a:t>
            </a:r>
            <a:endParaRPr lang="es-ES" dirty="0"/>
          </a:p>
        </p:txBody>
      </p:sp>
      <p:sp>
        <p:nvSpPr>
          <p:cNvPr id="20" name="19 CuadroTexto"/>
          <p:cNvSpPr txBox="1"/>
          <p:nvPr/>
        </p:nvSpPr>
        <p:spPr>
          <a:xfrm>
            <a:off x="2857488" y="2285992"/>
            <a:ext cx="1609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DSV, DST, WMS</a:t>
            </a:r>
            <a:endParaRPr lang="es-ES" dirty="0"/>
          </a:p>
        </p:txBody>
      </p:sp>
      <p:sp>
        <p:nvSpPr>
          <p:cNvPr id="21" name="20 CuadroTexto"/>
          <p:cNvSpPr txBox="1"/>
          <p:nvPr/>
        </p:nvSpPr>
        <p:spPr>
          <a:xfrm>
            <a:off x="1571604" y="2988230"/>
            <a:ext cx="1052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Examinar</a:t>
            </a:r>
            <a:endParaRPr lang="es-ES" dirty="0"/>
          </a:p>
        </p:txBody>
      </p:sp>
      <p:sp>
        <p:nvSpPr>
          <p:cNvPr id="22" name="21 CuadroTexto"/>
          <p:cNvSpPr txBox="1"/>
          <p:nvPr/>
        </p:nvSpPr>
        <p:spPr>
          <a:xfrm>
            <a:off x="6448426" y="3000372"/>
            <a:ext cx="1559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Cargar Manual</a:t>
            </a:r>
            <a:endParaRPr lang="es-ES" dirty="0"/>
          </a:p>
        </p:txBody>
      </p:sp>
      <p:sp>
        <p:nvSpPr>
          <p:cNvPr id="23" name="22 CuadroTexto"/>
          <p:cNvSpPr txBox="1"/>
          <p:nvPr/>
        </p:nvSpPr>
        <p:spPr>
          <a:xfrm>
            <a:off x="6215074" y="4514687"/>
            <a:ext cx="26432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b="1" dirty="0" smtClean="0"/>
              <a:t>Ver Manuales</a:t>
            </a:r>
          </a:p>
          <a:p>
            <a:pPr algn="r"/>
            <a:r>
              <a:rPr lang="es-ES" u="sng" dirty="0" smtClean="0"/>
              <a:t>DSV</a:t>
            </a:r>
          </a:p>
          <a:p>
            <a:pPr algn="r"/>
            <a:r>
              <a:rPr lang="es-ES" u="sng" dirty="0" smtClean="0"/>
              <a:t>DST</a:t>
            </a:r>
          </a:p>
          <a:p>
            <a:pPr algn="r"/>
            <a:r>
              <a:rPr lang="es-ES" u="sng" dirty="0" smtClean="0"/>
              <a:t>WMS</a:t>
            </a:r>
          </a:p>
        </p:txBody>
      </p:sp>
      <p:sp>
        <p:nvSpPr>
          <p:cNvPr id="15" name="14 CuadroTexto"/>
          <p:cNvSpPr txBox="1"/>
          <p:nvPr/>
        </p:nvSpPr>
        <p:spPr>
          <a:xfrm>
            <a:off x="-45658" y="2161610"/>
            <a:ext cx="128913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Almacenes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Estatis de Ordenes 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de Compra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Nivel de existencias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Devoluciones</a:t>
            </a: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" name="5 CuadroTexto"/>
          <p:cNvSpPr txBox="1"/>
          <p:nvPr/>
        </p:nvSpPr>
        <p:spPr>
          <a:xfrm>
            <a:off x="2285984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Actualizaciones de Inventario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23 CuadroTexto"/>
          <p:cNvSpPr txBox="1"/>
          <p:nvPr/>
        </p:nvSpPr>
        <p:spPr>
          <a:xfrm>
            <a:off x="1357290" y="2139727"/>
            <a:ext cx="742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Debe tener una opción para descargar todos los proveedores que actualizan</a:t>
            </a:r>
            <a:endParaRPr lang="es-ES" dirty="0"/>
          </a:p>
        </p:txBody>
      </p:sp>
      <p:graphicFrame>
        <p:nvGraphicFramePr>
          <p:cNvPr id="25" name="24 Tabla"/>
          <p:cNvGraphicFramePr>
            <a:graphicFrameLocks noGrp="1"/>
          </p:cNvGraphicFramePr>
          <p:nvPr/>
        </p:nvGraphicFramePr>
        <p:xfrm>
          <a:off x="1500166" y="2714620"/>
          <a:ext cx="3619499" cy="2943225"/>
        </p:xfrm>
        <a:graphic>
          <a:graphicData uri="http://schemas.openxmlformats.org/drawingml/2006/table">
            <a:tbl>
              <a:tblPr/>
              <a:tblGrid>
                <a:gridCol w="903290"/>
                <a:gridCol w="903290"/>
                <a:gridCol w="938154"/>
                <a:gridCol w="874765"/>
              </a:tblGrid>
              <a:tr h="45720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Código de Almacén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Almacén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Fecha de actualización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Códigos Totales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14482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Modermo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5/3/2021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378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Super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Flama S.A. de C.V.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2/3/2021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394593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Singer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1/3/2021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395053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Italika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5/3/2021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20751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TBC DE MEXICO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8/3/2021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20554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Importadora SAFI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2/3/2021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21125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Comercial Encanto, S.A. de C.V.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2/3/2021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27 CuadroTexto"/>
          <p:cNvSpPr txBox="1"/>
          <p:nvPr/>
        </p:nvSpPr>
        <p:spPr>
          <a:xfrm>
            <a:off x="3482346" y="59272"/>
            <a:ext cx="2770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ADMINISTRADOR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-45658" y="2161610"/>
            <a:ext cx="128913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Almacenes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Estatis de Ordenes 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de Compra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Nivel de existencias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Devoluciones</a:t>
            </a: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aphicFrame>
        <p:nvGraphicFramePr>
          <p:cNvPr id="9" name="8 Tabla"/>
          <p:cNvGraphicFramePr>
            <a:graphicFrameLocks noGrp="1"/>
          </p:cNvGraphicFramePr>
          <p:nvPr/>
        </p:nvGraphicFramePr>
        <p:xfrm>
          <a:off x="1357290" y="2009902"/>
          <a:ext cx="7191406" cy="1490536"/>
        </p:xfrm>
        <a:graphic>
          <a:graphicData uri="http://schemas.openxmlformats.org/drawingml/2006/table">
            <a:tbl>
              <a:tblPr/>
              <a:tblGrid>
                <a:gridCol w="742914"/>
                <a:gridCol w="742914"/>
                <a:gridCol w="742914"/>
                <a:gridCol w="594331"/>
                <a:gridCol w="1040079"/>
                <a:gridCol w="733008"/>
                <a:gridCol w="970741"/>
                <a:gridCol w="594331"/>
                <a:gridCol w="1030174"/>
              </a:tblGrid>
              <a:tr h="558951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Numero de </a:t>
                      </a:r>
                      <a:r>
                        <a:rPr lang="es-ES" sz="7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Consignación</a:t>
                      </a:r>
                      <a:endParaRPr lang="es-ES" sz="7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 dirty="0" err="1" smtClean="0">
                          <a:solidFill>
                            <a:srgbClr val="FFFFFF"/>
                          </a:solidFill>
                          <a:latin typeface="Calibri"/>
                        </a:rPr>
                        <a:t>Totald</a:t>
                      </a:r>
                      <a:r>
                        <a:rPr lang="es-ES" sz="700" b="0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 e la consignación</a:t>
                      </a:r>
                      <a:endParaRPr lang="es-ES" sz="700" b="0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Tipo de Almacén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700" b="0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Fecha y hora de creación de la orden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Nombre del cliente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Estatus de la orden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Estatus de la Consignación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700" b="0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Numero de Orden de Compra  </a:t>
                      </a:r>
                      <a:br>
                        <a:rPr lang="es-419" sz="700" b="0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</a:br>
                      <a:r>
                        <a:rPr lang="es-419" sz="700" b="0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(Solo DSV)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7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Estatus de Orden de compra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186317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7345672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$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WMS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28-ene-21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Susana Vargas Miranda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Pago Autorizado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espera de recolección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567899876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programación de pago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6317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7632453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$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WMS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Susana Vargas Miranda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Pago Autorizado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espera de recolección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567899876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programación de pago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6317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7324518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$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WMS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28-feb-21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Susana Vargas Miranda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Pago Autorizado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espera de recolección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567899876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programación de pago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6317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7869234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$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DSV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28-ene-21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Susana Vargas Miranda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Pago Autorizado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espera de recolección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567899876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programación de pago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6317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7123745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$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DST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28-ene-21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Susana Vargas Miranda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Pago Autorizado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espera de recolección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567899876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En programación de pago</a:t>
                      </a:r>
                    </a:p>
                  </a:txBody>
                  <a:tcPr marL="7023" marR="7023" marT="7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" name="9 CuadroTexto"/>
          <p:cNvSpPr txBox="1"/>
          <p:nvPr/>
        </p:nvSpPr>
        <p:spPr>
          <a:xfrm>
            <a:off x="2285984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Consignaciones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10 CuadroTexto"/>
          <p:cNvSpPr txBox="1"/>
          <p:nvPr/>
        </p:nvSpPr>
        <p:spPr>
          <a:xfrm>
            <a:off x="2500298" y="3702610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Detalle de la Consignación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13" name="12 Tabla"/>
          <p:cNvGraphicFramePr>
            <a:graphicFrameLocks noGrp="1"/>
          </p:cNvGraphicFramePr>
          <p:nvPr/>
        </p:nvGraphicFramePr>
        <p:xfrm>
          <a:off x="1357290" y="4714884"/>
          <a:ext cx="7500991" cy="1528745"/>
        </p:xfrm>
        <a:graphic>
          <a:graphicData uri="http://schemas.openxmlformats.org/drawingml/2006/table">
            <a:tbl>
              <a:tblPr/>
              <a:tblGrid>
                <a:gridCol w="595139"/>
                <a:gridCol w="833755"/>
                <a:gridCol w="741115"/>
                <a:gridCol w="766381"/>
                <a:gridCol w="808490"/>
                <a:gridCol w="766381"/>
                <a:gridCol w="800069"/>
                <a:gridCol w="842177"/>
                <a:gridCol w="673742"/>
                <a:gridCol w="673742"/>
              </a:tblGrid>
              <a:tr h="582086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Descipción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Piezas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Costo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Peso volumético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000" b="0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Dias de surtido desde la creacion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000" b="0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Dias de surtido desde la autorización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Fecha de envio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RMA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Estatus del RMA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211668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1234567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Refrigerador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$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6855" marR="6855" marT="68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Completado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1668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1234567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Locion Dama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$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6855" marR="6855" marT="68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Completado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1668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1234567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Locion Niño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$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6855" marR="6855" marT="68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Completado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1668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1234567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Locion Caballero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$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6855" marR="6855" marT="68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Completado</a:t>
                      </a:r>
                    </a:p>
                  </a:txBody>
                  <a:tcPr marL="6855" marR="6855" marT="68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" name="13 CuadroTexto"/>
          <p:cNvSpPr txBox="1"/>
          <p:nvPr/>
        </p:nvSpPr>
        <p:spPr>
          <a:xfrm>
            <a:off x="1285852" y="4089448"/>
            <a:ext cx="25787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500" dirty="0" smtClean="0"/>
              <a:t>Numero y nombre de Almacén</a:t>
            </a:r>
          </a:p>
          <a:p>
            <a:r>
              <a:rPr lang="es-ES" sz="1500" dirty="0" smtClean="0"/>
              <a:t>Ejemplo, 5688 Cedis MÉXICO </a:t>
            </a:r>
            <a:endParaRPr lang="es-ES" sz="1500" dirty="0"/>
          </a:p>
        </p:txBody>
      </p:sp>
      <p:sp>
        <p:nvSpPr>
          <p:cNvPr id="15" name="14 CuadroTexto"/>
          <p:cNvSpPr txBox="1"/>
          <p:nvPr/>
        </p:nvSpPr>
        <p:spPr>
          <a:xfrm>
            <a:off x="6000760" y="1428736"/>
            <a:ext cx="31432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smtClean="0"/>
              <a:t>Debe tener una opción para </a:t>
            </a:r>
            <a:r>
              <a:rPr lang="es-ES" sz="1000" dirty="0" err="1" smtClean="0"/>
              <a:t>descaragr</a:t>
            </a:r>
            <a:r>
              <a:rPr lang="es-ES" sz="1000" dirty="0" smtClean="0"/>
              <a:t> toda la </a:t>
            </a:r>
            <a:r>
              <a:rPr lang="es-ES" sz="1000" dirty="0" err="1" smtClean="0"/>
              <a:t>informacion</a:t>
            </a:r>
            <a:r>
              <a:rPr lang="es-ES" sz="1000" dirty="0" smtClean="0"/>
              <a:t> de las ordenes generadas y sus estatus por fechas</a:t>
            </a:r>
            <a:endParaRPr lang="es-ES" sz="1000" dirty="0"/>
          </a:p>
        </p:txBody>
      </p:sp>
      <p:sp>
        <p:nvSpPr>
          <p:cNvPr id="17" name="16 CuadroTexto"/>
          <p:cNvSpPr txBox="1"/>
          <p:nvPr/>
        </p:nvSpPr>
        <p:spPr>
          <a:xfrm>
            <a:off x="3482346" y="59272"/>
            <a:ext cx="2770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ADMINISTRADOR</a:t>
            </a:r>
          </a:p>
        </p:txBody>
      </p:sp>
      <p:sp>
        <p:nvSpPr>
          <p:cNvPr id="18" name="17 CuadroTexto"/>
          <p:cNvSpPr txBox="1"/>
          <p:nvPr/>
        </p:nvSpPr>
        <p:spPr>
          <a:xfrm>
            <a:off x="-45658" y="2161610"/>
            <a:ext cx="128913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Almacenes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Estatis de Ordenes 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de Compra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Nivel de existencias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Devoluciones</a:t>
            </a: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10" name="9 CuadroTexto"/>
          <p:cNvSpPr txBox="1"/>
          <p:nvPr/>
        </p:nvSpPr>
        <p:spPr>
          <a:xfrm>
            <a:off x="2285984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Estatus de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</a:rPr>
              <a:t>Reenvio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 de mercancía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12" name="11 Tabla"/>
          <p:cNvGraphicFramePr>
            <a:graphicFrameLocks noGrp="1"/>
          </p:cNvGraphicFramePr>
          <p:nvPr/>
        </p:nvGraphicFramePr>
        <p:xfrm>
          <a:off x="1357287" y="2115422"/>
          <a:ext cx="7500993" cy="1527892"/>
        </p:xfrm>
        <a:graphic>
          <a:graphicData uri="http://schemas.openxmlformats.org/drawingml/2006/table">
            <a:tbl>
              <a:tblPr/>
              <a:tblGrid>
                <a:gridCol w="680851"/>
                <a:gridCol w="533598"/>
                <a:gridCol w="642942"/>
                <a:gridCol w="714380"/>
                <a:gridCol w="714380"/>
                <a:gridCol w="857256"/>
                <a:gridCol w="642942"/>
                <a:gridCol w="741926"/>
                <a:gridCol w="669212"/>
                <a:gridCol w="611018"/>
                <a:gridCol w="692488"/>
              </a:tblGrid>
              <a:tr h="774630"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Numero de </a:t>
                      </a:r>
                      <a:r>
                        <a:rPr lang="es-419" sz="9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Consignacion</a:t>
                      </a:r>
                      <a:r>
                        <a:rPr lang="es-419" sz="9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  <a:br>
                        <a:rPr lang="es-419" sz="9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</a:br>
                      <a:endParaRPr lang="es-419" sz="900" b="0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0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Tipo de Almacñen</a:t>
                      </a:r>
                      <a:endParaRPr lang="es-419" sz="900" b="0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Fecha y hora de creación de la orden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Nombre del cliente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Estatus de la </a:t>
                      </a:r>
                      <a:r>
                        <a:rPr lang="es-ES" sz="900" b="0" i="0" u="none" strike="noStrike" dirty="0" err="1" smtClean="0">
                          <a:solidFill>
                            <a:srgbClr val="FFFFFF"/>
                          </a:solidFill>
                          <a:latin typeface="Calibri"/>
                        </a:rPr>
                        <a:t>consignacion</a:t>
                      </a:r>
                      <a:r>
                        <a:rPr lang="es-ES" sz="900" b="0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 a</a:t>
                      </a:r>
                      <a:r>
                        <a:rPr lang="es-ES" sz="900" b="0" i="0" u="none" strike="noStrike" baseline="0" dirty="0" smtClean="0">
                          <a:solidFill>
                            <a:srgbClr val="FFFFFF"/>
                          </a:solidFill>
                          <a:latin typeface="Calibri"/>
                        </a:rPr>
                        <a:t> reenviar</a:t>
                      </a:r>
                      <a:endParaRPr lang="es-ES" sz="900" b="0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Guia</a:t>
                      </a:r>
                      <a:r>
                        <a:rPr lang="es-ES" sz="9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 de </a:t>
                      </a:r>
                      <a:r>
                        <a:rPr lang="es-ES" sz="9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devolucion</a:t>
                      </a:r>
                      <a:endParaRPr lang="es-ES" sz="9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Estaus de la guia de devolución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Guia de Reenvio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Estatus de guia de reenvio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Numero de Orden de Compra nueva</a:t>
                      </a:r>
                      <a:br>
                        <a:rPr lang="es-419" sz="9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</a:br>
                      <a:r>
                        <a:rPr lang="es-419" sz="9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(cuando aplique)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0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Estatus de Orden de compra nueva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331370"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7345672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DSV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28-ene-21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Susana Vargas Miranda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</a:rPr>
                        <a:t>Extravio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1234565434500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Entregado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567899876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Pagada</a:t>
                      </a:r>
                    </a:p>
                  </a:txBody>
                  <a:tcPr marL="3901" marR="3901" marT="3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2761"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7632453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DST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Susana Vargas Miranda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Enviada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12354321234500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En tránsito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1234565434500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En almacén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567899876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En programación de pago</a:t>
                      </a:r>
                    </a:p>
                  </a:txBody>
                  <a:tcPr marL="3901" marR="3901" marT="39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7" name="16 CuadroTexto"/>
          <p:cNvSpPr txBox="1"/>
          <p:nvPr/>
        </p:nvSpPr>
        <p:spPr>
          <a:xfrm>
            <a:off x="1285852" y="3857628"/>
            <a:ext cx="74295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smtClean="0"/>
              <a:t>Al momento de dar </a:t>
            </a:r>
            <a:r>
              <a:rPr lang="es-ES" sz="1400" dirty="0" err="1" smtClean="0"/>
              <a:t>click</a:t>
            </a:r>
            <a:r>
              <a:rPr lang="es-ES" sz="1400" dirty="0" smtClean="0"/>
              <a:t> en la consignación, debe mostrar el detalle del </a:t>
            </a:r>
            <a:r>
              <a:rPr lang="es-ES" sz="1400" dirty="0" err="1" smtClean="0"/>
              <a:t>reenvio</a:t>
            </a:r>
            <a:r>
              <a:rPr lang="es-ES" sz="1400" dirty="0" smtClean="0"/>
              <a:t> Ejemplo:</a:t>
            </a:r>
            <a:endParaRPr lang="es-ES" sz="1400" dirty="0"/>
          </a:p>
        </p:txBody>
      </p:sp>
      <p:sp>
        <p:nvSpPr>
          <p:cNvPr id="18" name="17 CuadroTexto"/>
          <p:cNvSpPr txBox="1"/>
          <p:nvPr/>
        </p:nvSpPr>
        <p:spPr>
          <a:xfrm>
            <a:off x="1357290" y="6366711"/>
            <a:ext cx="7858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Deberá mostrar </a:t>
            </a:r>
            <a:r>
              <a:rPr lang="es-ES" sz="1200" dirty="0" err="1" smtClean="0"/>
              <a:t>unicamente</a:t>
            </a:r>
            <a:r>
              <a:rPr lang="es-ES" sz="1200" dirty="0" smtClean="0"/>
              <a:t> los artículos del </a:t>
            </a:r>
            <a:r>
              <a:rPr lang="es-ES" sz="1200" dirty="0" err="1" smtClean="0"/>
              <a:t>reenvio</a:t>
            </a:r>
            <a:endParaRPr lang="es-ES" sz="1200" dirty="0" smtClean="0"/>
          </a:p>
        </p:txBody>
      </p:sp>
      <p:sp>
        <p:nvSpPr>
          <p:cNvPr id="32" name="31 CuadroTexto"/>
          <p:cNvSpPr txBox="1"/>
          <p:nvPr/>
        </p:nvSpPr>
        <p:spPr>
          <a:xfrm>
            <a:off x="1357290" y="4425743"/>
            <a:ext cx="178831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500" dirty="0" smtClean="0"/>
              <a:t>Numero de Almacén</a:t>
            </a:r>
          </a:p>
          <a:p>
            <a:r>
              <a:rPr lang="es-ES" sz="1500" dirty="0" smtClean="0"/>
              <a:t>Nombre de Almacén</a:t>
            </a:r>
            <a:endParaRPr lang="es-ES" sz="1500" dirty="0"/>
          </a:p>
        </p:txBody>
      </p:sp>
      <p:graphicFrame>
        <p:nvGraphicFramePr>
          <p:cNvPr id="33" name="32 Tabla"/>
          <p:cNvGraphicFramePr>
            <a:graphicFrameLocks noGrp="1"/>
          </p:cNvGraphicFramePr>
          <p:nvPr/>
        </p:nvGraphicFramePr>
        <p:xfrm>
          <a:off x="1428728" y="5000636"/>
          <a:ext cx="7358116" cy="785819"/>
        </p:xfrm>
        <a:graphic>
          <a:graphicData uri="http://schemas.openxmlformats.org/drawingml/2006/table">
            <a:tbl>
              <a:tblPr/>
              <a:tblGrid>
                <a:gridCol w="573546"/>
                <a:gridCol w="822082"/>
                <a:gridCol w="544869"/>
                <a:gridCol w="573546"/>
                <a:gridCol w="439719"/>
                <a:gridCol w="910504"/>
                <a:gridCol w="824472"/>
                <a:gridCol w="812523"/>
                <a:gridCol w="709763"/>
                <a:gridCol w="573546"/>
                <a:gridCol w="573546"/>
              </a:tblGrid>
              <a:tr h="224519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RMA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Motivo RMA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Descipción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Piezas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7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Número de la Guia de devolución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Condiciones de paquete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Guia de Reenvio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Estatus de guia de reenvio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Fecha de entrega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Nombre de quien recibe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140325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Daño en tránsito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Dañado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12345654321234500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Entregado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945" marR="5945" marT="59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945" marR="5945" marT="59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0325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Daño de origen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buen estado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12345654321234500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almacén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945" marR="5945" marT="59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945" marR="5945" marT="59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0325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Extravio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1112346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Abanico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700" b="0" i="0" u="none" strike="noStrike">
                        <a:solidFill>
                          <a:srgbClr val="0F253F"/>
                        </a:solidFill>
                        <a:latin typeface="Calibri"/>
                      </a:endParaRP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12345654321234500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Entregado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945" marR="5945" marT="59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945" marR="5945" marT="59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0325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Robo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1112875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Refrigerador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700" b="0" i="0" u="none" strike="noStrike">
                        <a:solidFill>
                          <a:srgbClr val="0F253F"/>
                        </a:solidFill>
                        <a:latin typeface="Calibri"/>
                      </a:endParaRP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12345654321234500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Entregado</a:t>
                      </a:r>
                    </a:p>
                  </a:txBody>
                  <a:tcPr marL="5945" marR="5945" marT="59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945" marR="5945" marT="59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945" marR="5945" marT="59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4" name="33 CuadroTexto"/>
          <p:cNvSpPr txBox="1"/>
          <p:nvPr/>
        </p:nvSpPr>
        <p:spPr>
          <a:xfrm>
            <a:off x="3482346" y="59272"/>
            <a:ext cx="2770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ADMINISTRADOR</a:t>
            </a:r>
          </a:p>
        </p:txBody>
      </p:sp>
      <p:sp>
        <p:nvSpPr>
          <p:cNvPr id="35" name="34 CuadroTexto"/>
          <p:cNvSpPr txBox="1"/>
          <p:nvPr/>
        </p:nvSpPr>
        <p:spPr>
          <a:xfrm>
            <a:off x="1285852" y="1909861"/>
            <a:ext cx="7215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Debe tener una opción para descargar la información  </a:t>
            </a:r>
            <a:endParaRPr lang="es-ES" sz="1200" dirty="0"/>
          </a:p>
        </p:txBody>
      </p:sp>
      <p:sp>
        <p:nvSpPr>
          <p:cNvPr id="14" name="13 CuadroTexto"/>
          <p:cNvSpPr txBox="1"/>
          <p:nvPr/>
        </p:nvSpPr>
        <p:spPr>
          <a:xfrm>
            <a:off x="-45658" y="2161610"/>
            <a:ext cx="128913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Almacenes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Estatis de Ordenes 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de Compra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Nivel de existencias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Devoluciones</a:t>
            </a: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" name="5 CuadroTexto"/>
          <p:cNvSpPr txBox="1"/>
          <p:nvPr/>
        </p:nvSpPr>
        <p:spPr>
          <a:xfrm>
            <a:off x="2285984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Estatus de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</a:rPr>
              <a:t>guias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 de envíos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3"/>
          <a:srcRect l="17569" t="14392" r="57724" b="80571"/>
          <a:stretch>
            <a:fillRect/>
          </a:stretch>
        </p:blipFill>
        <p:spPr bwMode="auto">
          <a:xfrm>
            <a:off x="1571604" y="2143116"/>
            <a:ext cx="373956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13 CuadroTexto"/>
          <p:cNvSpPr txBox="1"/>
          <p:nvPr/>
        </p:nvSpPr>
        <p:spPr>
          <a:xfrm>
            <a:off x="6099824" y="5274246"/>
            <a:ext cx="2687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 smtClean="0"/>
              <a:t>Click</a:t>
            </a:r>
            <a:r>
              <a:rPr lang="es-ES" dirty="0" smtClean="0"/>
              <a:t> en </a:t>
            </a:r>
            <a:r>
              <a:rPr lang="es-ES" dirty="0" err="1" smtClean="0"/>
              <a:t>guia</a:t>
            </a:r>
            <a:r>
              <a:rPr lang="es-ES" dirty="0" smtClean="0"/>
              <a:t> para imprimir</a:t>
            </a:r>
            <a:endParaRPr lang="es-ES" dirty="0"/>
          </a:p>
        </p:txBody>
      </p:sp>
      <p:graphicFrame>
        <p:nvGraphicFramePr>
          <p:cNvPr id="12" name="11 Tabla"/>
          <p:cNvGraphicFramePr>
            <a:graphicFrameLocks noGrp="1"/>
          </p:cNvGraphicFramePr>
          <p:nvPr/>
        </p:nvGraphicFramePr>
        <p:xfrm>
          <a:off x="1524000" y="2911190"/>
          <a:ext cx="7334277" cy="2018008"/>
        </p:xfrm>
        <a:graphic>
          <a:graphicData uri="http://schemas.openxmlformats.org/drawingml/2006/table">
            <a:tbl>
              <a:tblPr/>
              <a:tblGrid>
                <a:gridCol w="683820"/>
                <a:gridCol w="929277"/>
                <a:gridCol w="1064751"/>
                <a:gridCol w="572271"/>
                <a:gridCol w="591128"/>
                <a:gridCol w="1235996"/>
                <a:gridCol w="752346"/>
                <a:gridCol w="752344"/>
                <a:gridCol w="752344"/>
              </a:tblGrid>
              <a:tr h="47010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Numero de </a:t>
                      </a:r>
                      <a:r>
                        <a:rPr lang="es-ES" sz="1000" b="1" i="0" u="none" strike="noStrike" dirty="0" err="1" smtClean="0">
                          <a:solidFill>
                            <a:srgbClr val="FFFFFF"/>
                          </a:solidFill>
                          <a:latin typeface="Calibri"/>
                        </a:rPr>
                        <a:t>Consignacion</a:t>
                      </a:r>
                      <a:r>
                        <a:rPr lang="es-ES" sz="10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Tipo almacén</a:t>
                      </a:r>
                      <a:endParaRPr lang="es-419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Fecha y hora de creación de la orden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Tipo de Guia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Paqueteria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Número de la Guia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Estatus de la guia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Fecha de entrega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Nombre</a:t>
                      </a:r>
                      <a:r>
                        <a:rPr lang="es-ES" sz="1000" b="1" i="0" u="none" strike="noStrike" baseline="0" dirty="0" smtClean="0">
                          <a:solidFill>
                            <a:srgbClr val="FFFFFF"/>
                          </a:solidFill>
                          <a:latin typeface="Calibri"/>
                        </a:rPr>
                        <a:t> de quien </a:t>
                      </a:r>
                      <a:r>
                        <a:rPr lang="es-ES" sz="1000" b="1" i="0" u="none" strike="noStrike" baseline="0" dirty="0" err="1" smtClean="0">
                          <a:solidFill>
                            <a:srgbClr val="FFFFFF"/>
                          </a:solidFill>
                          <a:latin typeface="Calibri"/>
                        </a:rPr>
                        <a:t>recibio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DSV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Envio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 dirty="0" smtClean="0">
                          <a:solidFill>
                            <a:srgbClr val="0F253F"/>
                          </a:solidFill>
                          <a:latin typeface="Calibri"/>
                        </a:rPr>
                        <a:t>4562734567230000000</a:t>
                      </a:r>
                      <a:endParaRPr lang="es-ES" sz="1000" b="0" i="0" u="sng" strike="noStrike" dirty="0">
                        <a:solidFill>
                          <a:srgbClr val="0F253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tránsito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DST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Envio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 dirty="0" smtClean="0">
                          <a:solidFill>
                            <a:srgbClr val="0F253F"/>
                          </a:solidFill>
                          <a:latin typeface="Calibri"/>
                        </a:rPr>
                        <a:t>45323456213400000000</a:t>
                      </a:r>
                      <a:endParaRPr lang="es-ES" sz="1000" b="0" i="0" u="sng" strike="noStrike" dirty="0">
                        <a:solidFill>
                          <a:srgbClr val="0F253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Entregada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WMS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smtClean="0">
                          <a:solidFill>
                            <a:srgbClr val="000000"/>
                          </a:solidFill>
                          <a:latin typeface="Calibri"/>
                        </a:rPr>
                        <a:t>Envio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DHL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 dirty="0" smtClean="0">
                          <a:solidFill>
                            <a:srgbClr val="0F253F"/>
                          </a:solidFill>
                          <a:latin typeface="Calibri"/>
                        </a:rPr>
                        <a:t>2578888888880000000</a:t>
                      </a:r>
                      <a:endParaRPr lang="es-ES" sz="1000" b="0" i="0" u="sng" strike="noStrike" dirty="0">
                        <a:solidFill>
                          <a:srgbClr val="0F253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Almacén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76843423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28-feb-21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smtClean="0">
                          <a:solidFill>
                            <a:srgbClr val="000000"/>
                          </a:solidFill>
                          <a:latin typeface="Calibri"/>
                        </a:rPr>
                        <a:t>Envio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ENVIO CLICK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 dirty="0" smtClean="0">
                          <a:solidFill>
                            <a:srgbClr val="0F253F"/>
                          </a:solidFill>
                          <a:latin typeface="Calibri"/>
                        </a:rPr>
                        <a:t>45734567898230000000</a:t>
                      </a:r>
                      <a:endParaRPr lang="es-ES" sz="1000" b="0" i="0" u="sng" strike="noStrike" dirty="0">
                        <a:solidFill>
                          <a:srgbClr val="0F253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Cancelada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78965433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27-feb-21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</a:rPr>
                        <a:t>Envio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 dirty="0" smtClean="0">
                          <a:solidFill>
                            <a:srgbClr val="0F253F"/>
                          </a:solidFill>
                          <a:latin typeface="Calibri"/>
                        </a:rPr>
                        <a:t>45734567898230000000</a:t>
                      </a:r>
                      <a:endParaRPr lang="es-ES" sz="1000" b="0" i="0" u="sng" strike="noStrike" dirty="0">
                        <a:solidFill>
                          <a:srgbClr val="0F253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Entregada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" name="14 CuadroTexto"/>
          <p:cNvSpPr txBox="1"/>
          <p:nvPr/>
        </p:nvSpPr>
        <p:spPr>
          <a:xfrm>
            <a:off x="3482346" y="59272"/>
            <a:ext cx="2770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ADMINISTRADOR</a:t>
            </a:r>
          </a:p>
        </p:txBody>
      </p:sp>
      <p:sp>
        <p:nvSpPr>
          <p:cNvPr id="16" name="15 CuadroTexto"/>
          <p:cNvSpPr txBox="1"/>
          <p:nvPr/>
        </p:nvSpPr>
        <p:spPr>
          <a:xfrm>
            <a:off x="1285852" y="5845750"/>
            <a:ext cx="7215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Debe tener una opción para descargar la información  </a:t>
            </a:r>
            <a:endParaRPr lang="es-ES" dirty="0"/>
          </a:p>
        </p:txBody>
      </p:sp>
      <p:sp>
        <p:nvSpPr>
          <p:cNvPr id="13" name="12 CuadroTexto"/>
          <p:cNvSpPr txBox="1"/>
          <p:nvPr/>
        </p:nvSpPr>
        <p:spPr>
          <a:xfrm>
            <a:off x="-45658" y="2161610"/>
            <a:ext cx="128913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Almacenes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Estatis de Ordenes 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de Compra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Nivel de existencias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Devoluciones</a:t>
            </a: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" name="5 CuadroTexto"/>
          <p:cNvSpPr txBox="1"/>
          <p:nvPr/>
        </p:nvSpPr>
        <p:spPr>
          <a:xfrm>
            <a:off x="2285984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Estatus de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</a:rPr>
              <a:t>guias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 de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</a:rPr>
              <a:t>Reenvio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3"/>
          <a:srcRect l="17569" t="14392" r="57724" b="80571"/>
          <a:stretch>
            <a:fillRect/>
          </a:stretch>
        </p:blipFill>
        <p:spPr bwMode="auto">
          <a:xfrm>
            <a:off x="1571604" y="2143116"/>
            <a:ext cx="373956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13 CuadroTexto"/>
          <p:cNvSpPr txBox="1"/>
          <p:nvPr/>
        </p:nvSpPr>
        <p:spPr>
          <a:xfrm>
            <a:off x="6099824" y="5274246"/>
            <a:ext cx="2687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 smtClean="0"/>
              <a:t>Click</a:t>
            </a:r>
            <a:r>
              <a:rPr lang="es-ES" dirty="0" smtClean="0"/>
              <a:t> en </a:t>
            </a:r>
            <a:r>
              <a:rPr lang="es-ES" dirty="0" err="1" smtClean="0"/>
              <a:t>guia</a:t>
            </a:r>
            <a:r>
              <a:rPr lang="es-ES" dirty="0" smtClean="0"/>
              <a:t> para imprimir</a:t>
            </a:r>
            <a:endParaRPr lang="es-ES" dirty="0"/>
          </a:p>
        </p:txBody>
      </p:sp>
      <p:graphicFrame>
        <p:nvGraphicFramePr>
          <p:cNvPr id="12" name="11 Tabla"/>
          <p:cNvGraphicFramePr>
            <a:graphicFrameLocks noGrp="1"/>
          </p:cNvGraphicFramePr>
          <p:nvPr/>
        </p:nvGraphicFramePr>
        <p:xfrm>
          <a:off x="1524000" y="2911192"/>
          <a:ext cx="7334278" cy="2157505"/>
        </p:xfrm>
        <a:graphic>
          <a:graphicData uri="http://schemas.openxmlformats.org/drawingml/2006/table">
            <a:tbl>
              <a:tblPr/>
              <a:tblGrid>
                <a:gridCol w="548346"/>
                <a:gridCol w="584244"/>
                <a:gridCol w="1089869"/>
                <a:gridCol w="705209"/>
                <a:gridCol w="576990"/>
                <a:gridCol w="1572586"/>
                <a:gridCol w="752346"/>
                <a:gridCol w="752344"/>
                <a:gridCol w="752344"/>
              </a:tblGrid>
              <a:tr h="47010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Numero de </a:t>
                      </a:r>
                      <a:r>
                        <a:rPr lang="es-ES" sz="10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Consignación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Tipo Almacén</a:t>
                      </a:r>
                      <a:endParaRPr lang="es-419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Fecha y hora de creación de la orden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Tipo de Guia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Paqueteria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Número de la Guia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Estatus de la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guia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Fecha de entrega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Nombre de Quien </a:t>
                      </a:r>
                      <a:r>
                        <a:rPr lang="es-ES" sz="1000" b="1" i="0" u="none" strike="noStrike" dirty="0" err="1" smtClean="0">
                          <a:solidFill>
                            <a:srgbClr val="FFFFFF"/>
                          </a:solidFill>
                          <a:latin typeface="Calibri"/>
                        </a:rPr>
                        <a:t>recibio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DSV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smtClean="0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tránsito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DST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smtClean="0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45367323456213400000000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Entregada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DST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smtClean="0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DHL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2534678888888880000000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Almacén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76843423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28-feb-21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smtClean="0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ENVIO CLICK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Cancelada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78965433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27-feb-21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sng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Entregada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10-mar-21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" name="14 CuadroTexto"/>
          <p:cNvSpPr txBox="1"/>
          <p:nvPr/>
        </p:nvSpPr>
        <p:spPr>
          <a:xfrm>
            <a:off x="3482346" y="59272"/>
            <a:ext cx="2770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ADMINISTRADOR</a:t>
            </a:r>
          </a:p>
        </p:txBody>
      </p:sp>
      <p:sp>
        <p:nvSpPr>
          <p:cNvPr id="16" name="15 CuadroTexto"/>
          <p:cNvSpPr txBox="1"/>
          <p:nvPr/>
        </p:nvSpPr>
        <p:spPr>
          <a:xfrm>
            <a:off x="1285852" y="5845750"/>
            <a:ext cx="7215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Debe tener una opción para descargar la información  </a:t>
            </a:r>
            <a:endParaRPr lang="es-ES" dirty="0"/>
          </a:p>
        </p:txBody>
      </p:sp>
      <p:sp>
        <p:nvSpPr>
          <p:cNvPr id="13" name="12 CuadroTexto"/>
          <p:cNvSpPr txBox="1"/>
          <p:nvPr/>
        </p:nvSpPr>
        <p:spPr>
          <a:xfrm>
            <a:off x="-45658" y="2161610"/>
            <a:ext cx="128913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Almacenes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Estatis de Ordenes 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de Compra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Nivel de existencias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Devoluciones</a:t>
            </a: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15876" y="571480"/>
            <a:ext cx="9159876" cy="5768975"/>
            <a:chOff x="-7938" y="547688"/>
            <a:chExt cx="9159876" cy="5768975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10" name="9 CuadroTexto"/>
          <p:cNvSpPr txBox="1"/>
          <p:nvPr/>
        </p:nvSpPr>
        <p:spPr>
          <a:xfrm>
            <a:off x="2214546" y="1488032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Ordenes de Compra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3" name="Picture 1"/>
          <p:cNvPicPr>
            <a:picLocks noChangeAspect="1" noChangeArrowheads="1"/>
          </p:cNvPicPr>
          <p:nvPr/>
        </p:nvPicPr>
        <p:blipFill>
          <a:blip r:embed="rId3"/>
          <a:srcRect l="17569" t="14392" r="57724" b="80571"/>
          <a:stretch>
            <a:fillRect/>
          </a:stretch>
        </p:blipFill>
        <p:spPr bwMode="auto">
          <a:xfrm>
            <a:off x="6143636" y="1928802"/>
            <a:ext cx="2739428" cy="313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17 CuadroTexto"/>
          <p:cNvSpPr txBox="1"/>
          <p:nvPr/>
        </p:nvSpPr>
        <p:spPr>
          <a:xfrm>
            <a:off x="1285852" y="2357430"/>
            <a:ext cx="7215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Debe tener una opción para descargar la información  </a:t>
            </a:r>
            <a:endParaRPr lang="es-ES" dirty="0"/>
          </a:p>
        </p:txBody>
      </p:sp>
      <p:graphicFrame>
        <p:nvGraphicFramePr>
          <p:cNvPr id="11" name="10 Tabla"/>
          <p:cNvGraphicFramePr>
            <a:graphicFrameLocks noGrp="1"/>
          </p:cNvGraphicFramePr>
          <p:nvPr/>
        </p:nvGraphicFramePr>
        <p:xfrm>
          <a:off x="1428728" y="2798200"/>
          <a:ext cx="7048527" cy="1321190"/>
        </p:xfrm>
        <a:graphic>
          <a:graphicData uri="http://schemas.openxmlformats.org/drawingml/2006/table">
            <a:tbl>
              <a:tblPr/>
              <a:tblGrid>
                <a:gridCol w="911348"/>
                <a:gridCol w="911348"/>
                <a:gridCol w="911348"/>
                <a:gridCol w="669091"/>
                <a:gridCol w="911348"/>
                <a:gridCol w="911348"/>
                <a:gridCol w="911348"/>
                <a:gridCol w="911348"/>
              </a:tblGrid>
              <a:tr h="468810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Numero de Consignación</a:t>
                      </a:r>
                    </a:p>
                  </a:txBody>
                  <a:tcPr marL="7483" marR="7483" marT="7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Estatus del Pedido</a:t>
                      </a:r>
                    </a:p>
                  </a:txBody>
                  <a:tcPr marL="7483" marR="7483" marT="7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Estatus de la consignación</a:t>
                      </a:r>
                    </a:p>
                  </a:txBody>
                  <a:tcPr marL="7483" marR="7483" marT="7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Numero Almacén</a:t>
                      </a:r>
                    </a:p>
                  </a:txBody>
                  <a:tcPr marL="7483" marR="7483" marT="7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Nombre Almacén</a:t>
                      </a:r>
                    </a:p>
                  </a:txBody>
                  <a:tcPr marL="7483" marR="7483" marT="7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0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Número de Orden de Compra</a:t>
                      </a:r>
                    </a:p>
                  </a:txBody>
                  <a:tcPr marL="7483" marR="7483" marT="7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Importe</a:t>
                      </a:r>
                    </a:p>
                  </a:txBody>
                  <a:tcPr marL="7483" marR="7483" marT="7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0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Estatus de Orden de compra</a:t>
                      </a:r>
                    </a:p>
                  </a:txBody>
                  <a:tcPr marL="7483" marR="7483" marT="7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213095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a03456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3456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Enviada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5688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Cedis México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76859403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$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Por pagar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3095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a03457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3456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Enviada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4557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Modermo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76859403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$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Por pagar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3095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a03458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3456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Enviada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4557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Modermo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76859403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$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Por pagar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3095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a03456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3456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Enviada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5688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Cedis México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76859403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$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Por pagar</a:t>
                      </a:r>
                    </a:p>
                  </a:txBody>
                  <a:tcPr marL="7483" marR="7483" marT="74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11 CuadroTexto"/>
          <p:cNvSpPr txBox="1"/>
          <p:nvPr/>
        </p:nvSpPr>
        <p:spPr>
          <a:xfrm>
            <a:off x="1357290" y="4429132"/>
            <a:ext cx="7215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Adicional al dar </a:t>
            </a:r>
            <a:r>
              <a:rPr lang="es-ES" dirty="0" err="1" smtClean="0"/>
              <a:t>click</a:t>
            </a:r>
            <a:r>
              <a:rPr lang="es-ES" dirty="0" smtClean="0"/>
              <a:t> en la orden de compra debe mostrar el detalle de la misma, ejemplo:</a:t>
            </a:r>
            <a:endParaRPr lang="es-ES" dirty="0"/>
          </a:p>
        </p:txBody>
      </p:sp>
      <p:graphicFrame>
        <p:nvGraphicFramePr>
          <p:cNvPr id="14" name="13 Tabla"/>
          <p:cNvGraphicFramePr>
            <a:graphicFrameLocks noGrp="1"/>
          </p:cNvGraphicFramePr>
          <p:nvPr/>
        </p:nvGraphicFramePr>
        <p:xfrm>
          <a:off x="1500166" y="5214950"/>
          <a:ext cx="4500594" cy="1047752"/>
        </p:xfrm>
        <a:graphic>
          <a:graphicData uri="http://schemas.openxmlformats.org/drawingml/2006/table">
            <a:tbl>
              <a:tblPr/>
              <a:tblGrid>
                <a:gridCol w="912166"/>
                <a:gridCol w="1277893"/>
                <a:gridCol w="1135905"/>
                <a:gridCol w="1174630"/>
              </a:tblGrid>
              <a:tr h="285752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Descipción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Piezas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Costo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1234567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Refrigerador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$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1234567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Locion Dama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$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1234567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Locion Niño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$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1234567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Locion Caballero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$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9" name="18 CuadroTexto"/>
          <p:cNvSpPr txBox="1"/>
          <p:nvPr/>
        </p:nvSpPr>
        <p:spPr>
          <a:xfrm>
            <a:off x="3482346" y="59272"/>
            <a:ext cx="2770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ADMINISTRADOR</a:t>
            </a:r>
          </a:p>
        </p:txBody>
      </p:sp>
      <p:sp>
        <p:nvSpPr>
          <p:cNvPr id="16" name="15 CuadroTexto"/>
          <p:cNvSpPr txBox="1"/>
          <p:nvPr/>
        </p:nvSpPr>
        <p:spPr>
          <a:xfrm>
            <a:off x="-45658" y="2161610"/>
            <a:ext cx="128913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Almacenes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Estatis de Ordenes 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de Compra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Nivel de existencias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Devoluciones</a:t>
            </a: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15876" y="571480"/>
            <a:ext cx="9159876" cy="5768975"/>
            <a:chOff x="-7938" y="547688"/>
            <a:chExt cx="9159876" cy="5768975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10" name="9 CuadroTexto"/>
          <p:cNvSpPr txBox="1"/>
          <p:nvPr/>
        </p:nvSpPr>
        <p:spPr>
          <a:xfrm>
            <a:off x="2214546" y="1488032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Nivel de Existencias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3" name="Picture 1"/>
          <p:cNvPicPr>
            <a:picLocks noChangeAspect="1" noChangeArrowheads="1"/>
          </p:cNvPicPr>
          <p:nvPr/>
        </p:nvPicPr>
        <p:blipFill>
          <a:blip r:embed="rId3"/>
          <a:srcRect l="17569" t="14392" r="57724" b="80571"/>
          <a:stretch>
            <a:fillRect/>
          </a:stretch>
        </p:blipFill>
        <p:spPr bwMode="auto">
          <a:xfrm>
            <a:off x="6143636" y="1928802"/>
            <a:ext cx="2739428" cy="313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7" name="16 Tabla"/>
          <p:cNvGraphicFramePr>
            <a:graphicFrameLocks noGrp="1"/>
          </p:cNvGraphicFramePr>
          <p:nvPr/>
        </p:nvGraphicFramePr>
        <p:xfrm>
          <a:off x="1357290" y="2928934"/>
          <a:ext cx="7358119" cy="3095492"/>
        </p:xfrm>
        <a:graphic>
          <a:graphicData uri="http://schemas.openxmlformats.org/drawingml/2006/table">
            <a:tbl>
              <a:tblPr/>
              <a:tblGrid>
                <a:gridCol w="2081708"/>
                <a:gridCol w="549626"/>
                <a:gridCol w="467183"/>
                <a:gridCol w="512984"/>
                <a:gridCol w="723674"/>
                <a:gridCol w="377868"/>
                <a:gridCol w="377868"/>
                <a:gridCol w="377868"/>
                <a:gridCol w="377868"/>
                <a:gridCol w="377868"/>
                <a:gridCol w="377868"/>
                <a:gridCol w="377868"/>
                <a:gridCol w="377868"/>
              </a:tblGrid>
              <a:tr h="429123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Nombre_del_Producto</a:t>
                      </a:r>
                    </a:p>
                  </a:txBody>
                  <a:tcPr marL="5708" marR="5708" marT="57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Grupo_de_Categorias</a:t>
                      </a:r>
                    </a:p>
                  </a:txBody>
                  <a:tcPr marL="5708" marR="5708" marT="57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Numero_de_Almacen</a:t>
                      </a:r>
                    </a:p>
                  </a:txBody>
                  <a:tcPr marL="5708" marR="5708" marT="57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Tipo_Almacen</a:t>
                      </a:r>
                    </a:p>
                  </a:txBody>
                  <a:tcPr marL="5708" marR="5708" marT="57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Nombre_de_Almacen</a:t>
                      </a:r>
                    </a:p>
                  </a:txBody>
                  <a:tcPr marL="5708" marR="5708" marT="57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Nivel de Exisetncias</a:t>
                      </a:r>
                    </a:p>
                  </a:txBody>
                  <a:tcPr marL="5708" marR="5708" marT="57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Inventario Reservado</a:t>
                      </a:r>
                    </a:p>
                  </a:txBody>
                  <a:tcPr marL="5708" marR="5708" marT="57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Tipo de Articulo</a:t>
                      </a:r>
                    </a:p>
                  </a:txBody>
                  <a:tcPr marL="5708" marR="5708" marT="57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Largo</a:t>
                      </a:r>
                    </a:p>
                  </a:txBody>
                  <a:tcPr marL="5708" marR="5708" marT="57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 marL="5708" marR="5708" marT="57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Ancho</a:t>
                      </a:r>
                    </a:p>
                  </a:txBody>
                  <a:tcPr marL="5708" marR="5708" marT="57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Peso</a:t>
                      </a:r>
                    </a:p>
                  </a:txBody>
                  <a:tcPr marL="5708" marR="5708" marT="57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Peso Volumétrico</a:t>
                      </a:r>
                    </a:p>
                  </a:txBody>
                  <a:tcPr marL="5708" marR="5708" marT="57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111529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Loción Nautica Eau de Toilette Aqua Rush 100 ml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BELLEZA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14482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Modermo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BT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11529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Loción Nautica Blue Eau de Toilette 100 ml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BELLEZA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14482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Modermo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PAQ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7394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Motocicleta Bajaj Dominar 400 Ug 2021 373.3 CC Negra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AUTOS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21771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MOTODRIVE SA DE CV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PAQ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1529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Perfume Liz Claiborne Curve  Eau de Toilette 100 ml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BELLEZA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14482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Modermo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PAQ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7394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Loción Nautica Voyage N-83 Eau De Toilette Spray 100 ml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BELLEZA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14482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Modermo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PAQ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1529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Loción Nautica Voyage Heritage Eau de Toilette 100 ml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BELLEZA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14482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Modermo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PAQ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1529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Loción Nautica Classic Eau de Toilette 100 ml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BELLEZA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14482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Modermo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PAQ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1529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Perfume Ck One Eau de Toilette 100 ml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BELLEZA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14482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Modermo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PAQ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3258">
                <a:tc>
                  <a:txBody>
                    <a:bodyPr/>
                    <a:lstStyle/>
                    <a:p>
                      <a:pPr algn="l" fontAlgn="ctr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Persiana Enrollable Black Out con Forro 160 x 180 cm Deco Persiana Lino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DECORACION Y MERCERIA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327213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Merchandising Services S de RL de CV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PAQ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1529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Loción Nautica Voyage Eau de Toilette 100 ml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BELLEZA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14482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Modermo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PAQ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1529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Perfume Calvin Klein Obsession Eau de Parfum 100 ml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BELLEZA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14482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Modermo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PAQ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7394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Loción Calvin Klein CK One Shock For Him Eau de Toilette 200ml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BELLEZA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14482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Modermo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PAQ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15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Perfume Britney Spears Believe Eau de Parfum 100 ml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BELLEZA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14482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Modermo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PAQ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1529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Loción Guess 1981 Men Eau de Toilette 100 ml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BELLEZA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14482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Modermo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PAQ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1529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Fragancia Ck Be Eau de Toilette 100 ml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BELLEZA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14482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Modermo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PAQ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1529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Loción Oscar de la Renta Pour Lui Eau De Toilette 90 ml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BELLEZA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14482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Modermo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PAQ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7394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Loción Guess By Marciano Eau de Toilette Caballero 100 ml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BELLEZA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14482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Modermo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PAQ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1529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Set Perfume Ferrioni Rose 3 pz Eau de Toilette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BELLEZA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14482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Modermo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PAQ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708" marR="5708" marT="57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17 CuadroTexto"/>
          <p:cNvSpPr txBox="1"/>
          <p:nvPr/>
        </p:nvSpPr>
        <p:spPr>
          <a:xfrm>
            <a:off x="1285852" y="2488164"/>
            <a:ext cx="7215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Debe tener una opción para descargar la información  </a:t>
            </a:r>
            <a:endParaRPr lang="es-ES" dirty="0"/>
          </a:p>
        </p:txBody>
      </p:sp>
      <p:sp>
        <p:nvSpPr>
          <p:cNvPr id="19" name="18 CuadroTexto"/>
          <p:cNvSpPr txBox="1"/>
          <p:nvPr/>
        </p:nvSpPr>
        <p:spPr>
          <a:xfrm>
            <a:off x="-45658" y="2161610"/>
            <a:ext cx="128913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Almacenes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Estatis de Ordenes 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de Compra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Nivel de existencias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Devoluciones</a:t>
            </a: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sp>
        <p:nvSpPr>
          <p:cNvPr id="20" name="19 CuadroTexto"/>
          <p:cNvSpPr txBox="1"/>
          <p:nvPr/>
        </p:nvSpPr>
        <p:spPr>
          <a:xfrm>
            <a:off x="3482346" y="59272"/>
            <a:ext cx="2770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ADMINISTRADOR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15876" y="571480"/>
            <a:ext cx="9159876" cy="5768975"/>
            <a:chOff x="-7938" y="547688"/>
            <a:chExt cx="9159876" cy="5768975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10" name="9 CuadroTexto"/>
          <p:cNvSpPr txBox="1"/>
          <p:nvPr/>
        </p:nvSpPr>
        <p:spPr>
          <a:xfrm>
            <a:off x="2214546" y="1488032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Devoluciones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18 CuadroTexto"/>
          <p:cNvSpPr txBox="1"/>
          <p:nvPr/>
        </p:nvSpPr>
        <p:spPr>
          <a:xfrm>
            <a:off x="-45658" y="2161610"/>
            <a:ext cx="128913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Almacenes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Estatis de Ordenes 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de Compra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Nivel de existencias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Devoluciones</a:t>
            </a: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sp>
        <p:nvSpPr>
          <p:cNvPr id="20" name="19 CuadroTexto"/>
          <p:cNvSpPr txBox="1"/>
          <p:nvPr/>
        </p:nvSpPr>
        <p:spPr>
          <a:xfrm>
            <a:off x="3482346" y="59272"/>
            <a:ext cx="2770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ADMINISTRADOR</a:t>
            </a:r>
          </a:p>
        </p:txBody>
      </p:sp>
      <p:graphicFrame>
        <p:nvGraphicFramePr>
          <p:cNvPr id="11" name="10 Tabla"/>
          <p:cNvGraphicFramePr>
            <a:graphicFrameLocks noGrp="1"/>
          </p:cNvGraphicFramePr>
          <p:nvPr/>
        </p:nvGraphicFramePr>
        <p:xfrm>
          <a:off x="1428728" y="2000240"/>
          <a:ext cx="7262840" cy="1746788"/>
        </p:xfrm>
        <a:graphic>
          <a:graphicData uri="http://schemas.openxmlformats.org/drawingml/2006/table">
            <a:tbl>
              <a:tblPr/>
              <a:tblGrid>
                <a:gridCol w="714380"/>
                <a:gridCol w="770218"/>
                <a:gridCol w="587104"/>
                <a:gridCol w="857256"/>
                <a:gridCol w="721527"/>
                <a:gridCol w="1395625"/>
                <a:gridCol w="742299"/>
                <a:gridCol w="610109"/>
                <a:gridCol w="864322"/>
              </a:tblGrid>
              <a:tr h="498597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Numero de </a:t>
                      </a:r>
                      <a:r>
                        <a:rPr lang="es-ES" sz="900" b="1" i="0" u="none" strike="noStrike" dirty="0" err="1" smtClean="0">
                          <a:solidFill>
                            <a:srgbClr val="FFFFFF"/>
                          </a:solidFill>
                          <a:latin typeface="Calibri"/>
                        </a:rPr>
                        <a:t>Consignacion</a:t>
                      </a:r>
                      <a:r>
                        <a:rPr lang="es-ES" sz="9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es-ES" sz="9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Fecha y hora de creación de la orden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Solicitud</a:t>
                      </a:r>
                      <a:r>
                        <a:rPr lang="es-ES" sz="900" b="1" i="0" u="none" strike="noStrike" baseline="0" dirty="0" smtClean="0">
                          <a:solidFill>
                            <a:srgbClr val="FFFFFF"/>
                          </a:solidFill>
                          <a:latin typeface="Calibri"/>
                        </a:rPr>
                        <a:t> RMA</a:t>
                      </a:r>
                      <a:endParaRPr lang="es-ES" sz="9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Motivo</a:t>
                      </a:r>
                      <a:r>
                        <a:rPr lang="es-ES" sz="900" b="1" i="0" u="none" strike="noStrike" baseline="0" dirty="0" smtClean="0">
                          <a:solidFill>
                            <a:srgbClr val="FFFFFF"/>
                          </a:solidFill>
                          <a:latin typeface="Calibri"/>
                        </a:rPr>
                        <a:t> RMA</a:t>
                      </a:r>
                      <a:endParaRPr lang="es-ES" sz="9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Paqueteria</a:t>
                      </a:r>
                      <a:endParaRPr lang="es-ES" sz="9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Número de la Guia de devolución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Estatus de la guia de devolución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Fecha de entrega al almacén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Recibido por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228523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Daño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tránsito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1171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Robo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>
                          <a:solidFill>
                            <a:srgbClr val="0F253F"/>
                          </a:solidFill>
                          <a:latin typeface="Calibri"/>
                        </a:rPr>
                        <a:t>45367323456213400000000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Entregada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13-mar-21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SOE: Alberto Juarez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8523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</a:rPr>
                        <a:t>Extravio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DHL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>
                          <a:solidFill>
                            <a:srgbClr val="0F253F"/>
                          </a:solidFill>
                          <a:latin typeface="Calibri"/>
                        </a:rPr>
                        <a:t>2534678888888880000000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Entregada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8523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76843423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28-feb-21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Daño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ENVIO CLICK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Cancelada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1171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78965433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27-feb-21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Faltante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Entregada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10-mar-21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SOE: Alberto 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Juarez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11 Tabla"/>
          <p:cNvGraphicFramePr>
            <a:graphicFrameLocks noGrp="1"/>
          </p:cNvGraphicFramePr>
          <p:nvPr/>
        </p:nvGraphicFramePr>
        <p:xfrm>
          <a:off x="1357290" y="4402662"/>
          <a:ext cx="7572429" cy="1605158"/>
        </p:xfrm>
        <a:graphic>
          <a:graphicData uri="http://schemas.openxmlformats.org/drawingml/2006/table">
            <a:tbl>
              <a:tblPr/>
              <a:tblGrid>
                <a:gridCol w="737574"/>
                <a:gridCol w="1057190"/>
                <a:gridCol w="919880"/>
                <a:gridCol w="785818"/>
                <a:gridCol w="1846952"/>
                <a:gridCol w="749867"/>
                <a:gridCol w="1475148"/>
              </a:tblGrid>
              <a:tr h="305172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RMA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Descipción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Piezas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Número de la Guia de devolución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Condiciones de paquete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Recibo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323234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Dañado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3234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buen estado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3234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1112346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Abanico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2534678888888880000000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Dañado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3234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1112875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Refrigerador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Dañado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" name="13 CuadroTexto"/>
          <p:cNvSpPr txBox="1"/>
          <p:nvPr/>
        </p:nvSpPr>
        <p:spPr>
          <a:xfrm>
            <a:off x="1357290" y="4065306"/>
            <a:ext cx="50039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300" dirty="0" smtClean="0"/>
              <a:t>Al dar </a:t>
            </a:r>
            <a:r>
              <a:rPr lang="es-ES" sz="1300" dirty="0" err="1" smtClean="0"/>
              <a:t>click</a:t>
            </a:r>
            <a:r>
              <a:rPr lang="es-ES" sz="1300" dirty="0" smtClean="0"/>
              <a:t> en la Consignación debe mostrar el detalle de la Devolución</a:t>
            </a:r>
            <a:endParaRPr lang="es-ES" sz="1300" dirty="0"/>
          </a:p>
        </p:txBody>
      </p:sp>
      <p:sp>
        <p:nvSpPr>
          <p:cNvPr id="15" name="14 CuadroTexto"/>
          <p:cNvSpPr txBox="1"/>
          <p:nvPr/>
        </p:nvSpPr>
        <p:spPr>
          <a:xfrm>
            <a:off x="1285852" y="6060064"/>
            <a:ext cx="7215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Debe tener una opción para descargar la información  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2545</TotalTime>
  <Words>4926</Words>
  <Application>Microsoft Office PowerPoint</Application>
  <PresentationFormat>Presentación en pantalla (4:3)</PresentationFormat>
  <Paragraphs>2492</Paragraphs>
  <Slides>44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44</vt:i4>
      </vt:variant>
    </vt:vector>
  </HeadingPairs>
  <TitlesOfParts>
    <vt:vector size="45" baseType="lpstr">
      <vt:lpstr>Tema de Office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  <vt:lpstr>Diapositiva 11</vt:lpstr>
      <vt:lpstr>Diapositiva 12</vt:lpstr>
      <vt:lpstr>Diapositiva 13</vt:lpstr>
      <vt:lpstr>Diapositiva 14</vt:lpstr>
      <vt:lpstr>Diapositiva 15</vt:lpstr>
      <vt:lpstr>Diapositiva 16</vt:lpstr>
      <vt:lpstr>Diapositiva 17</vt:lpstr>
      <vt:lpstr>Diapositiva 18</vt:lpstr>
      <vt:lpstr>Diapositiva 19</vt:lpstr>
      <vt:lpstr>Diapositiva 20</vt:lpstr>
      <vt:lpstr>Diapositiva 21</vt:lpstr>
      <vt:lpstr>Diapositiva 22</vt:lpstr>
      <vt:lpstr>Diapositiva 23</vt:lpstr>
      <vt:lpstr>Diapositiva 24</vt:lpstr>
      <vt:lpstr>Diapositiva 25</vt:lpstr>
      <vt:lpstr>Diapositiva 26</vt:lpstr>
      <vt:lpstr>Diapositiva 27</vt:lpstr>
      <vt:lpstr>Diapositiva 28</vt:lpstr>
      <vt:lpstr>Diapositiva 29</vt:lpstr>
      <vt:lpstr>Diapositiva 30</vt:lpstr>
      <vt:lpstr>Diapositiva 31</vt:lpstr>
      <vt:lpstr>Diapositiva 32</vt:lpstr>
      <vt:lpstr>Diapositiva 33</vt:lpstr>
      <vt:lpstr>Diapositiva 34</vt:lpstr>
      <vt:lpstr>Diapositiva 35</vt:lpstr>
      <vt:lpstr>Diapositiva 36</vt:lpstr>
      <vt:lpstr>Diapositiva 37</vt:lpstr>
      <vt:lpstr>Diapositiva 38</vt:lpstr>
      <vt:lpstr>Diapositiva 39</vt:lpstr>
      <vt:lpstr>Diapositiva 40</vt:lpstr>
      <vt:lpstr>Diapositiva 41</vt:lpstr>
      <vt:lpstr>Diapositiva 42</vt:lpstr>
      <vt:lpstr>Diapositiva 43</vt:lpstr>
      <vt:lpstr>Diapositiva 44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susanavm</dc:creator>
  <cp:lastModifiedBy>susanavm</cp:lastModifiedBy>
  <cp:revision>151</cp:revision>
  <dcterms:created xsi:type="dcterms:W3CDTF">2021-03-10T22:48:54Z</dcterms:created>
  <dcterms:modified xsi:type="dcterms:W3CDTF">2021-03-20T00:27:41Z</dcterms:modified>
</cp:coreProperties>
</file>