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1899855154" r:id="rId2"/>
    <p:sldId id="1899855155" r:id="rId3"/>
    <p:sldId id="1899855156" r:id="rId4"/>
    <p:sldId id="1899855158" r:id="rId5"/>
    <p:sldId id="1899855159" r:id="rId6"/>
    <p:sldId id="1899855161" r:id="rId7"/>
    <p:sldId id="1899855160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165193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Marcador de tex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IMAGE/GRAPH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LICK TO EDIT MASTER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</a:t>
            </a:r>
          </a:p>
        </p:txBody>
      </p:sp>
      <p:sp>
        <p:nvSpPr>
          <p:cNvPr id="241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subtitle – if not needed can be deleted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2" name="Straight Connector 5"/>
          <p:cNvSpPr/>
          <p:nvPr/>
        </p:nvSpPr>
        <p:spPr>
          <a:xfrm flipH="1" flipV="1">
            <a:off x="10528300" y="852790"/>
            <a:ext cx="1663700" cy="1"/>
          </a:xfrm>
          <a:prstGeom prst="line">
            <a:avLst/>
          </a:prstGeom>
          <a:ln>
            <a:solidFill>
              <a:srgbClr val="BFBFB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43" name="Straight Connector 6"/>
          <p:cNvSpPr/>
          <p:nvPr/>
        </p:nvSpPr>
        <p:spPr>
          <a:xfrm flipH="1" flipV="1">
            <a:off x="-1" y="852790"/>
            <a:ext cx="1663701" cy="1"/>
          </a:xfrm>
          <a:prstGeom prst="line">
            <a:avLst/>
          </a:prstGeom>
          <a:ln>
            <a:solidFill>
              <a:srgbClr val="BFBFB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44" name="Picture Placeholder 8"/>
          <p:cNvSpPr>
            <a:spLocks noGrp="1"/>
          </p:cNvSpPr>
          <p:nvPr>
            <p:ph type="pic" idx="21"/>
          </p:nvPr>
        </p:nvSpPr>
        <p:spPr>
          <a:xfrm>
            <a:off x="760412" y="1414462"/>
            <a:ext cx="10683876" cy="500539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5" name="TextBox 25"/>
          <p:cNvSpPr txBox="1"/>
          <p:nvPr/>
        </p:nvSpPr>
        <p:spPr>
          <a:xfrm>
            <a:off x="4072659" y="6568717"/>
            <a:ext cx="4046683" cy="2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000" spc="300">
                <a:solidFill>
                  <a:srgbClr val="012364"/>
                </a:solidFill>
                <a:latin typeface="Segoe UI Light"/>
                <a:ea typeface="Segoe UI Light"/>
                <a:cs typeface="Segoe UI Light"/>
                <a:sym typeface="Segoe UI Light"/>
              </a:defRPr>
            </a:lvl1pPr>
          </a:lstStyle>
          <a:p>
            <a:r>
              <a:t>OSF.DIGITAL</a:t>
            </a:r>
          </a:p>
        </p:txBody>
      </p:sp>
      <p:sp>
        <p:nvSpPr>
          <p:cNvPr id="246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aphicFrame>
        <p:nvGraphicFramePr>
          <p:cNvPr id="9" name="Object 5">
            <a:extLst>
              <a:ext uri="{FF2B5EF4-FFF2-40B4-BE49-F238E27FC236}">
                <a16:creationId xmlns="" xmlns:a16="http://schemas.microsoft.com/office/drawing/2014/main" id="{B81BE367-90B9-44B4-90A2-EE9FBAAEBBF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5575" y="312428"/>
          <a:ext cx="13652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Image" r:id="rId3" imgW="2768254" imgH="787024" progId="Photoshop.Image.11">
                  <p:embed/>
                </p:oleObj>
              </mc:Choice>
              <mc:Fallback>
                <p:oleObj name="Image" r:id="rId3" imgW="2768254" imgH="787024" progId="Photoshop.Image.11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="" xmlns:a16="http://schemas.microsoft.com/office/drawing/2014/main" id="{B81BE367-90B9-44B4-90A2-EE9FBAAEB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312428"/>
                        <a:ext cx="13652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 descr="A close up of a sign&#10;&#10;Description automatically generated">
            <a:extLst>
              <a:ext uri="{FF2B5EF4-FFF2-40B4-BE49-F238E27FC236}">
                <a16:creationId xmlns="" xmlns:a16="http://schemas.microsoft.com/office/drawing/2014/main" id="{5D90CA76-C995-4E2E-8FF0-CD559428CBA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301" y="312428"/>
            <a:ext cx="1325388" cy="18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814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/>
          </p:cNvSpPr>
          <p:nvPr/>
        </p:nvSpPr>
        <p:spPr bwMode="auto">
          <a:xfrm>
            <a:off x="400325" y="145515"/>
            <a:ext cx="10515600" cy="45229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 lnSpcReduction="100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Cantidad de Transacciones Bancarias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9DAC71B3-0B14-401F-8CE4-5BBC7E3C230C}"/>
              </a:ext>
            </a:extLst>
          </p:cNvPr>
          <p:cNvSpPr/>
          <p:nvPr/>
        </p:nvSpPr>
        <p:spPr>
          <a:xfrm>
            <a:off x="10335491" y="269396"/>
            <a:ext cx="1575698" cy="367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4" name="Imagen 1">
            <a:extLst>
              <a:ext uri="{FF2B5EF4-FFF2-40B4-BE49-F238E27FC236}">
                <a16:creationId xmlns="" xmlns:a16="http://schemas.microsoft.com/office/drawing/2014/main" id="{B5654742-95E1-4448-BB2E-B91650F8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797" y="6449535"/>
            <a:ext cx="1566208" cy="3944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ECC65C15-0EF7-4A63-93B2-2D87C85D58EE}"/>
              </a:ext>
            </a:extLst>
          </p:cNvPr>
          <p:cNvSpPr txBox="1"/>
          <p:nvPr/>
        </p:nvSpPr>
        <p:spPr>
          <a:xfrm>
            <a:off x="701870" y="1876044"/>
            <a:ext cx="3344988" cy="4185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2" indent="0"/>
            <a:r>
              <a:rPr lang="es-ES" sz="1400" dirty="0" err="1"/>
              <a:t>Shipment</a:t>
            </a:r>
            <a:r>
              <a:rPr lang="es-ES" sz="1400" dirty="0"/>
              <a:t> </a:t>
            </a:r>
            <a:r>
              <a:rPr lang="es-ES" sz="1400" dirty="0" smtClean="0"/>
              <a:t>1 </a:t>
            </a:r>
            <a:r>
              <a:rPr lang="es-ES" sz="1400" dirty="0"/>
              <a:t>- $Importe – </a:t>
            </a:r>
            <a:r>
              <a:rPr lang="es-ES" sz="1400" dirty="0" err="1" smtClean="0"/>
              <a:t>Grocery</a:t>
            </a:r>
            <a:endParaRPr lang="es-ES" sz="1400" dirty="0" smtClean="0">
              <a:highlight>
                <a:srgbClr val="FFFF00"/>
              </a:highlight>
            </a:endParaRPr>
          </a:p>
          <a:p>
            <a:pPr lvl="2" indent="0"/>
            <a:endParaRPr lang="es-ES" sz="1400" dirty="0" smtClean="0">
              <a:highlight>
                <a:srgbClr val="FFFF00"/>
              </a:highlight>
            </a:endParaRPr>
          </a:p>
          <a:p>
            <a:pPr lvl="2" indent="0"/>
            <a:r>
              <a:rPr lang="es-ES" sz="1400" dirty="0" smtClean="0">
                <a:highlight>
                  <a:srgbClr val="FFFF00"/>
                </a:highlight>
              </a:rPr>
              <a:t>1234-1</a:t>
            </a:r>
            <a:endParaRPr lang="es-ES" sz="1400" dirty="0">
              <a:highlight>
                <a:srgbClr val="FFFF00"/>
              </a:highlight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Dirección</a:t>
            </a:r>
            <a:endParaRPr lang="es-ES" sz="1400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Tipos </a:t>
            </a:r>
            <a:r>
              <a:rPr lang="es-ES" sz="1400" dirty="0"/>
              <a:t>de </a:t>
            </a:r>
            <a:r>
              <a:rPr lang="es-ES" sz="1400" dirty="0" smtClean="0"/>
              <a:t>entrega</a:t>
            </a:r>
            <a:endParaRPr lang="es-ES" sz="1400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MX" sz="1400" dirty="0" smtClean="0"/>
              <a:t>Artículos</a:t>
            </a:r>
            <a:endParaRPr lang="es-MX" sz="1400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sz="1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lvl="2" indent="0"/>
            <a:r>
              <a:rPr kumimoji="0" lang="es-ES" sz="1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Shipment</a:t>
            </a:r>
            <a:r>
              <a:rPr kumimoji="0" lang="es-ES" sz="1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s-ES" sz="1400" dirty="0"/>
              <a:t>2</a:t>
            </a:r>
            <a:r>
              <a:rPr kumimoji="0" lang="es-ES" sz="1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kumimoji="0" lang="es-E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– $Importe </a:t>
            </a:r>
            <a:r>
              <a:rPr kumimoji="0" lang="es-ES" sz="1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– Non </a:t>
            </a:r>
            <a:r>
              <a:rPr kumimoji="0" lang="es-ES" sz="1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Grocery</a:t>
            </a:r>
            <a:endParaRPr kumimoji="0" lang="es-ES" sz="1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+mn-lt"/>
              <a:ea typeface="+mn-ea"/>
              <a:cs typeface="+mn-cs"/>
              <a:sym typeface="Calibri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ES" sz="1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Calibri"/>
              </a:rPr>
              <a:t>1234-2</a:t>
            </a:r>
            <a:endParaRPr kumimoji="0" lang="es-E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ES" sz="1400" dirty="0"/>
              <a:t>- Dirección 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kumimoji="0" lang="es-E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- Tipos de </a:t>
            </a:r>
            <a:r>
              <a:rPr lang="es-ES" sz="1400" dirty="0" smtClean="0"/>
              <a:t>entrega</a:t>
            </a:r>
            <a:endParaRPr kumimoji="0" lang="es-E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ES" sz="1400" dirty="0"/>
              <a:t>- Artículos</a:t>
            </a:r>
          </a:p>
          <a:p>
            <a:pPr lvl="2" indent="0"/>
            <a:endParaRPr lang="es-MX" sz="1400" dirty="0" smtClean="0"/>
          </a:p>
          <a:p>
            <a:pPr lvl="2" indent="0"/>
            <a:r>
              <a:rPr lang="es-MX" sz="1400" dirty="0" err="1" smtClean="0"/>
              <a:t>Shipment</a:t>
            </a:r>
            <a:r>
              <a:rPr lang="es-MX" sz="1400" dirty="0" smtClean="0"/>
              <a:t> </a:t>
            </a:r>
            <a:r>
              <a:rPr lang="es-MX" sz="1400" dirty="0"/>
              <a:t>3 - $</a:t>
            </a:r>
            <a:r>
              <a:rPr lang="es-MX" sz="1400" dirty="0" smtClean="0"/>
              <a:t>Importe </a:t>
            </a:r>
            <a:r>
              <a:rPr lang="es-ES" sz="1400" dirty="0"/>
              <a:t>– Non </a:t>
            </a:r>
            <a:r>
              <a:rPr lang="es-ES" sz="1400" dirty="0" err="1"/>
              <a:t>Grocery</a:t>
            </a:r>
            <a:endParaRPr lang="es-MX" sz="1400" dirty="0" smtClean="0"/>
          </a:p>
          <a:p>
            <a:pPr lvl="2" indent="0"/>
            <a:endParaRPr lang="es-MX" sz="1400" dirty="0" smtClean="0">
              <a:highlight>
                <a:srgbClr val="FFFF00"/>
              </a:highlight>
            </a:endParaRPr>
          </a:p>
          <a:p>
            <a:pPr lvl="2" indent="0"/>
            <a:r>
              <a:rPr lang="es-MX" sz="1400" dirty="0" smtClean="0">
                <a:highlight>
                  <a:srgbClr val="FFFF00"/>
                </a:highlight>
              </a:rPr>
              <a:t>1234-3</a:t>
            </a:r>
            <a:endParaRPr lang="es-MX" sz="1400" dirty="0">
              <a:highlight>
                <a:srgbClr val="FFFF00"/>
              </a:highlight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s-ES" sz="1400" dirty="0"/>
              <a:t>- Dirección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kumimoji="0" lang="es-E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- Tipos de </a:t>
            </a:r>
            <a:r>
              <a:rPr lang="es-ES" sz="1400" dirty="0" smtClean="0"/>
              <a:t>entrega</a:t>
            </a:r>
            <a:endParaRPr kumimoji="0" lang="es-E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kumimoji="0" lang="es-MX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- </a:t>
            </a:r>
            <a:r>
              <a:rPr kumimoji="0" lang="es-MX" sz="1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Artículos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="" xmlns:a16="http://schemas.microsoft.com/office/drawing/2014/main" id="{30936005-5413-41BC-A08F-E2302AD3F656}"/>
              </a:ext>
            </a:extLst>
          </p:cNvPr>
          <p:cNvSpPr/>
          <p:nvPr/>
        </p:nvSpPr>
        <p:spPr>
          <a:xfrm>
            <a:off x="4944872" y="3741438"/>
            <a:ext cx="980896" cy="484632"/>
          </a:xfrm>
          <a:prstGeom prst="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="" xmlns:a16="http://schemas.microsoft.com/office/drawing/2014/main" id="{6B215F73-CBA4-4478-A174-988290AC14E5}"/>
              </a:ext>
            </a:extLst>
          </p:cNvPr>
          <p:cNvSpPr txBox="1"/>
          <p:nvPr/>
        </p:nvSpPr>
        <p:spPr>
          <a:xfrm>
            <a:off x="4930225" y="3438425"/>
            <a:ext cx="133145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b="1" dirty="0" smtClean="0"/>
              <a:t>Única opción</a:t>
            </a:r>
            <a:endParaRPr kumimoji="0" lang="es-MX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="" xmlns:a16="http://schemas.microsoft.com/office/drawing/2014/main" id="{214CC62F-63FB-4A0D-94DF-1E7EAB06CC99}"/>
              </a:ext>
            </a:extLst>
          </p:cNvPr>
          <p:cNvCxnSpPr/>
          <p:nvPr/>
        </p:nvCxnSpPr>
        <p:spPr>
          <a:xfrm>
            <a:off x="4474138" y="1376707"/>
            <a:ext cx="20859" cy="526898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CuadroTexto 26">
            <a:extLst>
              <a:ext uri="{FF2B5EF4-FFF2-40B4-BE49-F238E27FC236}">
                <a16:creationId xmlns="" xmlns:a16="http://schemas.microsoft.com/office/drawing/2014/main" id="{CCF98088-C476-4069-BE26-17B2DAB19B04}"/>
              </a:ext>
            </a:extLst>
          </p:cNvPr>
          <p:cNvSpPr txBox="1"/>
          <p:nvPr/>
        </p:nvSpPr>
        <p:spPr>
          <a:xfrm>
            <a:off x="1766172" y="1051942"/>
            <a:ext cx="128977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Checkout</a:t>
            </a:r>
            <a:endParaRPr kumimoji="0" lang="es-MX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E423BFD4-4A33-4DC0-B2D1-0D56F72BC6B8}"/>
              </a:ext>
            </a:extLst>
          </p:cNvPr>
          <p:cNvSpPr txBox="1"/>
          <p:nvPr/>
        </p:nvSpPr>
        <p:spPr>
          <a:xfrm>
            <a:off x="1808651" y="1469638"/>
            <a:ext cx="120481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Orden 1234</a:t>
            </a:r>
            <a:endParaRPr kumimoji="0" lang="es-MX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6458011" y="3381986"/>
            <a:ext cx="5001759" cy="1384993"/>
            <a:chOff x="6771193" y="1981577"/>
            <a:chExt cx="5001759" cy="1384993"/>
          </a:xfrm>
        </p:grpSpPr>
        <p:sp>
          <p:nvSpPr>
            <p:cNvPr id="13" name="CuadroTexto 12">
              <a:extLst>
                <a:ext uri="{FF2B5EF4-FFF2-40B4-BE49-F238E27FC236}">
                  <a16:creationId xmlns="" xmlns:a16="http://schemas.microsoft.com/office/drawing/2014/main" id="{CEE8457A-355C-4EDF-B4E1-50EE37211BF9}"/>
                </a:ext>
              </a:extLst>
            </p:cNvPr>
            <p:cNvSpPr txBox="1"/>
            <p:nvPr/>
          </p:nvSpPr>
          <p:spPr>
            <a:xfrm>
              <a:off x="6771193" y="1981577"/>
              <a:ext cx="2685990" cy="1384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lvl="2" indent="0"/>
              <a:r>
                <a:rPr lang="es-ES" sz="1400" dirty="0" err="1" smtClean="0"/>
                <a:t>Shipment</a:t>
              </a:r>
              <a:r>
                <a:rPr lang="es-ES" sz="1400" dirty="0" smtClean="0"/>
                <a:t> </a:t>
              </a:r>
              <a:r>
                <a:rPr lang="es-ES" sz="1400" dirty="0"/>
                <a:t>1</a:t>
              </a:r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r>
                <a:rPr lang="es-MX" sz="1400" dirty="0" smtClean="0"/>
                <a:t>$500 </a:t>
              </a:r>
              <a:r>
                <a:rPr lang="es-MX" sz="1400" dirty="0"/>
                <a:t>– </a:t>
              </a:r>
              <a:r>
                <a:rPr lang="es-MX" sz="1400" dirty="0" err="1" smtClean="0"/>
                <a:t>Grocery</a:t>
              </a:r>
              <a:r>
                <a:rPr lang="es-MX" sz="1400" dirty="0" smtClean="0"/>
                <a:t> MID</a:t>
              </a:r>
              <a:endParaRPr lang="es-MX" sz="1400" dirty="0">
                <a:solidFill>
                  <a:srgbClr val="FF0000"/>
                </a:solidFill>
              </a:endParaRPr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endParaRPr kumimoji="0" lang="es-E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  <a:p>
              <a:r>
                <a:rPr lang="es-ES" sz="1400" dirty="0" err="1" smtClean="0"/>
                <a:t>Shipment</a:t>
              </a:r>
              <a:r>
                <a:rPr lang="es-ES" sz="1400" dirty="0" smtClean="0"/>
                <a:t> </a:t>
              </a:r>
              <a:r>
                <a:rPr lang="es-ES" sz="1400" dirty="0"/>
                <a:t>2 y 3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 smtClean="0"/>
                <a:t>$3000  – Non </a:t>
              </a:r>
              <a:r>
                <a:rPr lang="es-ES" sz="1400" dirty="0" err="1" smtClean="0"/>
                <a:t>Grocery</a:t>
              </a:r>
              <a:r>
                <a:rPr lang="es-ES" sz="1400" dirty="0" smtClean="0"/>
                <a:t> MID 3DS </a:t>
              </a:r>
              <a:endParaRPr lang="es-ES" sz="1400" dirty="0"/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endParaRPr kumimoji="0" lang="es-MX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="" xmlns:a16="http://schemas.microsoft.com/office/drawing/2014/main" id="{F036EF57-6948-4B31-88B6-6E30EDBD246F}"/>
                </a:ext>
              </a:extLst>
            </p:cNvPr>
            <p:cNvSpPr txBox="1"/>
            <p:nvPr/>
          </p:nvSpPr>
          <p:spPr>
            <a:xfrm>
              <a:off x="9583893" y="2125853"/>
              <a:ext cx="1809148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ES" sz="1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Transacción</a:t>
              </a:r>
              <a:r>
                <a:rPr kumimoji="0" lang="es-ES" sz="1400" b="0" i="0" u="none" strike="noStrike" cap="none" spc="0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 </a:t>
              </a:r>
              <a:r>
                <a:rPr kumimoji="0" lang="es-ES" sz="1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1 - </a:t>
              </a:r>
              <a:r>
                <a:rPr kumimoji="0" lang="es-ES" sz="14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Grocery</a:t>
              </a:r>
              <a:endParaRPr kumimoji="0" lang="es-MX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="" xmlns:a16="http://schemas.microsoft.com/office/drawing/2014/main" id="{E4E67A94-0385-45FE-B4E4-58B29DC49AFD}"/>
                </a:ext>
              </a:extLst>
            </p:cNvPr>
            <p:cNvSpPr txBox="1"/>
            <p:nvPr/>
          </p:nvSpPr>
          <p:spPr>
            <a:xfrm>
              <a:off x="9583893" y="2790246"/>
              <a:ext cx="2189059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s-ES" sz="14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Transacción 2 – Non </a:t>
              </a:r>
              <a:r>
                <a:rPr kumimoji="0" lang="es-ES" sz="14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Grocery</a:t>
              </a:r>
              <a:endParaRPr kumimoji="0" lang="es-MX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cxnSp>
          <p:nvCxnSpPr>
            <p:cNvPr id="9" name="Conector recto de flecha 8"/>
            <p:cNvCxnSpPr/>
            <p:nvPr/>
          </p:nvCxnSpPr>
          <p:spPr>
            <a:xfrm>
              <a:off x="8777008" y="2341029"/>
              <a:ext cx="52425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Conector recto de flecha 32"/>
            <p:cNvCxnSpPr/>
            <p:nvPr/>
          </p:nvCxnSpPr>
          <p:spPr>
            <a:xfrm>
              <a:off x="9462732" y="2944133"/>
              <a:ext cx="52425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CCF98088-C476-4069-BE26-17B2DAB19B04}"/>
              </a:ext>
            </a:extLst>
          </p:cNvPr>
          <p:cNvSpPr txBox="1"/>
          <p:nvPr/>
        </p:nvSpPr>
        <p:spPr>
          <a:xfrm>
            <a:off x="6264528" y="607202"/>
            <a:ext cx="419601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s-ES" sz="2400" b="1" dirty="0"/>
              <a:t>Transacciones </a:t>
            </a:r>
            <a:r>
              <a:rPr lang="es-ES" sz="2400" b="1" dirty="0" smtClean="0"/>
              <a:t>- Centro </a:t>
            </a:r>
            <a:r>
              <a:rPr lang="es-ES" sz="2400" b="1" dirty="0"/>
              <a:t>de </a:t>
            </a:r>
            <a:r>
              <a:rPr lang="es-ES" sz="2400" b="1" dirty="0" smtClean="0"/>
              <a:t>pagos</a:t>
            </a:r>
            <a:endParaRPr kumimoji="0" lang="es-MX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212040" y="6061803"/>
            <a:ext cx="24621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24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*</a:t>
            </a:r>
            <a:endParaRPr kumimoji="0" lang="es-MX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425801" y="6136256"/>
            <a:ext cx="392291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1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Nota: cantidad de </a:t>
            </a:r>
            <a:r>
              <a:rPr kumimoji="0" lang="es-MX" sz="12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shipments</a:t>
            </a:r>
            <a:r>
              <a:rPr kumimoji="0" lang="es-MX" sz="12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conforme a la cantidad de envíos que el cliente requiere seguimiento, pudieran ser de Almacén, tienda y uno o mas proveedores DSV</a:t>
            </a:r>
            <a:endParaRPr kumimoji="0" lang="es-MX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9" name="Rectángulo redondeado 38"/>
          <p:cNvSpPr>
            <a:spLocks/>
          </p:cNvSpPr>
          <p:nvPr/>
        </p:nvSpPr>
        <p:spPr>
          <a:xfrm>
            <a:off x="6282391" y="3177457"/>
            <a:ext cx="5628798" cy="1836000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400325" y="1876044"/>
            <a:ext cx="24621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24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*</a:t>
            </a:r>
            <a:endParaRPr kumimoji="0" lang="es-MX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5815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9DAC71B3-0B14-401F-8CE4-5BBC7E3C230C}"/>
              </a:ext>
            </a:extLst>
          </p:cNvPr>
          <p:cNvSpPr/>
          <p:nvPr/>
        </p:nvSpPr>
        <p:spPr>
          <a:xfrm>
            <a:off x="10335491" y="269396"/>
            <a:ext cx="1575698" cy="367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1">
            <a:extLst>
              <a:ext uri="{FF2B5EF4-FFF2-40B4-BE49-F238E27FC236}">
                <a16:creationId xmlns="" xmlns:a16="http://schemas.microsoft.com/office/drawing/2014/main" id="{33DDDE4C-17B7-42DB-8D9D-110E650CC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95" y="6428436"/>
            <a:ext cx="1566208" cy="39445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D78FA03B-8816-4C5E-89D2-0D943E6A5E45}"/>
              </a:ext>
            </a:extLst>
          </p:cNvPr>
          <p:cNvSpPr txBox="1"/>
          <p:nvPr/>
        </p:nvSpPr>
        <p:spPr>
          <a:xfrm>
            <a:off x="1110343" y="1733489"/>
            <a:ext cx="1640832" cy="36933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Súper 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en tu casa</a:t>
            </a:r>
            <a:endParaRPr kumimoji="0" lang="es-MX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CBA0F4A9-DFE2-4C8D-BC59-04D0E54B0648}"/>
              </a:ext>
            </a:extLst>
          </p:cNvPr>
          <p:cNvSpPr txBox="1"/>
          <p:nvPr/>
        </p:nvSpPr>
        <p:spPr>
          <a:xfrm>
            <a:off x="994926" y="3753206"/>
            <a:ext cx="2076849" cy="36933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Mercancía </a:t>
            </a:r>
            <a:r>
              <a:rPr kumimoji="0" lang="es-E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Generales</a:t>
            </a: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="" xmlns:a16="http://schemas.microsoft.com/office/drawing/2014/main" id="{3A6E0FE3-D24F-43A4-888A-D9AB3B367603}"/>
              </a:ext>
            </a:extLst>
          </p:cNvPr>
          <p:cNvCxnSpPr>
            <a:cxnSpLocks/>
            <a:stCxn id="2" idx="3"/>
            <a:endCxn id="42" idx="1"/>
          </p:cNvCxnSpPr>
          <p:nvPr/>
        </p:nvCxnSpPr>
        <p:spPr>
          <a:xfrm>
            <a:off x="2751175" y="1918154"/>
            <a:ext cx="2746871" cy="918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CuadroTexto 11">
            <a:extLst>
              <a:ext uri="{FF2B5EF4-FFF2-40B4-BE49-F238E27FC236}">
                <a16:creationId xmlns="" xmlns:a16="http://schemas.microsoft.com/office/drawing/2014/main" id="{E51E6BE7-6ED0-4D62-907A-37EBCFA3A41F}"/>
              </a:ext>
            </a:extLst>
          </p:cNvPr>
          <p:cNvSpPr txBox="1"/>
          <p:nvPr/>
        </p:nvSpPr>
        <p:spPr>
          <a:xfrm>
            <a:off x="5823726" y="2169133"/>
            <a:ext cx="4866074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85750" indent="-285750">
              <a:buFont typeface="Arial" panose="020B0604020202020204" pitchFamily="34" charset="0"/>
              <a:buChar char="•"/>
              <a:defRPr sz="1600"/>
            </a:lvl1pPr>
          </a:lstStyle>
          <a:p>
            <a:r>
              <a:rPr lang="es-ES" dirty="0"/>
              <a:t>Preventa + Cierre de Preventa (POS</a:t>
            </a:r>
            <a:r>
              <a:rPr lang="es-ES" dirty="0" smtClean="0"/>
              <a:t>) Al salir de la caja 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   (</a:t>
            </a:r>
            <a:r>
              <a:rPr lang="es-ES" dirty="0"/>
              <a:t>Tope excedente 20%)</a:t>
            </a:r>
            <a:endParaRPr lang="es-MX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="" xmlns:a16="http://schemas.microsoft.com/office/drawing/2014/main" id="{58E22BCA-74EE-4D5D-A472-294871CB21A8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 flipV="1">
            <a:off x="3071775" y="3498574"/>
            <a:ext cx="2602796" cy="439297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EFC3E383-CB76-42A6-A4F1-53E36ACE3DB8}"/>
              </a:ext>
            </a:extLst>
          </p:cNvPr>
          <p:cNvSpPr txBox="1"/>
          <p:nvPr/>
        </p:nvSpPr>
        <p:spPr>
          <a:xfrm>
            <a:off x="5828536" y="3872106"/>
            <a:ext cx="545437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/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Preventa + Cierre de Preventa (</a:t>
            </a:r>
            <a:r>
              <a:rPr lang="es-ES" dirty="0" err="1"/>
              <a:t>Checkout</a:t>
            </a:r>
            <a:r>
              <a:rPr lang="es-ES" dirty="0" smtClean="0"/>
              <a:t>) al cerrar la compra</a:t>
            </a:r>
            <a:endParaRPr lang="es-MX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="" xmlns:a16="http://schemas.microsoft.com/office/drawing/2014/main" id="{8EF41A7A-3C40-4CA1-86FB-0B32F620AA97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3071775" y="3937871"/>
            <a:ext cx="2429494" cy="138142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CuadroTexto 37">
            <a:extLst>
              <a:ext uri="{FF2B5EF4-FFF2-40B4-BE49-F238E27FC236}">
                <a16:creationId xmlns="" xmlns:a16="http://schemas.microsoft.com/office/drawing/2014/main" id="{E7FFFC46-4815-4446-BB18-65D497A7E7A8}"/>
              </a:ext>
            </a:extLst>
          </p:cNvPr>
          <p:cNvSpPr txBox="1"/>
          <p:nvPr/>
        </p:nvSpPr>
        <p:spPr>
          <a:xfrm>
            <a:off x="6152343" y="5516801"/>
            <a:ext cx="530209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85750" indent="-285750">
              <a:buFont typeface="Arial" panose="020B0604020202020204" pitchFamily="34" charset="0"/>
              <a:buChar char="•"/>
              <a:defRPr sz="1600"/>
            </a:lvl1pPr>
          </a:lstStyle>
          <a:p>
            <a:r>
              <a:rPr lang="es-ES" dirty="0"/>
              <a:t>Preventa + Cierre de Preventa (Al aprobar revisión manual)</a:t>
            </a:r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="" xmlns:a16="http://schemas.microsoft.com/office/drawing/2014/main" id="{2DE9AB70-73C8-455F-83FA-B6FEBBFB0CEC}"/>
              </a:ext>
            </a:extLst>
          </p:cNvPr>
          <p:cNvSpPr txBox="1"/>
          <p:nvPr/>
        </p:nvSpPr>
        <p:spPr>
          <a:xfrm>
            <a:off x="5498046" y="1742669"/>
            <a:ext cx="652340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b="1"/>
            </a:lvl1pPr>
          </a:lstStyle>
          <a:p>
            <a:pPr algn="l"/>
            <a:r>
              <a:rPr lang="es-ES" dirty="0" smtClean="0"/>
              <a:t>Transacciones </a:t>
            </a:r>
            <a:r>
              <a:rPr lang="es-ES" dirty="0" smtClean="0">
                <a:solidFill>
                  <a:srgbClr val="FF0000"/>
                </a:solidFill>
              </a:rPr>
              <a:t>Con </a:t>
            </a:r>
            <a:r>
              <a:rPr lang="es-ES" dirty="0">
                <a:solidFill>
                  <a:srgbClr val="FF0000"/>
                </a:solidFill>
              </a:rPr>
              <a:t>o Sin</a:t>
            </a:r>
            <a:r>
              <a:rPr lang="es-ES" dirty="0"/>
              <a:t> MSI o Promoción Bancaria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="" xmlns:a16="http://schemas.microsoft.com/office/drawing/2014/main" id="{CCF98088-C476-4069-BE26-17B2DAB19B04}"/>
              </a:ext>
            </a:extLst>
          </p:cNvPr>
          <p:cNvSpPr txBox="1"/>
          <p:nvPr/>
        </p:nvSpPr>
        <p:spPr>
          <a:xfrm>
            <a:off x="1110343" y="1127738"/>
            <a:ext cx="18460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Tipo Catálogo</a:t>
            </a:r>
            <a:endParaRPr kumimoji="0" lang="es-MX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CCF98088-C476-4069-BE26-17B2DAB19B04}"/>
              </a:ext>
            </a:extLst>
          </p:cNvPr>
          <p:cNvSpPr txBox="1"/>
          <p:nvPr/>
        </p:nvSpPr>
        <p:spPr>
          <a:xfrm>
            <a:off x="5504730" y="1153504"/>
            <a:ext cx="610198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Esquema de aprobación</a:t>
            </a:r>
            <a:r>
              <a:rPr kumimoji="0" lang="es-ES" sz="24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y cierre de transacción</a:t>
            </a:r>
            <a:endParaRPr kumimoji="0" lang="es-MX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/>
          </p:cNvSpPr>
          <p:nvPr/>
        </p:nvSpPr>
        <p:spPr bwMode="auto">
          <a:xfrm>
            <a:off x="1395589" y="227205"/>
            <a:ext cx="10515600" cy="45229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 lnSpcReduction="100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Esquema aprobación y cierre de transacciones bancarias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8B91D6B2-21C4-4152-AC82-E15A35E0E2FD}"/>
              </a:ext>
            </a:extLst>
          </p:cNvPr>
          <p:cNvSpPr txBox="1"/>
          <p:nvPr/>
        </p:nvSpPr>
        <p:spPr>
          <a:xfrm>
            <a:off x="5674571" y="3175409"/>
            <a:ext cx="640992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ES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Transacciones </a:t>
            </a:r>
            <a:r>
              <a:rPr kumimoji="0" lang="es-ES" b="1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/>
              </a:rPr>
              <a:t>Con o Sin</a:t>
            </a:r>
            <a:r>
              <a:rPr kumimoji="0" lang="es-ES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 </a:t>
            </a:r>
            <a:r>
              <a:rPr kumimoji="0" lang="es-ES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MSI </a:t>
            </a:r>
            <a:r>
              <a:rPr lang="es-ES" b="1" dirty="0" smtClean="0"/>
              <a:t>o Promoción Bancaria </a:t>
            </a:r>
            <a:r>
              <a:rPr lang="es-ES" b="1" dirty="0" smtClean="0">
                <a:solidFill>
                  <a:srgbClr val="FF0000"/>
                </a:solidFill>
              </a:rPr>
              <a:t>Sin</a:t>
            </a:r>
            <a:r>
              <a:rPr lang="es-ES" b="1" dirty="0"/>
              <a:t> </a:t>
            </a:r>
            <a:r>
              <a:rPr lang="es-ES" b="1" dirty="0" smtClean="0"/>
              <a:t>Revisión Manual</a:t>
            </a:r>
            <a:endParaRPr kumimoji="0" lang="es-ES" b="1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="" xmlns:a16="http://schemas.microsoft.com/office/drawing/2014/main" id="{8B91D6B2-21C4-4152-AC82-E15A35E0E2FD}"/>
              </a:ext>
            </a:extLst>
          </p:cNvPr>
          <p:cNvSpPr txBox="1"/>
          <p:nvPr/>
        </p:nvSpPr>
        <p:spPr>
          <a:xfrm>
            <a:off x="5501269" y="4996131"/>
            <a:ext cx="6471931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  <a:lvl6pPr>
              <a:defRPr>
                <a:solidFill>
                  <a:srgbClr val="000000"/>
                </a:solidFill>
              </a:defRPr>
            </a:lvl6pPr>
            <a:lvl7pPr>
              <a:defRPr>
                <a:solidFill>
                  <a:srgbClr val="000000"/>
                </a:solidFill>
              </a:defRPr>
            </a:lvl7pPr>
            <a:lvl8pPr>
              <a:defRPr>
                <a:solidFill>
                  <a:srgbClr val="000000"/>
                </a:solidFill>
              </a:defRPr>
            </a:lvl8pPr>
            <a:lvl9pPr>
              <a:defRPr>
                <a:solidFill>
                  <a:srgbClr val="000000"/>
                </a:solidFill>
              </a:defRPr>
            </a:lvl9pPr>
          </a:lstStyle>
          <a:p>
            <a:r>
              <a:rPr lang="es-ES" dirty="0"/>
              <a:t>Transacciones </a:t>
            </a:r>
            <a:r>
              <a:rPr lang="es-ES" dirty="0" smtClean="0">
                <a:solidFill>
                  <a:srgbClr val="FF0000"/>
                </a:solidFill>
              </a:rPr>
              <a:t>Con o SIN </a:t>
            </a:r>
            <a:r>
              <a:rPr lang="es-ES" dirty="0"/>
              <a:t>MSI o Promoción Bancaria </a:t>
            </a:r>
            <a:r>
              <a:rPr lang="es-ES" dirty="0">
                <a:solidFill>
                  <a:srgbClr val="FF0000"/>
                </a:solidFill>
              </a:rPr>
              <a:t>Con </a:t>
            </a:r>
            <a:r>
              <a:rPr lang="es-ES" dirty="0"/>
              <a:t>Revisión Manual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95073" y="5171406"/>
            <a:ext cx="4807992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800" b="1" dirty="0" smtClean="0"/>
              <a:t>Los MSI se aplican por transacción y por catálogo</a:t>
            </a:r>
            <a:endParaRPr kumimoji="0" lang="es-MX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656949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Autorización bancaria = retención de saldo</a:t>
            </a:r>
          </a:p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Autorización bancaria + liquidación= al cobro de la transacción</a:t>
            </a:r>
          </a:p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Autorización directa o en firme= cobro directo de la transacción</a:t>
            </a:r>
          </a:p>
          <a:p>
            <a:pPr marL="0" indent="0">
              <a:buNone/>
            </a:pPr>
            <a:r>
              <a:rPr lang="es-ES" dirty="0" smtClean="0"/>
              <a:t>Partida o transacción contraria.</a:t>
            </a:r>
          </a:p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Reversión de la autorización= liberación de saldo</a:t>
            </a:r>
          </a:p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Crédito a la tarjeta= devolución saldo </a:t>
            </a:r>
          </a:p>
          <a:p>
            <a:pPr marL="514350" indent="-514350">
              <a:buFont typeface="+mj-lt"/>
              <a:buAutoNum type="alphaUcPeriod"/>
            </a:pPr>
            <a:r>
              <a:rPr lang="es-ES" dirty="0" smtClean="0"/>
              <a:t>Crédito a la tarjeta= devolución saldo</a:t>
            </a:r>
          </a:p>
          <a:p>
            <a:pPr marL="514350" indent="-514350">
              <a:buFont typeface="+mj-lt"/>
              <a:buAutoNum type="alphaUcPeriod"/>
            </a:pPr>
            <a:endParaRPr lang="es-ES" dirty="0" smtClean="0"/>
          </a:p>
          <a:p>
            <a:pPr marL="0" indent="0">
              <a:buNone/>
            </a:pPr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/>
          </p:cNvSpPr>
          <p:nvPr/>
        </p:nvSpPr>
        <p:spPr bwMode="auto">
          <a:xfrm>
            <a:off x="1395589" y="227205"/>
            <a:ext cx="10515600" cy="45229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 lnSpcReduction="100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Autorizaciones y </a:t>
            </a:r>
            <a:r>
              <a:rPr lang="es-ES" sz="2800" b="1" dirty="0">
                <a:solidFill>
                  <a:srgbClr val="012364"/>
                </a:solidFill>
                <a:latin typeface="Lato"/>
              </a:rPr>
              <a:t> </a:t>
            </a: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su transacción  inversa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66666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774511" y="165178"/>
            <a:ext cx="10515600" cy="132556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Reglas Procesador de pagos </a:t>
            </a:r>
            <a:br>
              <a:rPr lang="es-ES" sz="2800" b="1" dirty="0" smtClean="0">
                <a:solidFill>
                  <a:srgbClr val="012364"/>
                </a:solidFill>
                <a:latin typeface="Lato"/>
              </a:rPr>
            </a:b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Transacciones Non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Grocery</a:t>
            </a: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 </a:t>
            </a:r>
            <a:r>
              <a:rPr lang="es-ES" sz="2800" b="1" dirty="0">
                <a:solidFill>
                  <a:srgbClr val="012364"/>
                </a:solidFill>
                <a:latin typeface="Lato"/>
              </a:rPr>
              <a:t>&amp;</a:t>
            </a: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Grocery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774511" y="1297558"/>
            <a:ext cx="10153934" cy="8217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400" b="1" dirty="0" smtClean="0"/>
              <a:t>Validaciones 3Ds</a:t>
            </a:r>
          </a:p>
          <a:p>
            <a:r>
              <a:rPr lang="es-ES" sz="2400" b="1" dirty="0" smtClean="0">
                <a:solidFill>
                  <a:srgbClr val="C00000"/>
                </a:solidFill>
              </a:rPr>
              <a:t>Las siguientes dos reglas solo aplican </a:t>
            </a:r>
            <a:r>
              <a:rPr lang="es-ES" sz="2400" b="1" dirty="0">
                <a:solidFill>
                  <a:srgbClr val="C00000"/>
                </a:solidFill>
              </a:rPr>
              <a:t>cuando el cliente compra en los dos formatos es decir </a:t>
            </a:r>
            <a:r>
              <a:rPr lang="es-ES" sz="2400" b="1" dirty="0" err="1">
                <a:solidFill>
                  <a:srgbClr val="C00000"/>
                </a:solidFill>
              </a:rPr>
              <a:t>grocery</a:t>
            </a:r>
            <a:r>
              <a:rPr lang="es-ES" sz="2400" b="1" dirty="0">
                <a:solidFill>
                  <a:srgbClr val="C00000"/>
                </a:solidFill>
              </a:rPr>
              <a:t> y </a:t>
            </a:r>
            <a:r>
              <a:rPr lang="es-ES" sz="2400" b="1" dirty="0" smtClean="0">
                <a:solidFill>
                  <a:srgbClr val="C00000"/>
                </a:solidFill>
              </a:rPr>
              <a:t>non </a:t>
            </a:r>
            <a:r>
              <a:rPr lang="es-ES" sz="2400" b="1" dirty="0" err="1">
                <a:solidFill>
                  <a:srgbClr val="C00000"/>
                </a:solidFill>
              </a:rPr>
              <a:t>grocery</a:t>
            </a:r>
            <a:r>
              <a:rPr lang="es-ES" sz="2400" dirty="0" smtClean="0"/>
              <a:t>.</a:t>
            </a:r>
            <a:endParaRPr lang="es-ES" sz="2400" b="1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ES" sz="2400" b="1" dirty="0" smtClean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Enviar</a:t>
            </a:r>
            <a:r>
              <a:rPr kumimoji="0" lang="es-ES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 el </a:t>
            </a:r>
            <a:r>
              <a:rPr kumimoji="0" lang="es-ES" sz="24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shipment</a:t>
            </a:r>
            <a:r>
              <a:rPr kumimoji="0" lang="es-ES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 con el mayor monto. Aún cuando del </a:t>
            </a:r>
            <a:r>
              <a:rPr kumimoji="0" lang="es-ES" sz="2400" b="0" i="0" u="none" strike="noStrike" cap="none" spc="0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Decision</a:t>
            </a:r>
            <a:r>
              <a:rPr kumimoji="0" lang="es-ES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 Manager no la haya seleccionado para validación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sz="2400" b="0" i="0" u="none" strike="noStrike" cap="none" spc="0" normalizeH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baseline="0" dirty="0" smtClean="0"/>
              <a:t>Si no</a:t>
            </a:r>
            <a:r>
              <a:rPr lang="es-ES" sz="2400" dirty="0" smtClean="0"/>
              <a:t> pasa la validación el </a:t>
            </a:r>
            <a:r>
              <a:rPr lang="es-ES" sz="2400" dirty="0" err="1" smtClean="0"/>
              <a:t>shipment</a:t>
            </a:r>
            <a:r>
              <a:rPr lang="es-ES" sz="2400" dirty="0" smtClean="0"/>
              <a:t> enviado a 3DS;  el segundo </a:t>
            </a:r>
            <a:r>
              <a:rPr lang="es-ES" sz="2400" dirty="0" err="1" smtClean="0"/>
              <a:t>shipment</a:t>
            </a:r>
            <a:r>
              <a:rPr lang="es-ES" sz="2400" dirty="0" smtClean="0"/>
              <a:t>  deberá ser cancelado también pendiente definir secuencia de </a:t>
            </a:r>
            <a:r>
              <a:rPr lang="es-ES" sz="2400" dirty="0" err="1" smtClean="0"/>
              <a:t>txs</a:t>
            </a:r>
            <a:endParaRPr lang="es-ES" sz="2400" dirty="0" smtClean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sz="2400" b="1" dirty="0" smtClean="0">
              <a:solidFill>
                <a:srgbClr val="C00000"/>
              </a:solidFill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s-ES" sz="2400" b="1" dirty="0">
                <a:solidFill>
                  <a:srgbClr val="C00000"/>
                </a:solidFill>
              </a:rPr>
              <a:t> </a:t>
            </a:r>
            <a:r>
              <a:rPr lang="es-ES" sz="2400" b="1" dirty="0" smtClean="0">
                <a:solidFill>
                  <a:srgbClr val="C00000"/>
                </a:solidFill>
              </a:rPr>
              <a:t>Esta regla solo aplica para las transacciones con forma de pago </a:t>
            </a:r>
            <a:r>
              <a:rPr lang="es-ES" sz="2400" b="1" dirty="0" err="1" smtClean="0">
                <a:solidFill>
                  <a:srgbClr val="C00000"/>
                </a:solidFill>
              </a:rPr>
              <a:t>Mastercard</a:t>
            </a:r>
            <a:r>
              <a:rPr lang="es-ES" sz="2400" b="1" dirty="0" smtClean="0">
                <a:solidFill>
                  <a:srgbClr val="C00000"/>
                </a:solidFill>
              </a:rPr>
              <a:t> en non </a:t>
            </a:r>
            <a:r>
              <a:rPr lang="es-ES" sz="2400" b="1" dirty="0" err="1" smtClean="0">
                <a:solidFill>
                  <a:srgbClr val="C00000"/>
                </a:solidFill>
              </a:rPr>
              <a:t>grocery</a:t>
            </a:r>
            <a:endParaRPr lang="es-ES" sz="2400" b="1" dirty="0">
              <a:solidFill>
                <a:srgbClr val="C00000"/>
              </a:solidFill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 smtClean="0"/>
              <a:t>Todas las validaciones 3Ds deberán ser enviadas a las afiliaciones de Santander para Non </a:t>
            </a:r>
            <a:r>
              <a:rPr lang="es-ES" sz="2400" dirty="0" err="1" smtClean="0"/>
              <a:t>grocery</a:t>
            </a:r>
            <a:endParaRPr lang="es-ES" sz="2400" dirty="0" smtClean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sz="2400" dirty="0" smtClean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sz="2400" dirty="0" smtClean="0"/>
          </a:p>
          <a:p>
            <a:endParaRPr lang="es-ES" sz="2400" b="1" dirty="0" smtClean="0"/>
          </a:p>
          <a:p>
            <a:endParaRPr lang="es-ES" sz="2400" dirty="0" smtClean="0"/>
          </a:p>
          <a:p>
            <a:endParaRPr lang="es-ES" sz="2400" dirty="0" smtClean="0"/>
          </a:p>
          <a:p>
            <a:r>
              <a:rPr lang="es-ES" sz="2400" dirty="0"/>
              <a:t> </a:t>
            </a:r>
            <a:r>
              <a:rPr lang="es-ES" sz="2400" dirty="0" smtClean="0"/>
              <a:t>      </a:t>
            </a:r>
            <a:endParaRPr lang="es-ES" sz="2400" dirty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s-MX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7123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Reglas Procesador de pagos </a:t>
            </a:r>
            <a:br>
              <a:rPr lang="es-ES" sz="2800" b="1" dirty="0" smtClean="0">
                <a:solidFill>
                  <a:srgbClr val="012364"/>
                </a:solidFill>
                <a:latin typeface="Lato"/>
              </a:rPr>
            </a:b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Transacciones con y sin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Grocery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97238" y="1588199"/>
            <a:ext cx="10153934" cy="9325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s-ES" sz="2400" b="1" dirty="0" smtClean="0"/>
              <a:t>Reintentos</a:t>
            </a:r>
          </a:p>
          <a:p>
            <a:r>
              <a:rPr lang="es-ES" sz="2400" b="1" dirty="0">
                <a:solidFill>
                  <a:srgbClr val="C00000"/>
                </a:solidFill>
              </a:rPr>
              <a:t>Los reintentos no aplican cuando la transacción fue enviada a validación 3DS</a:t>
            </a:r>
          </a:p>
          <a:p>
            <a:endParaRPr lang="es-E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Solo se enviarán  para reintento las transacciones rechazada por los códigos:</a:t>
            </a:r>
          </a:p>
          <a:p>
            <a:r>
              <a:rPr lang="es-ES" sz="2400" dirty="0"/>
              <a:t>     Código </a:t>
            </a:r>
            <a:r>
              <a:rPr lang="es-ES" sz="2400" b="1" dirty="0"/>
              <a:t>203</a:t>
            </a:r>
            <a:r>
              <a:rPr lang="es-ES" sz="2400" dirty="0"/>
              <a:t>  Mensaje de respuesta </a:t>
            </a:r>
            <a:r>
              <a:rPr lang="es-ES" sz="2400" b="1" dirty="0"/>
              <a:t>Do </a:t>
            </a:r>
            <a:r>
              <a:rPr lang="es-ES" sz="2400" b="1" dirty="0" err="1"/>
              <a:t>not</a:t>
            </a:r>
            <a:r>
              <a:rPr lang="es-ES" sz="2400" b="1" dirty="0"/>
              <a:t> honor</a:t>
            </a:r>
          </a:p>
          <a:p>
            <a:r>
              <a:rPr lang="es-ES" sz="2400" dirty="0"/>
              <a:t>   </a:t>
            </a:r>
            <a:r>
              <a:rPr lang="es-ES" sz="2400" dirty="0" smtClean="0"/>
              <a:t>Código</a:t>
            </a:r>
            <a:r>
              <a:rPr lang="es-ES" sz="2400" b="1" dirty="0" smtClean="0"/>
              <a:t> </a:t>
            </a:r>
            <a:r>
              <a:rPr lang="es-ES" sz="2400" b="1" dirty="0"/>
              <a:t>150 </a:t>
            </a:r>
            <a:r>
              <a:rPr lang="es-ES" sz="2400" dirty="0"/>
              <a:t>Mensaje de respuesta </a:t>
            </a:r>
            <a:r>
              <a:rPr lang="es-ES" sz="2400" dirty="0" err="1"/>
              <a:t>P</a:t>
            </a:r>
            <a:r>
              <a:rPr lang="es-ES" sz="2400" b="1" dirty="0" err="1"/>
              <a:t>ayment</a:t>
            </a:r>
            <a:r>
              <a:rPr lang="es-ES" sz="2400" b="1" dirty="0"/>
              <a:t> </a:t>
            </a:r>
            <a:r>
              <a:rPr lang="es-ES" sz="2400" b="1" dirty="0" err="1"/>
              <a:t>processor</a:t>
            </a:r>
            <a:r>
              <a:rPr lang="es-ES" sz="2400" b="1" dirty="0"/>
              <a:t> error </a:t>
            </a:r>
            <a:r>
              <a:rPr lang="es-ES" sz="2400" b="1" dirty="0" err="1"/>
              <a:t>usser</a:t>
            </a:r>
            <a:r>
              <a:rPr lang="es-ES" sz="2400" b="1" dirty="0"/>
              <a:t> </a:t>
            </a:r>
            <a:r>
              <a:rPr lang="es-ES" sz="2400" b="1" dirty="0" err="1"/>
              <a:t>inoperative</a:t>
            </a:r>
            <a:r>
              <a:rPr lang="es-ES" sz="2400" b="1" dirty="0"/>
              <a:t>  </a:t>
            </a:r>
            <a:r>
              <a:rPr lang="es-ES" sz="2400" b="1" dirty="0" err="1"/>
              <a:t>or</a:t>
            </a:r>
            <a:r>
              <a:rPr lang="es-ES" sz="2400" b="1" dirty="0"/>
              <a:t> </a:t>
            </a:r>
            <a:r>
              <a:rPr lang="es-ES" sz="2400" b="1" dirty="0" err="1"/>
              <a:t>some</a:t>
            </a:r>
            <a:r>
              <a:rPr lang="es-ES" sz="2400" b="1" dirty="0"/>
              <a:t> </a:t>
            </a:r>
            <a:r>
              <a:rPr lang="es-ES" sz="2400" b="1" dirty="0" err="1"/>
              <a:t>other</a:t>
            </a:r>
            <a:r>
              <a:rPr lang="es-ES" sz="2400" b="1" dirty="0"/>
              <a:t> </a:t>
            </a:r>
            <a:r>
              <a:rPr lang="es-ES" sz="2400" b="1" dirty="0" err="1"/>
              <a:t>system</a:t>
            </a:r>
            <a:r>
              <a:rPr lang="es-ES" sz="2400" b="1" dirty="0"/>
              <a:t> </a:t>
            </a:r>
            <a:r>
              <a:rPr lang="es-ES" sz="2400" b="1" dirty="0" err="1"/>
              <a:t>problem</a:t>
            </a:r>
            <a:endParaRPr lang="es-ES" sz="2400" b="1" dirty="0"/>
          </a:p>
          <a:p>
            <a:r>
              <a:rPr lang="es-ES" sz="2400" dirty="0"/>
              <a:t>     Código </a:t>
            </a:r>
            <a:r>
              <a:rPr lang="es-ES" sz="2400" b="1" dirty="0"/>
              <a:t>233 </a:t>
            </a:r>
            <a:r>
              <a:rPr lang="es-ES" sz="2400" dirty="0"/>
              <a:t>Mensaje de respuesta </a:t>
            </a:r>
            <a:r>
              <a:rPr lang="es-ES" sz="2400" b="1" dirty="0"/>
              <a:t>General decline </a:t>
            </a:r>
            <a:endParaRPr lang="es-ES" sz="2400" dirty="0"/>
          </a:p>
          <a:p>
            <a:r>
              <a:rPr lang="es-ES" sz="2400" dirty="0"/>
              <a:t>      Código </a:t>
            </a:r>
            <a:r>
              <a:rPr lang="es-ES" sz="2400" b="1" dirty="0"/>
              <a:t>236 </a:t>
            </a:r>
            <a:r>
              <a:rPr lang="es-ES" sz="2400" dirty="0"/>
              <a:t>Mensaje de respuesta </a:t>
            </a:r>
            <a:r>
              <a:rPr lang="es-ES" sz="2400" b="1" dirty="0" err="1"/>
              <a:t>Processor</a:t>
            </a:r>
            <a:r>
              <a:rPr lang="es-ES" sz="2400" b="1" dirty="0"/>
              <a:t> </a:t>
            </a:r>
            <a:r>
              <a:rPr lang="es-ES" sz="2400" b="1" dirty="0" err="1"/>
              <a:t>failure</a:t>
            </a:r>
            <a:endParaRPr lang="es-ES" sz="2400" b="1" dirty="0"/>
          </a:p>
          <a:p>
            <a:endParaRPr lang="es-ES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Para </a:t>
            </a:r>
            <a:r>
              <a:rPr lang="es-ES" sz="2400" dirty="0" err="1"/>
              <a:t>Grocery</a:t>
            </a:r>
            <a:r>
              <a:rPr lang="es-ES" sz="2400" dirty="0"/>
              <a:t> el reintento debe ir a EVOPAYMENT(</a:t>
            </a:r>
            <a:r>
              <a:rPr lang="es-ES" sz="2400" dirty="0" err="1"/>
              <a:t>CitiBanamex</a:t>
            </a:r>
            <a:r>
              <a:rPr lang="es-ES" sz="2400" dirty="0" smtClean="0"/>
              <a:t>) 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Para </a:t>
            </a:r>
            <a:r>
              <a:rPr lang="es-ES" sz="2400" dirty="0" smtClean="0"/>
              <a:t>No </a:t>
            </a:r>
            <a:r>
              <a:rPr lang="es-ES" sz="2400" dirty="0" err="1" smtClean="0"/>
              <a:t>Grocery</a:t>
            </a:r>
            <a:r>
              <a:rPr lang="es-ES" sz="2400" dirty="0" smtClean="0"/>
              <a:t> el </a:t>
            </a:r>
            <a:r>
              <a:rPr lang="es-ES" sz="2400" dirty="0"/>
              <a:t>reintento debe ir GETNET(Santander</a:t>
            </a:r>
            <a:r>
              <a:rPr lang="es-ES" sz="2400" dirty="0" smtClean="0"/>
              <a:t>)</a:t>
            </a:r>
          </a:p>
          <a:p>
            <a:r>
              <a:rPr lang="es-ES" sz="2400" dirty="0" smtClean="0"/>
              <a:t>Nota: pendiente revisar las afiliaciones participantes</a:t>
            </a:r>
          </a:p>
          <a:p>
            <a:endParaRPr lang="es-ES" sz="2400" dirty="0" smtClean="0"/>
          </a:p>
          <a:p>
            <a:endParaRPr lang="es-ES" sz="2400" dirty="0"/>
          </a:p>
          <a:p>
            <a:endParaRPr lang="es-ES" sz="2400" b="1" dirty="0" smtClean="0"/>
          </a:p>
          <a:p>
            <a:endParaRPr lang="es-ES" sz="2400" dirty="0" smtClean="0"/>
          </a:p>
          <a:p>
            <a:endParaRPr lang="es-ES" sz="2400" dirty="0"/>
          </a:p>
          <a:p>
            <a:endParaRPr lang="es-ES" sz="2400" dirty="0" smtClean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 smtClean="0"/>
          </a:p>
          <a:p>
            <a:r>
              <a:rPr lang="es-ES" sz="2400" dirty="0"/>
              <a:t> </a:t>
            </a:r>
            <a:r>
              <a:rPr lang="es-ES" sz="2400" dirty="0" smtClean="0"/>
              <a:t>      </a:t>
            </a:r>
            <a:endParaRPr lang="es-ES" sz="2400" dirty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s-MX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81229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774511" y="165178"/>
            <a:ext cx="10515600" cy="132556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Reglas Procesador de pagos </a:t>
            </a:r>
            <a:br>
              <a:rPr lang="es-ES" sz="2800" b="1" dirty="0" smtClean="0">
                <a:solidFill>
                  <a:srgbClr val="012364"/>
                </a:solidFill>
                <a:latin typeface="Lato"/>
              </a:rPr>
            </a:b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Transacciones con y sin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Grocery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774511" y="1163196"/>
            <a:ext cx="10153934" cy="8217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s-ES" sz="2400" b="1" dirty="0" smtClean="0"/>
              <a:t>Notificaciones al cliente</a:t>
            </a:r>
          </a:p>
          <a:p>
            <a:r>
              <a:rPr lang="es-ES" sz="2400" dirty="0" smtClean="0"/>
              <a:t>Hay dos modalidades, una es por correo y la otra es en  “su cuenta”; esta parte estará en </a:t>
            </a:r>
            <a:r>
              <a:rPr lang="es-ES" sz="2400" dirty="0" err="1" smtClean="0"/>
              <a:t>Salesforce</a:t>
            </a:r>
            <a:r>
              <a:rPr lang="es-ES" sz="2400" dirty="0" smtClean="0"/>
              <a:t>. El cliente con su número de pedido podrá ver el estatus de sus </a:t>
            </a:r>
            <a:r>
              <a:rPr lang="es-ES" sz="2400" dirty="0" err="1" smtClean="0"/>
              <a:t>shipments</a:t>
            </a:r>
            <a:r>
              <a:rPr lang="es-ES" sz="2400" dirty="0" smtClean="0"/>
              <a:t>.  En esta parte deberán aparecer las notificaciones del Procesador de Pagos cuando emita un crédito o una reversión de la autorización.</a:t>
            </a:r>
          </a:p>
          <a:p>
            <a:r>
              <a:rPr lang="es-ES" sz="2400" dirty="0" smtClean="0"/>
              <a:t>Los datos que debe enviar son: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Número de </a:t>
            </a:r>
            <a:r>
              <a:rPr lang="es-ES" sz="2400" dirty="0" err="1" smtClean="0"/>
              <a:t>Shi</a:t>
            </a:r>
            <a:endParaRPr lang="es-E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Fecha de la aplicación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Tipo de transacción (crédito, liberación de saldo)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 smtClean="0"/>
              <a:t>Bin</a:t>
            </a:r>
            <a:r>
              <a:rPr lang="es-ES" sz="2400" dirty="0" smtClean="0"/>
              <a:t> y sufijo donde se aplicó la transacción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No de autorización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Monto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Legales sobre el procedimiento para el cliente con su emisor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 smtClean="0"/>
          </a:p>
          <a:p>
            <a:endParaRPr lang="es-ES" sz="2400" dirty="0"/>
          </a:p>
          <a:p>
            <a:endParaRPr lang="es-ES" sz="2400" dirty="0" smtClean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 smtClean="0"/>
          </a:p>
          <a:p>
            <a:r>
              <a:rPr lang="es-ES" sz="2400" dirty="0"/>
              <a:t> </a:t>
            </a:r>
            <a:r>
              <a:rPr lang="es-ES" sz="2400" dirty="0" smtClean="0"/>
              <a:t>      </a:t>
            </a:r>
            <a:endParaRPr lang="es-ES" sz="2400" dirty="0"/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s-MX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942168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5A7C3230-8AD8-4948-90AD-EED08E6A9D27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18" tIns="45718" rIns="45718" bIns="45718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457200">
              <a:spcBef>
                <a:spcPts val="0"/>
              </a:spcBef>
              <a:spcAft>
                <a:spcPts val="0"/>
              </a:spcAft>
            </a:pP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Reglas Procesador de pagos </a:t>
            </a:r>
            <a:br>
              <a:rPr lang="es-ES" sz="2800" b="1" dirty="0" smtClean="0">
                <a:solidFill>
                  <a:srgbClr val="012364"/>
                </a:solidFill>
                <a:latin typeface="Lato"/>
              </a:rPr>
            </a:b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Transacciones con y sin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Grocery</a:t>
            </a:r>
            <a:r>
              <a:rPr lang="es-ES" sz="2800" b="1" dirty="0" smtClean="0">
                <a:solidFill>
                  <a:srgbClr val="012364"/>
                </a:solidFill>
                <a:latin typeface="Lato"/>
              </a:rPr>
              <a:t> limpieza de </a:t>
            </a:r>
            <a:r>
              <a:rPr lang="es-ES" sz="2800" b="1" dirty="0" err="1" smtClean="0">
                <a:solidFill>
                  <a:srgbClr val="012364"/>
                </a:solidFill>
                <a:latin typeface="Lato"/>
              </a:rPr>
              <a:t>tokens</a:t>
            </a:r>
            <a:endParaRPr lang="es-MX" sz="2800" b="1" dirty="0">
              <a:solidFill>
                <a:srgbClr val="012364"/>
              </a:solidFill>
              <a:latin typeface="Lato"/>
            </a:endParaRP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338495"/>
              </p:ext>
            </p:extLst>
          </p:nvPr>
        </p:nvGraphicFramePr>
        <p:xfrm>
          <a:off x="1710027" y="1439370"/>
          <a:ext cx="8837772" cy="541863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472962"/>
                <a:gridCol w="1472962"/>
                <a:gridCol w="1472962"/>
                <a:gridCol w="1472962"/>
                <a:gridCol w="1472962"/>
                <a:gridCol w="1472962"/>
              </a:tblGrid>
              <a:tr h="3259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smtClean="0"/>
                        <a:t>Número</a:t>
                      </a:r>
                      <a:r>
                        <a:rPr lang="es-ES" sz="1400" baseline="0" dirty="0" smtClean="0"/>
                        <a:t> de escenario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aseline="0" dirty="0" smtClean="0"/>
                        <a:t>Escenario 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Regla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Periodicidad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Formato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Lugar</a:t>
                      </a:r>
                      <a:r>
                        <a:rPr lang="es-ES" baseline="0" dirty="0" smtClean="0"/>
                        <a:t> de borrado</a:t>
                      </a:r>
                      <a:endParaRPr lang="es-MX" dirty="0"/>
                    </a:p>
                  </a:txBody>
                  <a:tcPr/>
                </a:tc>
              </a:tr>
              <a:tr h="48885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Tokens</a:t>
                      </a:r>
                      <a:r>
                        <a:rPr lang="es-ES" dirty="0" smtClean="0"/>
                        <a:t> de usuarios invitados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Borrar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tokens</a:t>
                      </a:r>
                      <a:r>
                        <a:rPr lang="es-ES" dirty="0" smtClean="0"/>
                        <a:t> después</a:t>
                      </a:r>
                      <a:r>
                        <a:rPr lang="es-ES" baseline="0" dirty="0" smtClean="0"/>
                        <a:t> de la autorización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Diaria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Grocery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No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Grocery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  <a:p>
                      <a:pPr algn="l"/>
                      <a:endParaRPr lang="es-MX" dirty="0"/>
                    </a:p>
                  </a:txBody>
                  <a:tcPr/>
                </a:tc>
              </a:tr>
              <a:tr h="68439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Tokens</a:t>
                      </a:r>
                      <a:r>
                        <a:rPr lang="es-ES" baseline="0" dirty="0" smtClean="0"/>
                        <a:t> con tarjetas vencidas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Borrar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tokens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dirty="0" smtClean="0"/>
                        <a:t> en</a:t>
                      </a:r>
                      <a:r>
                        <a:rPr lang="es-ES" baseline="0" dirty="0" smtClean="0"/>
                        <a:t> fecha de vencimiento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Mensuales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Grocery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No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Grocery</a:t>
                      </a:r>
                      <a:endParaRPr lang="es-MX" dirty="0" smtClean="0"/>
                    </a:p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/>
                    </a:p>
                  </a:txBody>
                  <a:tcPr/>
                </a:tc>
              </a:tr>
              <a:tr h="68439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aseline="0" dirty="0" smtClean="0"/>
                        <a:t>Suscripciones sin compras en más de  n dejar  configurable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Borrar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tokens</a:t>
                      </a:r>
                      <a:r>
                        <a:rPr lang="es-ES" baseline="0" dirty="0" smtClean="0"/>
                        <a:t>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Diaria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Grocery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No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Grocery</a:t>
                      </a:r>
                      <a:endParaRPr lang="es-MX" dirty="0" smtClean="0"/>
                    </a:p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  <a:p>
                      <a:pPr algn="l"/>
                      <a:endParaRPr lang="es-MX" dirty="0"/>
                    </a:p>
                  </a:txBody>
                  <a:tcPr/>
                </a:tc>
              </a:tr>
              <a:tr h="68439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Tarjetas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dirty="0" smtClean="0"/>
                        <a:t> que no son guardadas como forma de pago recurrente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Borrar </a:t>
                      </a:r>
                      <a:r>
                        <a:rPr lang="es-ES" dirty="0" err="1" smtClean="0"/>
                        <a:t>tokens</a:t>
                      </a:r>
                      <a:r>
                        <a:rPr lang="es-ES" dirty="0" smtClean="0"/>
                        <a:t> después</a:t>
                      </a:r>
                      <a:r>
                        <a:rPr lang="es-ES" baseline="0" dirty="0" smtClean="0"/>
                        <a:t> de la autorización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Diaria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mtClean="0"/>
                        <a:t>Salesforce</a:t>
                      </a:r>
                      <a:r>
                        <a:rPr lang="es-ES" baseline="0" smtClean="0"/>
                        <a:t> y TMS Cybersource </a:t>
                      </a:r>
                      <a:endParaRPr lang="es-MX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</a:txBody>
                  <a:tcPr/>
                </a:tc>
              </a:tr>
              <a:tr h="87993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err="1" smtClean="0"/>
                        <a:t>Tokens</a:t>
                      </a:r>
                      <a:r>
                        <a:rPr lang="es-ES" baseline="0" dirty="0" smtClean="0"/>
                        <a:t> con fraudes confirmado y marcados como </a:t>
                      </a:r>
                      <a:r>
                        <a:rPr lang="es-ES" baseline="0" dirty="0" err="1" smtClean="0"/>
                        <a:t>sospechos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Borrar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tokens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Diaria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Grocery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No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Grocery</a:t>
                      </a:r>
                      <a:endParaRPr lang="es-MX" dirty="0" smtClean="0"/>
                    </a:p>
                    <a:p>
                      <a:pPr algn="l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  <a:p>
                      <a:pPr algn="l"/>
                      <a:endParaRPr lang="es-MX" dirty="0"/>
                    </a:p>
                  </a:txBody>
                  <a:tcPr/>
                </a:tc>
              </a:tr>
              <a:tr h="879930"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err="1" smtClean="0"/>
                        <a:t>Tokens</a:t>
                      </a:r>
                      <a:r>
                        <a:rPr lang="es-ES" baseline="0" dirty="0" smtClean="0"/>
                        <a:t> de lista blanca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aseline="0" dirty="0" smtClean="0"/>
                        <a:t>Si cumple escenario 2, borrar </a:t>
                      </a:r>
                      <a:r>
                        <a:rPr lang="es-ES" baseline="0" dirty="0" err="1" smtClean="0"/>
                        <a:t>tokens</a:t>
                      </a:r>
                      <a:endParaRPr lang="es-MX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Hacer</a:t>
                      </a:r>
                      <a:r>
                        <a:rPr lang="es-ES" baseline="0" dirty="0" smtClean="0"/>
                        <a:t> validación contra escenario 3 y no borrar.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/>
                        <a:t>Mensual</a:t>
                      </a:r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Diaria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 smtClean="0"/>
                        <a:t>Grocery</a:t>
                      </a:r>
                      <a:endParaRPr lang="es-ES" dirty="0" smtClean="0"/>
                    </a:p>
                    <a:p>
                      <a:pPr algn="ctr"/>
                      <a:r>
                        <a:rPr lang="es-ES" dirty="0" smtClean="0"/>
                        <a:t>No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Grocery</a:t>
                      </a:r>
                      <a:endParaRPr lang="es-MX" dirty="0" smtClean="0"/>
                    </a:p>
                    <a:p>
                      <a:pPr algn="l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 smtClean="0"/>
                        <a:t>Salesforce</a:t>
                      </a:r>
                      <a:r>
                        <a:rPr lang="es-ES" baseline="0" dirty="0" smtClean="0"/>
                        <a:t> y TMS </a:t>
                      </a:r>
                      <a:r>
                        <a:rPr lang="es-ES" baseline="0" dirty="0" err="1" smtClean="0"/>
                        <a:t>Cybersource</a:t>
                      </a:r>
                      <a:r>
                        <a:rPr lang="es-ES" baseline="0" dirty="0" smtClean="0"/>
                        <a:t> </a:t>
                      </a:r>
                      <a:endParaRPr lang="es-MX" dirty="0" smtClean="0"/>
                    </a:p>
                    <a:p>
                      <a:pPr algn="l"/>
                      <a:endParaRPr lang="es-ES" dirty="0" smtClean="0"/>
                    </a:p>
                    <a:p>
                      <a:pPr algn="l"/>
                      <a:r>
                        <a:rPr lang="es-ES" dirty="0" smtClean="0"/>
                        <a:t>No aplica</a:t>
                      </a:r>
                    </a:p>
                    <a:p>
                      <a:pPr algn="l"/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36062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11391</TotalTime>
  <Words>741</Words>
  <Application>Microsoft Office PowerPoint</Application>
  <PresentationFormat>Panorámica</PresentationFormat>
  <Paragraphs>177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Lato</vt:lpstr>
      <vt:lpstr>Segoe UI Light</vt:lpstr>
      <vt:lpstr>Tema de Office</vt:lpstr>
      <vt:lpstr>Image</vt:lpstr>
      <vt:lpstr>Presentación de PowerPoint</vt:lpstr>
      <vt:lpstr>Presentación de PowerPoint</vt:lpstr>
      <vt:lpstr>Presentación de PowerPoint</vt:lpstr>
      <vt:lpstr>Reglas Procesador de pagos  Transacciones Non Grocery &amp; Grocery</vt:lpstr>
      <vt:lpstr>Reglas Procesador de pagos  Transacciones con y sin Grocery</vt:lpstr>
      <vt:lpstr>Reglas Procesador de pagos  Transacciones con y sin Grocery</vt:lpstr>
      <vt:lpstr>Reglas Procesador de pagos  Transacciones con y sin Grocery limpieza de tokens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Gutierrez Rosas, Antonio</dc:creator>
  <cp:lastModifiedBy>eliseo gijon romero</cp:lastModifiedBy>
  <cp:revision>217</cp:revision>
  <dcterms:modified xsi:type="dcterms:W3CDTF">2021-05-14T02:10:05Z</dcterms:modified>
</cp:coreProperties>
</file>