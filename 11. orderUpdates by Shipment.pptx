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59" r:id="rId5"/>
    <p:sldId id="258" r:id="rId6"/>
    <p:sldId id="261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34" autoAdjust="0"/>
    <p:restoredTop sz="86667" autoAdjust="0"/>
  </p:normalViewPr>
  <p:slideViewPr>
    <p:cSldViewPr snapToGrid="0">
      <p:cViewPr>
        <p:scale>
          <a:sx n="125" d="100"/>
          <a:sy n="125" d="100"/>
        </p:scale>
        <p:origin x="-197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0A49E-8B8D-4FA1-B97B-4725B18C3686}" type="datetimeFigureOut">
              <a:rPr lang="es-MX" smtClean="0"/>
              <a:t>06/10/2021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F31C3-23C6-4AEE-9E70-9057B09046E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4116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err="1" smtClean="0"/>
              <a:t>MercurioQaDB</a:t>
            </a:r>
            <a:endParaRPr lang="es-MX" dirty="0" smtClean="0"/>
          </a:p>
          <a:p>
            <a:r>
              <a:rPr lang="es-MX" dirty="0" smtClean="0"/>
              <a:t>Programas</a:t>
            </a:r>
            <a:r>
              <a:rPr lang="es-MX" baseline="0" dirty="0" smtClean="0"/>
              <a:t> transaccionales:</a:t>
            </a:r>
          </a:p>
          <a:p>
            <a:r>
              <a:rPr lang="es-MX" baseline="0" dirty="0" smtClean="0"/>
              <a:t>Creación de la orden  - Ocurre el estatus=0</a:t>
            </a:r>
          </a:p>
          <a:p>
            <a:r>
              <a:rPr lang="es-MX" baseline="0" dirty="0" smtClean="0"/>
              <a:t>	</a:t>
            </a:r>
            <a:r>
              <a:rPr lang="es-MX" baseline="0" dirty="0" err="1" smtClean="0"/>
              <a:t>dbo.spInsertOrderFacts_UE</a:t>
            </a:r>
            <a:endParaRPr lang="es-MX" baseline="0" dirty="0" smtClean="0"/>
          </a:p>
          <a:p>
            <a:r>
              <a:rPr lang="es-MX" b="1" baseline="0" dirty="0" smtClean="0"/>
              <a:t>	dbo.spInsertOrderFacts_V2_UE</a:t>
            </a:r>
          </a:p>
          <a:p>
            <a:r>
              <a:rPr lang="es-MX" baseline="0" dirty="0" smtClean="0"/>
              <a:t>Actualización de la orden – Ocurren los cambios a estatus [1, 2, 3, 4, 5, 6, 7(CEDIS) ]</a:t>
            </a:r>
          </a:p>
          <a:p>
            <a:r>
              <a:rPr lang="es-MX" b="1" baseline="0" dirty="0" smtClean="0"/>
              <a:t>	</a:t>
            </a:r>
            <a:r>
              <a:rPr lang="es-MX" b="1" baseline="0" dirty="0" err="1" smtClean="0"/>
              <a:t>dbo</a:t>
            </a:r>
            <a:r>
              <a:rPr lang="es-MX" b="1" baseline="0" dirty="0" smtClean="0"/>
              <a:t>. </a:t>
            </a:r>
            <a:r>
              <a:rPr lang="es-MX" b="1" baseline="0" dirty="0" err="1" smtClean="0"/>
              <a:t>spUpdateOrderFacts_UE</a:t>
            </a:r>
            <a:endParaRPr lang="es-MX" b="1" baseline="0" dirty="0" smtClean="0"/>
          </a:p>
          <a:p>
            <a:r>
              <a:rPr lang="es-MX" baseline="0" dirty="0" smtClean="0"/>
              <a:t>Cancelación de la orden – Ocurre el estatus=7(SETC, DST, DSV)</a:t>
            </a:r>
          </a:p>
          <a:p>
            <a:r>
              <a:rPr lang="es-MX" b="1" baseline="0" dirty="0" smtClean="0"/>
              <a:t>	</a:t>
            </a:r>
            <a:r>
              <a:rPr lang="es-MX" b="1" baseline="0" dirty="0" err="1" smtClean="0"/>
              <a:t>dbo</a:t>
            </a:r>
            <a:r>
              <a:rPr lang="es-MX" b="1" baseline="0" dirty="0" smtClean="0"/>
              <a:t>. spInsertOrderFacts_Cancellation_V2</a:t>
            </a:r>
          </a:p>
          <a:p>
            <a:endParaRPr lang="es-MX" baseline="0" dirty="0" smtClean="0"/>
          </a:p>
          <a:p>
            <a:r>
              <a:rPr lang="es-MX" baseline="0" dirty="0" smtClean="0"/>
              <a:t>Estatus OMS de la orden  Campo: </a:t>
            </a:r>
            <a:r>
              <a:rPr lang="es-MX" baseline="0" dirty="0" err="1" smtClean="0"/>
              <a:t>statusUE</a:t>
            </a:r>
            <a:r>
              <a:rPr lang="es-MX" baseline="0" dirty="0" smtClean="0"/>
              <a:t> – tabla: </a:t>
            </a:r>
            <a:r>
              <a:rPr lang="es-MX" baseline="0" dirty="0" err="1" smtClean="0"/>
              <a:t>OrderFacts_UE</a:t>
            </a:r>
            <a:endParaRPr lang="es-MX" baseline="0" dirty="0" smtClean="0"/>
          </a:p>
          <a:p>
            <a:r>
              <a:rPr lang="es-MX" baseline="0" dirty="0" smtClean="0"/>
              <a:t>0 – creada</a:t>
            </a:r>
          </a:p>
          <a:p>
            <a:r>
              <a:rPr lang="es-MX" baseline="0" dirty="0" smtClean="0"/>
              <a:t>1 – surtidor asignado</a:t>
            </a:r>
          </a:p>
          <a:p>
            <a:r>
              <a:rPr lang="es-MX" baseline="0" dirty="0" smtClean="0"/>
              <a:t>2 – picking recibido</a:t>
            </a:r>
          </a:p>
          <a:p>
            <a:r>
              <a:rPr lang="es-MX" baseline="0" dirty="0" smtClean="0"/>
              <a:t>3 – cobro recibido</a:t>
            </a:r>
          </a:p>
          <a:p>
            <a:r>
              <a:rPr lang="es-MX" baseline="0" dirty="0" smtClean="0"/>
              <a:t>4 – empaque recibido</a:t>
            </a:r>
          </a:p>
          <a:p>
            <a:r>
              <a:rPr lang="es-MX" baseline="0" dirty="0" smtClean="0"/>
              <a:t>5 – transportista asignado</a:t>
            </a:r>
          </a:p>
          <a:p>
            <a:r>
              <a:rPr lang="es-MX" baseline="0" dirty="0" smtClean="0"/>
              <a:t>6 – Orden entregada</a:t>
            </a:r>
          </a:p>
          <a:p>
            <a:r>
              <a:rPr lang="es-MX" baseline="0" dirty="0" smtClean="0"/>
              <a:t>7 – Orden Cancelada</a:t>
            </a:r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F31C3-23C6-4AEE-9E70-9057B09046ED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19984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F31C3-23C6-4AEE-9E70-9057B09046ED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866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068A7C8-416A-431F-B6B6-5E10A9FC7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EEBC7174-8DDE-4513-BD49-8DFEB36FC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12559011-593F-4603-A40E-3EC116335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1983-F2EE-476D-94DC-0B3B3FE495CB}" type="datetimeFigureOut">
              <a:rPr lang="es-MX" smtClean="0"/>
              <a:t>06/10/2021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5EE5EBE2-3E97-4839-AE00-F25CF298E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78858116-25CA-4DD4-B95B-98C8343A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832F3-48AA-43CA-ACCE-67B981F3F58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5062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E56BFE4-4F52-4475-8F47-E99159D46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D6280535-94CD-48AE-89AF-BD5653ADB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A7F298FA-8A94-4B70-A168-97FE99F83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1983-F2EE-476D-94DC-0B3B3FE495CB}" type="datetimeFigureOut">
              <a:rPr lang="es-MX" smtClean="0"/>
              <a:t>06/10/2021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F44542E0-9C70-4327-BB26-78732BD7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0CAF64FC-27B5-4A56-8073-CCDE5C4CB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832F3-48AA-43CA-ACCE-67B981F3F58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737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7000A60-80EA-4596-89F0-E8FC7D5CC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B0F70908-AE8A-478E-97E0-B85BBB750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6181A750-5CAB-4364-BA47-0A0FEE0A3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1983-F2EE-476D-94DC-0B3B3FE495CB}" type="datetimeFigureOut">
              <a:rPr lang="es-MX" smtClean="0"/>
              <a:t>06/10/2021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8A526B49-F967-4C35-8275-4A98670EB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A742FF75-1C91-4C96-B788-ED88872F6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832F3-48AA-43CA-ACCE-67B981F3F58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246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155CD1A-66E8-4C3F-8502-13AB5C832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337E739E-30A0-4D9E-9A66-DFD83A49E4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D7AA83DB-5100-4FA3-8F7B-26AF8814D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4BEA30BD-229E-4B2C-A04F-01D5F76E8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1983-F2EE-476D-94DC-0B3B3FE495CB}" type="datetimeFigureOut">
              <a:rPr lang="es-MX" smtClean="0"/>
              <a:t>06/10/2021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9F24D323-7FE6-43DE-A2D5-2FDFD559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0ED6EFE5-2F96-4C9E-8B5D-EE2B3888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832F3-48AA-43CA-ACCE-67B981F3F58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07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E4E7E51-C3A8-4AFB-9BCF-F78DE3DEF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025267C9-4B83-4431-85E9-63CE2C258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F4BBC894-6FD1-4D97-812E-1D0AF8DCB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xmlns="" id="{0C0C41BC-40AE-4002-A003-2A13F38207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xmlns="" id="{D5302007-1C93-416D-A9FD-51DC1AC2F2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xmlns="" id="{6D34FD13-EC47-4FBC-98B7-3361AD85D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1983-F2EE-476D-94DC-0B3B3FE495CB}" type="datetimeFigureOut">
              <a:rPr lang="es-MX" smtClean="0"/>
              <a:t>06/10/2021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xmlns="" id="{60B1195A-3177-444B-B45D-22D7FF7B6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xmlns="" id="{A41A65FE-4F9F-4F74-81EA-812C12E66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832F3-48AA-43CA-ACCE-67B981F3F58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09479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21BA9E4-1A8C-44A9-A432-A78AC83D2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xmlns="" id="{D3E0E618-2490-4108-A76D-71D42731E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1983-F2EE-476D-94DC-0B3B3FE495CB}" type="datetimeFigureOut">
              <a:rPr lang="es-MX" smtClean="0"/>
              <a:t>06/10/2021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xmlns="" id="{E87D6AEE-90FD-49CE-AFEF-FC42B2BFE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D65E93DA-7AE7-4A02-B56F-9E2953C7C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832F3-48AA-43CA-ACCE-67B981F3F58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7606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xmlns="" id="{84107828-493B-426C-BB4D-DBEDAF7B5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1983-F2EE-476D-94DC-0B3B3FE495CB}" type="datetimeFigureOut">
              <a:rPr lang="es-MX" smtClean="0"/>
              <a:t>06/10/2021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1F146DB3-1E95-483E-8599-D013DEE38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1952693E-2D55-44E0-93E3-70EFD66D7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832F3-48AA-43CA-ACCE-67B981F3F58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06972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B743AB8-645E-4EDC-8F55-4499244C5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516179DD-D9C1-4701-BC52-34B52C5E4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48737F31-A3C1-4567-804C-C4B8732956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F19B86AE-2D63-4545-8D5E-C073BDA49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1983-F2EE-476D-94DC-0B3B3FE495CB}" type="datetimeFigureOut">
              <a:rPr lang="es-MX" smtClean="0"/>
              <a:t>06/10/2021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AC39D25D-13E8-47A8-B948-A3FE398AA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6D32D52A-97AC-4286-A2A3-CE746468B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832F3-48AA-43CA-ACCE-67B981F3F58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5075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CDC3234-3C55-4A42-8DDD-EE876C4C6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xmlns="" id="{BCAEFCD5-253E-4B34-B210-3E879CC8B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998BA8E4-5213-4224-B0A9-7D1E6E8116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942450AF-C823-481E-BF14-4B9416D15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1983-F2EE-476D-94DC-0B3B3FE495CB}" type="datetimeFigureOut">
              <a:rPr lang="es-MX" smtClean="0"/>
              <a:t>06/10/2021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6111D524-F510-46E2-B4AB-5FF9F9A62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620989DC-1EB5-4A7C-AE22-63942870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832F3-48AA-43CA-ACCE-67B981F3F58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93120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70D3E04-EE7E-48F7-B924-5BDCB257D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F4C89890-C2FE-4819-A4F4-90FB680ECA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6039794D-1125-415C-B399-6B243284F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1983-F2EE-476D-94DC-0B3B3FE495CB}" type="datetimeFigureOut">
              <a:rPr lang="es-MX" smtClean="0"/>
              <a:t>06/10/2021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2045BDD4-2282-41C8-A3F1-81DAEE9CB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868A7F90-CE17-4DD1-A1C1-7C14096AE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832F3-48AA-43CA-ACCE-67B981F3F58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4168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50D63912-363D-41A0-BA1E-B6203D176D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5EE8F0CD-8158-4380-9366-655C6D1F4D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7D842BD6-D990-41CD-AA45-CA6130B1E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1983-F2EE-476D-94DC-0B3B3FE495CB}" type="datetimeFigureOut">
              <a:rPr lang="es-MX" smtClean="0"/>
              <a:t>06/10/2021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09AE8FC6-67E1-4B16-B073-8FC94B5A7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DDBD6A3A-227B-44F2-9CC1-4CA78F418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832F3-48AA-43CA-ACCE-67B981F3F58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6754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xmlns="" id="{D62BCD3E-98EB-4AE5-8194-78412EC4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E2BFAB0D-774C-43B4-BF1B-4E8CBFF4D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91FC9D27-8BE4-4C52-80DF-D94D4FEB80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21983-F2EE-476D-94DC-0B3B3FE495CB}" type="datetimeFigureOut">
              <a:rPr lang="es-MX" smtClean="0"/>
              <a:t>06/10/2021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FE2D7BA6-5C0F-4675-BB5A-C7671274E4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F78611E9-EEA4-488D-967E-C0FD750A0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832F3-48AA-43CA-ACCE-67B981F3F58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1051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0CB6EE-DC86-4B64-B599-0307C0C568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err="1"/>
              <a:t>orderUpdates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A9E6F057-B1F4-41A3-ABBE-9006E46391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err="1"/>
              <a:t>Order</a:t>
            </a:r>
            <a:r>
              <a:rPr lang="es-MX" dirty="0"/>
              <a:t> </a:t>
            </a:r>
            <a:r>
              <a:rPr lang="es-MX" dirty="0" err="1"/>
              <a:t>Attributes</a:t>
            </a:r>
            <a:r>
              <a:rPr lang="es-MX" dirty="0"/>
              <a:t> </a:t>
            </a:r>
            <a:r>
              <a:rPr lang="es-MX" dirty="0" err="1"/>
              <a:t>Mapping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9488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D1FFE90-2BDC-420E-A85C-B8FE1B8A5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6081" cy="1325563"/>
          </a:xfrm>
        </p:spPr>
        <p:txBody>
          <a:bodyPr/>
          <a:lstStyle/>
          <a:p>
            <a:r>
              <a:rPr lang="es-MX" b="0" i="0" dirty="0" err="1">
                <a:effectLst/>
                <a:latin typeface="SFMono-Medium"/>
              </a:rPr>
              <a:t>shipments</a:t>
            </a:r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50070399-92F8-4F64-9E3B-5C8CD3477C58}"/>
              </a:ext>
            </a:extLst>
          </p:cNvPr>
          <p:cNvSpPr txBox="1"/>
          <p:nvPr/>
        </p:nvSpPr>
        <p:spPr>
          <a:xfrm>
            <a:off x="594828" y="1872333"/>
            <a:ext cx="5672622" cy="403720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lIns="288000" tIns="216000" rIns="216000" bIns="216000">
            <a:spAutoFit/>
          </a:bodyPr>
          <a:lstStyle/>
          <a:p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shipments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:{</a:t>
            </a:r>
          </a:p>
          <a:p>
            <a:pPr lvl="1"/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{</a:t>
            </a:r>
          </a:p>
          <a:p>
            <a:pPr lvl="1"/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"status"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MX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lvl="1"/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carrierName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MX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lvl="1"/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s-MX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 err="1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trackingURL</a:t>
            </a:r>
            <a:r>
              <a:rPr lang="es-MX" b="0" dirty="0" smtClean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MX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s-MX" b="0" dirty="0" smtClean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endParaRPr lang="es-MX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deliveryDate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MX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lvl="1"/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ticketNumber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MX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lvl="1"/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invoiceID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MX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lvl="1"/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:[]</a:t>
            </a:r>
          </a:p>
          <a:p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}</a:t>
            </a:r>
          </a:p>
          <a:p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}</a:t>
            </a:r>
          </a:p>
          <a:p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FA68DD58-2E28-45CF-9D16-4D8FFDACE59C}"/>
              </a:ext>
            </a:extLst>
          </p:cNvPr>
          <p:cNvSpPr txBox="1"/>
          <p:nvPr/>
        </p:nvSpPr>
        <p:spPr>
          <a:xfrm>
            <a:off x="6508375" y="1027906"/>
            <a:ext cx="5396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Define el estatus de los </a:t>
            </a:r>
            <a:r>
              <a:rPr lang="es-ES" dirty="0" err="1"/>
              <a:t>shipments</a:t>
            </a:r>
            <a:endParaRPr lang="es-ES" dirty="0"/>
          </a:p>
          <a:p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xmlns="" id="{A86D3A91-701E-42D5-8D2E-87607D39641E}"/>
              </a:ext>
            </a:extLst>
          </p:cNvPr>
          <p:cNvSpPr txBox="1"/>
          <p:nvPr/>
        </p:nvSpPr>
        <p:spPr>
          <a:xfrm>
            <a:off x="6508374" y="1872333"/>
            <a:ext cx="539608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Eventos de actualización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Cuando cambie el estatus de un </a:t>
            </a:r>
            <a:r>
              <a:rPr lang="es-MX" dirty="0" err="1"/>
              <a:t>shipment</a:t>
            </a:r>
            <a:r>
              <a:rPr lang="es-MX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Cuando se define el transportista de un </a:t>
            </a:r>
            <a:r>
              <a:rPr lang="es-MX" dirty="0" err="1"/>
              <a:t>shipment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Cuando se cuente con la URL del tracking de </a:t>
            </a:r>
            <a:r>
              <a:rPr lang="es-MX" dirty="0" smtClean="0"/>
              <a:t>una </a:t>
            </a:r>
            <a:r>
              <a:rPr lang="es-MX" dirty="0"/>
              <a:t>guía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Cuando se defina la fecha de entrega del </a:t>
            </a:r>
            <a:r>
              <a:rPr lang="es-MX" dirty="0" err="1"/>
              <a:t>shipment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Cuando se cuente con el ticket del POS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i="1" dirty="0">
                <a:solidFill>
                  <a:srgbClr val="FF0000"/>
                </a:solidFill>
              </a:rPr>
              <a:t>Cuando se cuente con la factura del </a:t>
            </a:r>
            <a:r>
              <a:rPr lang="es-MX" i="1" dirty="0" err="1">
                <a:solidFill>
                  <a:srgbClr val="FF0000"/>
                </a:solidFill>
              </a:rPr>
              <a:t>shipment</a:t>
            </a:r>
            <a:endParaRPr lang="es-MX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62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D1FFE90-2BDC-420E-A85C-B8FE1B8A5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6081" cy="1325563"/>
          </a:xfrm>
        </p:spPr>
        <p:txBody>
          <a:bodyPr/>
          <a:lstStyle/>
          <a:p>
            <a:r>
              <a:rPr lang="en-US" b="0" dirty="0">
                <a:effectLst/>
                <a:latin typeface="Consolas" panose="020B0609020204030204" pitchFamily="49" charset="0"/>
              </a:rPr>
              <a:t>items</a:t>
            </a:r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50070399-92F8-4F64-9E3B-5C8CD3477C58}"/>
              </a:ext>
            </a:extLst>
          </p:cNvPr>
          <p:cNvSpPr txBox="1"/>
          <p:nvPr/>
        </p:nvSpPr>
        <p:spPr>
          <a:xfrm>
            <a:off x="594828" y="1872333"/>
            <a:ext cx="5672622" cy="292920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lIns="288000" tIns="216000" rIns="216000" bIns="216000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"items"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:[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itemID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itemAction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cancellationNotification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returnNotification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returnInfo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cancellationInfo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}]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FA68DD58-2E28-45CF-9D16-4D8FFDACE59C}"/>
              </a:ext>
            </a:extLst>
          </p:cNvPr>
          <p:cNvSpPr txBox="1"/>
          <p:nvPr/>
        </p:nvSpPr>
        <p:spPr>
          <a:xfrm>
            <a:off x="6508376" y="335221"/>
            <a:ext cx="53960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Define la lista de artículos que tienen un caso creado en MCD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valor inicial de este objeto es de arreglo </a:t>
            </a:r>
            <a:r>
              <a:rPr lang="es-ES" dirty="0" err="1"/>
              <a:t>vacio</a:t>
            </a:r>
            <a:r>
              <a:rPr lang="es-ES" dirty="0"/>
              <a:t> [].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Cuando en el MCD se agregue un caso de devolución o cancelación, la información de este caso deberá ser actualizada en este objeto en función de evolución del proceso 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xmlns="" id="{A86D3A91-701E-42D5-8D2E-87607D39641E}"/>
              </a:ext>
            </a:extLst>
          </p:cNvPr>
          <p:cNvSpPr txBox="1"/>
          <p:nvPr/>
        </p:nvSpPr>
        <p:spPr>
          <a:xfrm>
            <a:off x="6508376" y="2743194"/>
            <a:ext cx="539608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Eventos de actualización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/>
              <a:t>itemID</a:t>
            </a:r>
            <a:r>
              <a:rPr lang="es-MX" dirty="0"/>
              <a:t>: número de material.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/>
              <a:t>itemAction</a:t>
            </a:r>
            <a:r>
              <a:rPr lang="es-MX" dirty="0"/>
              <a:t>: </a:t>
            </a:r>
            <a:endParaRPr lang="es-MX" b="0" dirty="0">
              <a:effectLst/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dirty="0">
                <a:effectLst/>
                <a:latin typeface="Consolas" panose="020B0609020204030204" pitchFamily="49" charset="0"/>
              </a:rPr>
              <a:t>new - don’t display any text for the item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dirty="0">
                <a:effectLst/>
                <a:latin typeface="Consolas" panose="020B0609020204030204" pitchFamily="49" charset="0"/>
              </a:rPr>
              <a:t>cancelled - display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cancellationNotification</a:t>
            </a:r>
            <a:r>
              <a:rPr lang="en-US" b="0" dirty="0">
                <a:effectLst/>
                <a:latin typeface="Consolas" panose="020B0609020204030204" pitchFamily="49" charset="0"/>
              </a:rPr>
              <a:t> 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dirty="0">
                <a:effectLst/>
                <a:latin typeface="Consolas" panose="020B0609020204030204" pitchFamily="49" charset="0"/>
              </a:rPr>
              <a:t>return - display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returnNotification</a:t>
            </a:r>
            <a:r>
              <a:rPr lang="en-US" b="0" dirty="0">
                <a:effectLst/>
                <a:latin typeface="Consolas" panose="020B0609020204030204" pitchFamily="49" charset="0"/>
              </a:rPr>
              <a:t> 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dirty="0">
                <a:effectLst/>
                <a:latin typeface="Consolas" panose="020B0609020204030204" pitchFamily="49" charset="0"/>
              </a:rPr>
              <a:t>substituted - display “adjusted“ text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98659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D1FFE90-2BDC-420E-A85C-B8FE1B8A5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6081" cy="1325563"/>
          </a:xfrm>
        </p:spPr>
        <p:txBody>
          <a:bodyPr/>
          <a:lstStyle/>
          <a:p>
            <a:r>
              <a:rPr lang="es-MX" b="0" dirty="0" err="1">
                <a:effectLst/>
                <a:latin typeface="Consolas" panose="020B0609020204030204" pitchFamily="49" charset="0"/>
              </a:rPr>
              <a:t>returnInfo</a:t>
            </a:r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50070399-92F8-4F64-9E3B-5C8CD3477C58}"/>
              </a:ext>
            </a:extLst>
          </p:cNvPr>
          <p:cNvSpPr txBox="1"/>
          <p:nvPr/>
        </p:nvSpPr>
        <p:spPr>
          <a:xfrm>
            <a:off x="594828" y="1872333"/>
            <a:ext cx="5672622" cy="403720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lIns="288000" tIns="216000" rIns="216000" bIns="216000">
            <a:spAutoFit/>
          </a:bodyPr>
          <a:lstStyle/>
          <a:p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returnInfo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{</a:t>
            </a:r>
          </a:p>
          <a:p>
            <a:r>
              <a:rPr lang="es-MX" dirty="0">
                <a:solidFill>
                  <a:srgbClr val="D4D4D4"/>
                </a:solidFill>
                <a:latin typeface="Consolas" panose="020B0609020204030204" pitchFamily="49" charset="0"/>
              </a:rPr>
              <a:t>   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returnedQuantity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s-MX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dirty="0">
                <a:solidFill>
                  <a:srgbClr val="D4D4D4"/>
                </a:solidFill>
                <a:latin typeface="Consolas" panose="020B0609020204030204" pitchFamily="49" charset="0"/>
              </a:rPr>
              <a:t>   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caseNo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s-MX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"0100567"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dirty="0">
                <a:solidFill>
                  <a:srgbClr val="D4D4D4"/>
                </a:solidFill>
                <a:latin typeface="Consolas" panose="020B0609020204030204" pitchFamily="49" charset="0"/>
              </a:rPr>
              <a:t>   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shipmentNo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s-MX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"9012222"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dirty="0">
                <a:solidFill>
                  <a:srgbClr val="D4D4D4"/>
                </a:solidFill>
                <a:latin typeface="Consolas" panose="020B0609020204030204" pitchFamily="49" charset="0"/>
              </a:rPr>
              <a:t>   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"date"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s-MX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"07/05/2021"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dirty="0">
                <a:solidFill>
                  <a:srgbClr val="D4D4D4"/>
                </a:solidFill>
                <a:latin typeface="Consolas" panose="020B0609020204030204" pitchFamily="49" charset="0"/>
              </a:rPr>
              <a:t>   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reason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s-MX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"Dañado"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dirty="0">
                <a:solidFill>
                  <a:srgbClr val="D4D4D4"/>
                </a:solidFill>
                <a:latin typeface="Consolas" panose="020B0609020204030204" pitchFamily="49" charset="0"/>
              </a:rPr>
              <a:t>   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s-MX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"Cambio"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dirty="0">
                <a:solidFill>
                  <a:srgbClr val="D4D4D4"/>
                </a:solidFill>
                <a:latin typeface="Consolas" panose="020B0609020204030204" pitchFamily="49" charset="0"/>
              </a:rPr>
              <a:t>   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"status"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s-MX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"Devolución en tránsito"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dirty="0">
                <a:solidFill>
                  <a:srgbClr val="D4D4D4"/>
                </a:solidFill>
                <a:latin typeface="Consolas" panose="020B0609020204030204" pitchFamily="49" charset="0"/>
              </a:rPr>
              <a:t>   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statusDate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s-MX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"07/05/2021"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s-MX" dirty="0">
                <a:solidFill>
                  <a:srgbClr val="D4D4D4"/>
                </a:solidFill>
                <a:latin typeface="Consolas" panose="020B0609020204030204" pitchFamily="49" charset="0"/>
              </a:rPr>
              <a:t>   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packageQuantity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s-MX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dirty="0">
                <a:solidFill>
                  <a:srgbClr val="D4D4D4"/>
                </a:solidFill>
                <a:latin typeface="Consolas" panose="020B0609020204030204" pitchFamily="49" charset="0"/>
              </a:rPr>
              <a:t>   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tranckingNo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s-MX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"12365887965543"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dirty="0">
                <a:solidFill>
                  <a:srgbClr val="D4D4D4"/>
                </a:solidFill>
                <a:latin typeface="Consolas" panose="020B0609020204030204" pitchFamily="49" charset="0"/>
              </a:rPr>
              <a:t>   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orderNo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s-MX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"0025698"</a:t>
            </a:r>
            <a:endParaRPr lang="es-MX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FA68DD58-2E28-45CF-9D16-4D8FFDACE59C}"/>
              </a:ext>
            </a:extLst>
          </p:cNvPr>
          <p:cNvSpPr txBox="1"/>
          <p:nvPr/>
        </p:nvSpPr>
        <p:spPr>
          <a:xfrm>
            <a:off x="6508376" y="335221"/>
            <a:ext cx="53960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Proporciona la información del Caso relacionado con la devolución de un artículo. 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valor inicial de este objeto es </a:t>
            </a:r>
            <a:r>
              <a:rPr lang="es-ES" dirty="0" err="1"/>
              <a:t>null</a:t>
            </a:r>
            <a:r>
              <a:rPr lang="es-ES" dirty="0"/>
              <a:t>.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Cuando en el MCD se agregue un caso de devolución, la información de este caso deberá ser actualizada en este objeto en función de evolución del proceso 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xmlns="" id="{A86D3A91-701E-42D5-8D2E-87607D39641E}"/>
              </a:ext>
            </a:extLst>
          </p:cNvPr>
          <p:cNvSpPr txBox="1"/>
          <p:nvPr/>
        </p:nvSpPr>
        <p:spPr>
          <a:xfrm>
            <a:off x="6508376" y="2743194"/>
            <a:ext cx="539608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Eventos de actualización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Al momento de que MCD reciba un caso de devolución (</a:t>
            </a:r>
            <a:r>
              <a:rPr lang="es-MX" b="0" dirty="0" err="1">
                <a:effectLst/>
                <a:latin typeface="Consolas" panose="020B0609020204030204" pitchFamily="49" charset="0"/>
              </a:rPr>
              <a:t>returnedQuantity</a:t>
            </a:r>
            <a:r>
              <a:rPr lang="es-MX" b="0" dirty="0">
                <a:effectLst/>
                <a:latin typeface="Consolas" panose="020B0609020204030204" pitchFamily="49" charset="0"/>
              </a:rPr>
              <a:t>, </a:t>
            </a:r>
            <a:r>
              <a:rPr lang="es-MX" b="0" dirty="0" err="1">
                <a:effectLst/>
                <a:latin typeface="Consolas" panose="020B0609020204030204" pitchFamily="49" charset="0"/>
              </a:rPr>
              <a:t>caseNo</a:t>
            </a:r>
            <a:r>
              <a:rPr lang="es-MX" b="0" dirty="0">
                <a:effectLst/>
                <a:latin typeface="Consolas" panose="020B0609020204030204" pitchFamily="49" charset="0"/>
              </a:rPr>
              <a:t>, </a:t>
            </a:r>
            <a:r>
              <a:rPr lang="es-MX" b="0" dirty="0" err="1">
                <a:effectLst/>
                <a:latin typeface="Consolas" panose="020B0609020204030204" pitchFamily="49" charset="0"/>
              </a:rPr>
              <a:t>shipmentNo</a:t>
            </a:r>
            <a:r>
              <a:rPr lang="es-MX" b="0" dirty="0">
                <a:effectLst/>
                <a:latin typeface="Consolas" panose="020B0609020204030204" pitchFamily="49" charset="0"/>
              </a:rPr>
              <a:t>, </a:t>
            </a:r>
            <a:r>
              <a:rPr lang="es-MX" b="0" dirty="0" err="1">
                <a:effectLst/>
                <a:latin typeface="Consolas" panose="020B0609020204030204" pitchFamily="49" charset="0"/>
              </a:rPr>
              <a:t>shipmentNo</a:t>
            </a:r>
            <a:r>
              <a:rPr lang="es-MX" b="0" dirty="0">
                <a:effectLst/>
                <a:latin typeface="Consolas" panose="020B0609020204030204" pitchFamily="49" charset="0"/>
              </a:rPr>
              <a:t>, date, </a:t>
            </a:r>
            <a:r>
              <a:rPr lang="es-MX" b="0" dirty="0" err="1">
                <a:effectLst/>
                <a:latin typeface="Consolas" panose="020B0609020204030204" pitchFamily="49" charset="0"/>
              </a:rPr>
              <a:t>reason</a:t>
            </a:r>
            <a:r>
              <a:rPr lang="es-MX" b="0" dirty="0">
                <a:effectLst/>
                <a:latin typeface="Consolas" panose="020B0609020204030204" pitchFamily="49" charset="0"/>
              </a:rPr>
              <a:t>, status)</a:t>
            </a:r>
            <a:r>
              <a:rPr lang="es-MX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Al momento de que el agente defina la solución del caso (</a:t>
            </a:r>
            <a:r>
              <a:rPr lang="es-MX" b="0" dirty="0" err="1">
                <a:effectLst/>
                <a:latin typeface="Consolas" panose="020B0609020204030204" pitchFamily="49" charset="0"/>
              </a:rPr>
              <a:t>solution</a:t>
            </a:r>
            <a:r>
              <a:rPr lang="es-MX" b="0" dirty="0">
                <a:effectLst/>
                <a:latin typeface="Consolas" panose="020B0609020204030204" pitchFamily="49" charset="0"/>
              </a:rPr>
              <a:t>, status).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Al momento de que el estatus del caso cambie (</a:t>
            </a:r>
            <a:r>
              <a:rPr lang="es-MX" b="0" dirty="0">
                <a:effectLst/>
                <a:latin typeface="Consolas" panose="020B0609020204030204" pitchFamily="49" charset="0"/>
              </a:rPr>
              <a:t>status).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Al momento de contar con la guía de la orden de remplazo (</a:t>
            </a:r>
            <a:r>
              <a:rPr lang="es-MX" b="0" dirty="0" err="1">
                <a:effectLst/>
                <a:latin typeface="Consolas" panose="020B0609020204030204" pitchFamily="49" charset="0"/>
              </a:rPr>
              <a:t>tranckingNo</a:t>
            </a:r>
            <a:r>
              <a:rPr lang="es-MX" b="0" dirty="0">
                <a:effectLst/>
                <a:latin typeface="Consolas" panose="020B0609020204030204" pitchFamily="49" charset="0"/>
              </a:rPr>
              <a:t>, status)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Al momento de contar con el número de orden de remplazo (</a:t>
            </a:r>
            <a:r>
              <a:rPr lang="es-MX" b="0" dirty="0" err="1">
                <a:effectLst/>
                <a:latin typeface="Consolas" panose="020B0609020204030204" pitchFamily="49" charset="0"/>
              </a:rPr>
              <a:t>orderNo</a:t>
            </a:r>
            <a:r>
              <a:rPr lang="es-MX" b="0" dirty="0">
                <a:effectLst/>
                <a:latin typeface="Consolas" panose="020B0609020204030204" pitchFamily="49" charset="0"/>
              </a:rPr>
              <a:t>, status)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47070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D1FFE90-2BDC-420E-A85C-B8FE1B8A5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429250" cy="1325563"/>
          </a:xfrm>
        </p:spPr>
        <p:txBody>
          <a:bodyPr/>
          <a:lstStyle/>
          <a:p>
            <a:r>
              <a:rPr lang="es-MX" b="0" dirty="0" err="1">
                <a:effectLst/>
                <a:latin typeface="Consolas" panose="020B0609020204030204" pitchFamily="49" charset="0"/>
              </a:rPr>
              <a:t>cancellationInfo</a:t>
            </a:r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50070399-92F8-4F64-9E3B-5C8CD3477C58}"/>
              </a:ext>
            </a:extLst>
          </p:cNvPr>
          <p:cNvSpPr txBox="1"/>
          <p:nvPr/>
        </p:nvSpPr>
        <p:spPr>
          <a:xfrm>
            <a:off x="594828" y="1872333"/>
            <a:ext cx="5672622" cy="320620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lIns="288000" tIns="216000" rIns="216000" bIns="216000">
            <a:spAutoFit/>
          </a:bodyPr>
          <a:lstStyle/>
          <a:p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cancellationInfo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{</a:t>
            </a:r>
          </a:p>
          <a:p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cancelledQuantity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s-MX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caseNo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s-MX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"0236589"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shipmentNo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s-MX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"9012222"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"date"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s-MX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"07/05/2021"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reason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s-MX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"Dañado"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s-MX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"Cambio"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"status"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s-MX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"Devolución en tránsito"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statusDate</a:t>
            </a:r>
            <a:r>
              <a:rPr lang="es-MX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s-MX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"07/05/2021"</a:t>
            </a:r>
            <a:endParaRPr lang="es-MX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s-MX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xmlns="" id="{28997F58-811F-4945-9EBA-8EABA11A248B}"/>
              </a:ext>
            </a:extLst>
          </p:cNvPr>
          <p:cNvSpPr txBox="1"/>
          <p:nvPr/>
        </p:nvSpPr>
        <p:spPr>
          <a:xfrm>
            <a:off x="6508376" y="332851"/>
            <a:ext cx="53853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Proporciona la información del Caso relacionado con la cancelación de un artículo. 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valor inicial de este objeto es </a:t>
            </a:r>
            <a:r>
              <a:rPr lang="es-ES" dirty="0" err="1"/>
              <a:t>null</a:t>
            </a:r>
            <a:r>
              <a:rPr lang="es-ES" dirty="0"/>
              <a:t>.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Cuando en el MCD se agregue un caso de cancelación, la información de este caso deberá ser actualizada en este objeto en función de evolución del proceso </a:t>
            </a:r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xmlns="" id="{A4F0EFC7-708D-4F35-B6B4-12871A81F27F}"/>
              </a:ext>
            </a:extLst>
          </p:cNvPr>
          <p:cNvSpPr txBox="1"/>
          <p:nvPr/>
        </p:nvSpPr>
        <p:spPr>
          <a:xfrm>
            <a:off x="6508376" y="2740824"/>
            <a:ext cx="53853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Eventos de actualización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Al momento de que MCD reciba un caso de cancelación (</a:t>
            </a:r>
            <a:r>
              <a:rPr lang="es-MX" b="0" dirty="0" err="1">
                <a:effectLst/>
                <a:latin typeface="Consolas" panose="020B0609020204030204" pitchFamily="49" charset="0"/>
              </a:rPr>
              <a:t>cancelledQuantity</a:t>
            </a:r>
            <a:r>
              <a:rPr lang="es-MX" b="0" dirty="0">
                <a:effectLst/>
                <a:latin typeface="Consolas" panose="020B0609020204030204" pitchFamily="49" charset="0"/>
              </a:rPr>
              <a:t>, </a:t>
            </a:r>
            <a:r>
              <a:rPr lang="es-MX" b="0" dirty="0" err="1">
                <a:effectLst/>
                <a:latin typeface="Consolas" panose="020B0609020204030204" pitchFamily="49" charset="0"/>
              </a:rPr>
              <a:t>caseNo</a:t>
            </a:r>
            <a:r>
              <a:rPr lang="es-MX" b="0" dirty="0">
                <a:effectLst/>
                <a:latin typeface="Consolas" panose="020B0609020204030204" pitchFamily="49" charset="0"/>
              </a:rPr>
              <a:t>, </a:t>
            </a:r>
            <a:r>
              <a:rPr lang="es-MX" b="0" dirty="0" err="1">
                <a:effectLst/>
                <a:latin typeface="Consolas" panose="020B0609020204030204" pitchFamily="49" charset="0"/>
              </a:rPr>
              <a:t>shipmentNo</a:t>
            </a:r>
            <a:r>
              <a:rPr lang="es-MX" b="0" dirty="0">
                <a:effectLst/>
                <a:latin typeface="Consolas" panose="020B0609020204030204" pitchFamily="49" charset="0"/>
              </a:rPr>
              <a:t>, date, </a:t>
            </a:r>
            <a:r>
              <a:rPr lang="es-MX" b="0" dirty="0" err="1">
                <a:effectLst/>
                <a:latin typeface="Consolas" panose="020B0609020204030204" pitchFamily="49" charset="0"/>
              </a:rPr>
              <a:t>reason</a:t>
            </a:r>
            <a:r>
              <a:rPr lang="es-MX" b="0" dirty="0">
                <a:effectLst/>
                <a:latin typeface="Consolas" panose="020B0609020204030204" pitchFamily="49" charset="0"/>
              </a:rPr>
              <a:t>)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Al momento de que el agente defina la solución del caso (</a:t>
            </a:r>
            <a:r>
              <a:rPr lang="es-MX" b="0" dirty="0" err="1">
                <a:effectLst/>
                <a:latin typeface="Consolas" panose="020B0609020204030204" pitchFamily="49" charset="0"/>
              </a:rPr>
              <a:t>solution</a:t>
            </a:r>
            <a:r>
              <a:rPr lang="es-MX" b="0" dirty="0">
                <a:effectLst/>
                <a:latin typeface="Consolas" panose="020B0609020204030204" pitchFamily="49" charset="0"/>
              </a:rPr>
              <a:t>, status, </a:t>
            </a:r>
            <a:r>
              <a:rPr lang="es-MX" b="0" dirty="0" err="1">
                <a:effectLst/>
                <a:latin typeface="Consolas" panose="020B0609020204030204" pitchFamily="49" charset="0"/>
              </a:rPr>
              <a:t>statusDate</a:t>
            </a:r>
            <a:r>
              <a:rPr lang="es-MX" b="0" dirty="0">
                <a:effectLst/>
                <a:latin typeface="Consolas" panose="020B0609020204030204" pitchFamily="49" charset="0"/>
              </a:rPr>
              <a:t>)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Al momento de que el estatus del caso cambie (</a:t>
            </a:r>
            <a:r>
              <a:rPr lang="es-MX" b="0" dirty="0">
                <a:effectLst/>
                <a:latin typeface="Consolas" panose="020B0609020204030204" pitchFamily="49" charset="0"/>
              </a:rPr>
              <a:t>status, </a:t>
            </a:r>
            <a:r>
              <a:rPr lang="es-MX" b="0" dirty="0" err="1">
                <a:effectLst/>
                <a:latin typeface="Consolas" panose="020B0609020204030204" pitchFamily="49" charset="0"/>
              </a:rPr>
              <a:t>statusDate</a:t>
            </a:r>
            <a:r>
              <a:rPr lang="es-MX" b="0" dirty="0">
                <a:effectLst/>
                <a:latin typeface="Consolas" panose="020B0609020204030204" pitchFamily="49" charset="0"/>
              </a:rPr>
              <a:t>)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39736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1D3ECC48-F661-4222-854F-C5D2EB7CD9D9}"/>
              </a:ext>
            </a:extLst>
          </p:cNvPr>
          <p:cNvSpPr txBox="1"/>
          <p:nvPr/>
        </p:nvSpPr>
        <p:spPr>
          <a:xfrm>
            <a:off x="699797" y="1334278"/>
            <a:ext cx="10273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https://superentucasa.soriana.com/default.aspx?p=9958&amp;c2=1&amp;NumTicket=00240817032300900607&amp;RFC=COMG690528892&amp;formato=PDF</a:t>
            </a:r>
          </a:p>
        </p:txBody>
      </p:sp>
    </p:spTree>
    <p:extLst>
      <p:ext uri="{BB962C8B-B14F-4D97-AF65-F5344CB8AC3E}">
        <p14:creationId xmlns:p14="http://schemas.microsoft.com/office/powerpoint/2010/main" val="23298134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5018</TotalTime>
  <Words>437</Words>
  <Application>Microsoft Office PowerPoint</Application>
  <PresentationFormat>Panorámica</PresentationFormat>
  <Paragraphs>114</Paragraphs>
  <Slides>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Consolas</vt:lpstr>
      <vt:lpstr>SFMono-Medium</vt:lpstr>
      <vt:lpstr>Tema de Office</vt:lpstr>
      <vt:lpstr>orderUpdates</vt:lpstr>
      <vt:lpstr>shipments</vt:lpstr>
      <vt:lpstr>items</vt:lpstr>
      <vt:lpstr>returnInfo</vt:lpstr>
      <vt:lpstr>cancellationInfo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orderUpdates</dc:title>
  <dc:creator>Gutierrez Rosas, Antonio</dc:creator>
  <cp:lastModifiedBy>eliseo gijon romero</cp:lastModifiedBy>
  <cp:revision>11</cp:revision>
  <dcterms:created xsi:type="dcterms:W3CDTF">2021-08-19T22:26:07Z</dcterms:created>
  <dcterms:modified xsi:type="dcterms:W3CDTF">2021-10-09T17:26:16Z</dcterms:modified>
</cp:coreProperties>
</file>