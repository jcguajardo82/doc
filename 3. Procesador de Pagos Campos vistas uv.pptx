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49" r:id="rId2"/>
    <p:sldId id="348" r:id="rId3"/>
    <p:sldId id="350" r:id="rId4"/>
    <p:sldId id="256" r:id="rId5"/>
    <p:sldId id="258" r:id="rId6"/>
    <p:sldId id="259" r:id="rId7"/>
    <p:sldId id="333" r:id="rId8"/>
    <p:sldId id="334" r:id="rId9"/>
    <p:sldId id="351" r:id="rId10"/>
    <p:sldId id="260" r:id="rId11"/>
    <p:sldId id="352" r:id="rId12"/>
    <p:sldId id="353" r:id="rId13"/>
    <p:sldId id="329" r:id="rId14"/>
    <p:sldId id="332" r:id="rId15"/>
    <p:sldId id="335" r:id="rId16"/>
    <p:sldId id="336" r:id="rId17"/>
    <p:sldId id="337" r:id="rId18"/>
    <p:sldId id="338" r:id="rId19"/>
    <p:sldId id="339" r:id="rId20"/>
    <p:sldId id="324" r:id="rId21"/>
    <p:sldId id="325" r:id="rId22"/>
    <p:sldId id="326" r:id="rId23"/>
    <p:sldId id="327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54" r:id="rId33"/>
    <p:sldId id="328" r:id="rId34"/>
    <p:sldId id="355" r:id="rId35"/>
    <p:sldId id="356" r:id="rId36"/>
    <p:sldId id="357" r:id="rId37"/>
    <p:sldId id="358" r:id="rId38"/>
    <p:sldId id="308" r:id="rId39"/>
    <p:sldId id="309" r:id="rId4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>
      <p:cViewPr varScale="1">
        <p:scale>
          <a:sx n="74" d="100"/>
          <a:sy n="74" d="100"/>
        </p:scale>
        <p:origin x="11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EB732-347C-455A-87F1-B82C709C9CCB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F822D-2F83-4F83-B1D4-B925A108C47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4979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43066-88F5-4DE8-B38A-69669868C6BD}" type="datetimeFigureOut">
              <a:rPr lang="es-ES" smtClean="0"/>
              <a:pPr/>
              <a:t>25/05/2021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28666-A8FB-4AD5-9C33-B92D2BD89179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2204864"/>
            <a:ext cx="8229600" cy="1143000"/>
          </a:xfrm>
        </p:spPr>
        <p:txBody>
          <a:bodyPr>
            <a:noAutofit/>
          </a:bodyPr>
          <a:lstStyle/>
          <a:p>
            <a:r>
              <a:rPr lang="es-ES" sz="8000" dirty="0" smtClean="0"/>
              <a:t>Procesador de Pagos</a:t>
            </a:r>
            <a:endParaRPr lang="es-MX" sz="8000" dirty="0"/>
          </a:p>
        </p:txBody>
      </p:sp>
    </p:spTree>
    <p:extLst>
      <p:ext uri="{BB962C8B-B14F-4D97-AF65-F5344CB8AC3E}">
        <p14:creationId xmlns:p14="http://schemas.microsoft.com/office/powerpoint/2010/main" val="194112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362" t="25796" r="30458" b="11205"/>
          <a:stretch/>
        </p:blipFill>
        <p:spPr>
          <a:xfrm>
            <a:off x="178227" y="37229"/>
            <a:ext cx="8605464" cy="68580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763688" y="893586"/>
            <a:ext cx="6552728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 smtClean="0"/>
              <a:t>Premisas: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Todas las consultas deben permitir búsquedas mínimo por no. de orden, carrito, consignaciones asociadas, correo electrónico y nombre del cliente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No importando el medio de pago debe incluir el número de artículos ; sus nombres y SKU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Todas deben de incluir el número de su tarjeta de lealtad no importando la forma de pago y tener un contador de cuantas compras lleva y cuanto tiempo lleva registrado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Todas las vista deben ser descargables en Excel  y </a:t>
            </a:r>
            <a:r>
              <a:rPr lang="es-ES" dirty="0" err="1" smtClean="0"/>
              <a:t>csv</a:t>
            </a:r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Deben permitir hacer vistas tipo CUBO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Hacer </a:t>
            </a:r>
            <a:r>
              <a:rPr lang="es-ES" dirty="0"/>
              <a:t>resguardo transaccional  </a:t>
            </a:r>
            <a:r>
              <a:rPr lang="es-ES" dirty="0" smtClean="0"/>
              <a:t>para pagos con tarjetas ya que solo </a:t>
            </a:r>
            <a:r>
              <a:rPr lang="es-ES" dirty="0"/>
              <a:t>se guarda en </a:t>
            </a:r>
            <a:r>
              <a:rPr lang="es-ES" dirty="0" err="1"/>
              <a:t>cyberSource</a:t>
            </a:r>
            <a:r>
              <a:rPr lang="es-ES" dirty="0"/>
              <a:t> 6 meses las transacciones </a:t>
            </a:r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smtClean="0"/>
              <a:t>Siempre el prosador de pagos debe dejar registro de las órdenes creadas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77241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2204864"/>
            <a:ext cx="8229600" cy="1143000"/>
          </a:xfrm>
        </p:spPr>
        <p:txBody>
          <a:bodyPr>
            <a:noAutofit/>
          </a:bodyPr>
          <a:lstStyle/>
          <a:p>
            <a:r>
              <a:rPr lang="es-ES" sz="5400" dirty="0" err="1" smtClean="0"/>
              <a:t>Payment</a:t>
            </a:r>
            <a:r>
              <a:rPr lang="es-ES" sz="5400" dirty="0" smtClean="0"/>
              <a:t> </a:t>
            </a:r>
            <a:r>
              <a:rPr lang="es-ES" sz="5400" dirty="0" err="1" smtClean="0"/>
              <a:t>Transaction</a:t>
            </a:r>
            <a:r>
              <a:rPr lang="es-ES" sz="5400" dirty="0" smtClean="0"/>
              <a:t> Tracking</a:t>
            </a:r>
            <a:endParaRPr lang="es-MX" sz="5400" dirty="0"/>
          </a:p>
        </p:txBody>
      </p:sp>
    </p:spTree>
    <p:extLst>
      <p:ext uri="{BB962C8B-B14F-4D97-AF65-F5344CB8AC3E}">
        <p14:creationId xmlns:p14="http://schemas.microsoft.com/office/powerpoint/2010/main" val="2620165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362" t="25796" r="30458" b="11205"/>
          <a:stretch/>
        </p:blipFill>
        <p:spPr>
          <a:xfrm>
            <a:off x="178227" y="37229"/>
            <a:ext cx="8605464" cy="6858000"/>
          </a:xfrm>
          <a:prstGeom prst="rect">
            <a:avLst/>
          </a:prstGeom>
        </p:spPr>
      </p:pic>
      <p:sp>
        <p:nvSpPr>
          <p:cNvPr id="5" name="10 CuadroTexto"/>
          <p:cNvSpPr txBox="1"/>
          <p:nvPr/>
        </p:nvSpPr>
        <p:spPr>
          <a:xfrm>
            <a:off x="127405" y="2204864"/>
            <a:ext cx="12153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err="1" smtClean="0">
                <a:solidFill>
                  <a:schemeClr val="bg1"/>
                </a:solidFill>
              </a:rPr>
              <a:t>Payment</a:t>
            </a:r>
            <a:r>
              <a:rPr lang="es-419" sz="900" b="1" dirty="0" smtClean="0">
                <a:solidFill>
                  <a:schemeClr val="bg1"/>
                </a:solidFill>
              </a:rPr>
              <a:t> </a:t>
            </a:r>
            <a:r>
              <a:rPr lang="es-419" sz="900" b="1" dirty="0" err="1" smtClean="0">
                <a:solidFill>
                  <a:schemeClr val="bg1"/>
                </a:solidFill>
              </a:rPr>
              <a:t>Transaction</a:t>
            </a:r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    Tracking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Pagos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Validadores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err="1" smtClean="0">
                <a:solidFill>
                  <a:schemeClr val="bg1"/>
                </a:solidFill>
              </a:rPr>
              <a:t>Tokens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endParaRPr lang="es-419" sz="900" b="1" dirty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Bancos y Bines</a:t>
            </a:r>
          </a:p>
          <a:p>
            <a:endParaRPr lang="es-419" sz="900" b="1" dirty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Mensajes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6" name="Flecha izquierda 5"/>
          <p:cNvSpPr/>
          <p:nvPr/>
        </p:nvSpPr>
        <p:spPr>
          <a:xfrm>
            <a:off x="1589517" y="1318598"/>
            <a:ext cx="2644726" cy="177252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Transacciones y tracking  </a:t>
            </a:r>
            <a:endParaRPr lang="es-MX" dirty="0"/>
          </a:p>
        </p:txBody>
      </p:sp>
      <p:sp>
        <p:nvSpPr>
          <p:cNvPr id="7" name="CuadroTexto 6"/>
          <p:cNvSpPr txBox="1"/>
          <p:nvPr/>
        </p:nvSpPr>
        <p:spPr>
          <a:xfrm>
            <a:off x="4480959" y="1743198"/>
            <a:ext cx="3606085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s-ES" dirty="0" smtClean="0"/>
              <a:t>Vista de las transacciones y sus estatus al momento de la consulta online</a:t>
            </a:r>
            <a:endParaRPr lang="es-MX" dirty="0"/>
          </a:p>
        </p:txBody>
      </p:sp>
      <p:sp>
        <p:nvSpPr>
          <p:cNvPr id="8" name="Flecha izquierda 7"/>
          <p:cNvSpPr/>
          <p:nvPr/>
        </p:nvSpPr>
        <p:spPr>
          <a:xfrm rot="872719">
            <a:off x="1358396" y="3486234"/>
            <a:ext cx="2644726" cy="1772529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Diferentes vistas y detalles </a:t>
            </a:r>
            <a:endParaRPr lang="es-MX" dirty="0"/>
          </a:p>
        </p:txBody>
      </p:sp>
      <p:sp>
        <p:nvSpPr>
          <p:cNvPr id="9" name="CuadroTexto 8"/>
          <p:cNvSpPr txBox="1"/>
          <p:nvPr/>
        </p:nvSpPr>
        <p:spPr>
          <a:xfrm>
            <a:off x="4680463" y="4440974"/>
            <a:ext cx="3606085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s-ES" dirty="0" smtClean="0"/>
              <a:t>Variables en tipos de consultas y especificaciones</a:t>
            </a:r>
            <a:endParaRPr lang="es-MX" dirty="0"/>
          </a:p>
        </p:txBody>
      </p:sp>
      <p:sp>
        <p:nvSpPr>
          <p:cNvPr id="10" name="CuadroTexto 9"/>
          <p:cNvSpPr txBox="1"/>
          <p:nvPr/>
        </p:nvSpPr>
        <p:spPr>
          <a:xfrm>
            <a:off x="2460165" y="6477646"/>
            <a:ext cx="6323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Premisa: Todas las consultas deben ser extraíbles en formato </a:t>
            </a:r>
            <a:r>
              <a:rPr lang="es-ES" b="1" dirty="0" err="1" smtClean="0"/>
              <a:t>csv</a:t>
            </a:r>
            <a:endParaRPr lang="es-MX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Ejemplo Tracking 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576764"/>
              </p:ext>
            </p:extLst>
          </p:nvPr>
        </p:nvGraphicFramePr>
        <p:xfrm>
          <a:off x="1905024" y="2071678"/>
          <a:ext cx="6096000" cy="5574157"/>
        </p:xfrm>
        <a:graphic>
          <a:graphicData uri="http://schemas.openxmlformats.org/drawingml/2006/table">
            <a:tbl>
              <a:tblPr/>
              <a:tblGrid>
                <a:gridCol w="630621"/>
                <a:gridCol w="693683"/>
                <a:gridCol w="788276"/>
                <a:gridCol w="315310"/>
                <a:gridCol w="651641"/>
                <a:gridCol w="220717"/>
                <a:gridCol w="1019503"/>
                <a:gridCol w="231228"/>
                <a:gridCol w="630621"/>
                <a:gridCol w="147145"/>
                <a:gridCol w="767255"/>
              </a:tblGrid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Número </a:t>
                      </a:r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Orden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Estatus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orden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s-ES" sz="9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s-419" sz="700" b="0" i="0" u="none" strike="noStrike" dirty="0" smtClean="0">
                          <a:solidFill>
                            <a:srgbClr val="FF0000"/>
                          </a:solidFill>
                          <a:latin typeface="Calibri"/>
                        </a:rPr>
                        <a:t>*(información</a:t>
                      </a:r>
                      <a:r>
                        <a:rPr lang="es-419" sz="700" b="0" i="0" u="none" strike="noStrike" baseline="0" dirty="0" smtClean="0">
                          <a:solidFill>
                            <a:srgbClr val="FF0000"/>
                          </a:solidFill>
                          <a:latin typeface="Calibri"/>
                        </a:rPr>
                        <a:t> </a:t>
                      </a:r>
                      <a:r>
                        <a:rPr lang="es-419" sz="700" b="0" i="0" u="none" strike="noStrike" baseline="0" dirty="0" err="1" smtClean="0">
                          <a:solidFill>
                            <a:srgbClr val="FF0000"/>
                          </a:solidFill>
                          <a:latin typeface="Calibri"/>
                        </a:rPr>
                        <a:t>on</a:t>
                      </a:r>
                      <a:r>
                        <a:rPr lang="es-419" sz="700" b="0" i="0" u="none" strike="noStrike" baseline="0" dirty="0" smtClean="0">
                          <a:solidFill>
                            <a:srgbClr val="FF0000"/>
                          </a:solidFill>
                          <a:latin typeface="Calibri"/>
                        </a:rPr>
                        <a:t> line</a:t>
                      </a:r>
                      <a:r>
                        <a:rPr lang="es-419" sz="700" b="0" i="0" u="none" strike="noStrike" dirty="0" smtClean="0">
                          <a:solidFill>
                            <a:srgbClr val="FF0000"/>
                          </a:solidFill>
                          <a:latin typeface="Calibri"/>
                        </a:rPr>
                        <a:t>)</a:t>
                      </a:r>
                      <a:endParaRPr lang="es-419" sz="7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endParaRPr lang="es-ES" sz="9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Estatus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Pago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Catálogo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Fecha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creación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Hora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Canal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de compra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Forma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de pago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MSI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Datos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Pago (</a:t>
                      </a:r>
                      <a:r>
                        <a:rPr lang="es-ES" sz="700" b="0" i="0" u="none" strike="noStrike" baseline="0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Bin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y Sufijo por separado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Detalle</a:t>
                      </a:r>
                      <a:r>
                        <a:rPr lang="es-ES" sz="900" b="1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del pago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endParaRPr lang="es-ES" sz="9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Consignación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1  Monto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Nombre cliente 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Consignación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2 Monto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Correo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electrónico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de la orden (suma transacciones)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Dirección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</a:t>
                      </a:r>
                      <a:r>
                        <a:rPr lang="es-ES" sz="700" b="0" i="0" u="none" strike="noStrike" baseline="0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faturación</a:t>
                      </a:r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forma de pago</a:t>
                      </a:r>
                    </a:p>
                    <a:p>
                      <a:pPr algn="l" fontAlgn="ctr"/>
                      <a:endParaRPr lang="es-ES" sz="700" b="0" i="0" u="none" strike="noStrike" baseline="0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l" fontAlgn="ctr"/>
                      <a:r>
                        <a:rPr lang="es-ES" sz="7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Dirección entrega</a:t>
                      </a:r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17133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Reintento</a:t>
                      </a:r>
                    </a:p>
                    <a:p>
                      <a:pPr algn="l" fontAlgn="ctr"/>
                      <a:endParaRPr lang="es-ES" sz="900" b="0" i="0" u="none" strike="noStrike" baseline="0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l" fontAlgn="ctr"/>
                      <a:r>
                        <a:rPr lang="es-ES" sz="9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 número de autoriza</a:t>
                      </a:r>
                    </a:p>
                    <a:p>
                      <a:pPr algn="l" fontAlgn="ctr"/>
                      <a:endParaRPr lang="es-ES" sz="900" b="0" i="0" u="none" strike="noStrike" baseline="0" dirty="0" smtClean="0">
                        <a:solidFill>
                          <a:srgbClr val="000000"/>
                        </a:solidFill>
                        <a:latin typeface="Calibri"/>
                      </a:endParaRPr>
                    </a:p>
                    <a:p>
                      <a:pPr algn="l" fontAlgn="ctr"/>
                      <a:r>
                        <a:rPr lang="es-ES" sz="900" b="0" i="0" u="none" strike="noStrike" baseline="0" dirty="0" smtClean="0">
                          <a:solidFill>
                            <a:srgbClr val="000000"/>
                          </a:solidFill>
                          <a:latin typeface="Calibri"/>
                        </a:rPr>
                        <a:t>*Cada autorización debe llevar su afiliación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7655">
                <a:tc gridSpan="3">
                  <a:txBody>
                    <a:bodyPr/>
                    <a:lstStyle/>
                    <a:p>
                      <a:pPr algn="l" fontAlgn="ctr"/>
                      <a:endParaRPr lang="es-419" sz="700" b="0" i="1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9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9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</a:tr>
              <a:tr h="146619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46841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endParaRPr lang="es-419" sz="700" b="0" i="0" u="none" strike="noStrike" dirty="0">
                        <a:solidFill>
                          <a:srgbClr val="FF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</a:tr>
              <a:tr h="157655"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883" marR="7883" marT="7883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181352" y="0"/>
            <a:ext cx="7126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pPr algn="ctr"/>
            <a:r>
              <a:rPr lang="es-ES" b="1" dirty="0" smtClean="0"/>
              <a:t>   Ejemplo  de vista </a:t>
            </a:r>
            <a:r>
              <a:rPr lang="es-ES" b="1" dirty="0" err="1" smtClean="0"/>
              <a:t>Payment</a:t>
            </a:r>
            <a:r>
              <a:rPr lang="es-ES" b="1" dirty="0" smtClean="0"/>
              <a:t> </a:t>
            </a:r>
            <a:r>
              <a:rPr lang="es-ES" b="1" dirty="0" err="1" smtClean="0"/>
              <a:t>Transacction</a:t>
            </a:r>
            <a:r>
              <a:rPr lang="es-ES" b="1" dirty="0" smtClean="0"/>
              <a:t> </a:t>
            </a:r>
            <a:r>
              <a:rPr lang="es-ES" b="1" dirty="0" err="1" smtClean="0"/>
              <a:t>Traking</a:t>
            </a:r>
            <a:endParaRPr lang="es-E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Manuales Operativos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2814256" y="2571744"/>
            <a:ext cx="382944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Manual de Operación </a:t>
            </a:r>
          </a:p>
          <a:p>
            <a:r>
              <a:rPr lang="es-419" sz="1000" dirty="0" smtClean="0"/>
              <a:t>     Procesos para surtir y enviar una orden</a:t>
            </a:r>
          </a:p>
          <a:p>
            <a:endParaRPr lang="es-419" dirty="0" smtClean="0"/>
          </a:p>
          <a:p>
            <a:r>
              <a:rPr lang="es-419" dirty="0" smtClean="0"/>
              <a:t>Manual de Empaque </a:t>
            </a:r>
          </a:p>
          <a:p>
            <a:r>
              <a:rPr lang="es-419" sz="1000" dirty="0" smtClean="0"/>
              <a:t>      Tipos de empaque que se deben utilizar para un adecuado envio</a:t>
            </a:r>
          </a:p>
          <a:p>
            <a:endParaRPr lang="es-419" sz="1000" dirty="0" smtClean="0"/>
          </a:p>
          <a:p>
            <a:r>
              <a:rPr lang="es-419" dirty="0" smtClean="0"/>
              <a:t>Manual de Actulaización de Inventario </a:t>
            </a:r>
          </a:p>
          <a:p>
            <a:r>
              <a:rPr lang="es-419" sz="900" dirty="0" smtClean="0"/>
              <a:t>     Pasos a seguir para mantener actualizado tu inventario en la página</a:t>
            </a:r>
          </a:p>
          <a:p>
            <a:endParaRPr lang="es-419" dirty="0" smtClean="0"/>
          </a:p>
          <a:p>
            <a:r>
              <a:rPr lang="es-419" dirty="0" smtClean="0"/>
              <a:t>Manual Actualizacion de Contenido</a:t>
            </a:r>
          </a:p>
          <a:p>
            <a:r>
              <a:rPr lang="es-419" sz="900" dirty="0" smtClean="0"/>
              <a:t>     Pasos a seguir para actualizar el contenido de un producto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2599942" y="2714620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Rectángulo"/>
          <p:cNvSpPr/>
          <p:nvPr/>
        </p:nvSpPr>
        <p:spPr>
          <a:xfrm>
            <a:off x="2599942" y="3429000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Rectángulo"/>
          <p:cNvSpPr/>
          <p:nvPr/>
        </p:nvSpPr>
        <p:spPr>
          <a:xfrm>
            <a:off x="2599942" y="4000504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Rectángulo"/>
          <p:cNvSpPr/>
          <p:nvPr/>
        </p:nvSpPr>
        <p:spPr>
          <a:xfrm>
            <a:off x="2599942" y="4714884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2"/>
          <a:srcRect l="362" t="25796" r="30458" b="11205"/>
          <a:stretch/>
        </p:blipFill>
        <p:spPr>
          <a:xfrm>
            <a:off x="178227" y="37229"/>
            <a:ext cx="8605464" cy="6858000"/>
          </a:xfrm>
          <a:prstGeom prst="rect">
            <a:avLst/>
          </a:prstGeom>
        </p:spPr>
      </p:pic>
      <p:sp>
        <p:nvSpPr>
          <p:cNvPr id="17" name="10 CuadroTexto"/>
          <p:cNvSpPr txBox="1"/>
          <p:nvPr/>
        </p:nvSpPr>
        <p:spPr>
          <a:xfrm>
            <a:off x="127405" y="2204864"/>
            <a:ext cx="120417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err="1" smtClean="0">
                <a:solidFill>
                  <a:schemeClr val="bg1"/>
                </a:solidFill>
              </a:rPr>
              <a:t>Payment</a:t>
            </a:r>
            <a:r>
              <a:rPr lang="es-419" sz="900" b="1" dirty="0" smtClean="0">
                <a:solidFill>
                  <a:schemeClr val="bg1"/>
                </a:solidFill>
              </a:rPr>
              <a:t> </a:t>
            </a:r>
            <a:r>
              <a:rPr lang="es-419" sz="900" b="1" dirty="0" err="1" smtClean="0">
                <a:solidFill>
                  <a:schemeClr val="bg1"/>
                </a:solidFill>
              </a:rPr>
              <a:t>Transaction</a:t>
            </a:r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    Tracking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9" name="Flecha derecha 18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737" y="2122740"/>
            <a:ext cx="3721573" cy="293559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181100"/>
            <a:ext cx="4089400" cy="562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Manuales Operativos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2814256" y="2571744"/>
            <a:ext cx="382944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Manual de Operación </a:t>
            </a:r>
          </a:p>
          <a:p>
            <a:r>
              <a:rPr lang="es-419" sz="1000" dirty="0" smtClean="0"/>
              <a:t>     Procesos para surtir y enviar una orden</a:t>
            </a:r>
          </a:p>
          <a:p>
            <a:endParaRPr lang="es-419" dirty="0" smtClean="0"/>
          </a:p>
          <a:p>
            <a:r>
              <a:rPr lang="es-419" dirty="0" smtClean="0"/>
              <a:t>Manual de Empaque </a:t>
            </a:r>
          </a:p>
          <a:p>
            <a:r>
              <a:rPr lang="es-419" sz="1000" dirty="0" smtClean="0"/>
              <a:t>      Tipos de empaque que se deben utilizar para un adecuado envio</a:t>
            </a:r>
          </a:p>
          <a:p>
            <a:endParaRPr lang="es-419" sz="1000" dirty="0" smtClean="0"/>
          </a:p>
          <a:p>
            <a:r>
              <a:rPr lang="es-419" dirty="0" smtClean="0"/>
              <a:t>Manual de Actulaización de Inventario </a:t>
            </a:r>
          </a:p>
          <a:p>
            <a:r>
              <a:rPr lang="es-419" sz="900" dirty="0" smtClean="0"/>
              <a:t>     Pasos a seguir para mantener actualizado tu inventario en la página</a:t>
            </a:r>
          </a:p>
          <a:p>
            <a:endParaRPr lang="es-419" dirty="0" smtClean="0"/>
          </a:p>
          <a:p>
            <a:r>
              <a:rPr lang="es-419" dirty="0" smtClean="0"/>
              <a:t>Manual Actualizacion de Contenido</a:t>
            </a:r>
          </a:p>
          <a:p>
            <a:r>
              <a:rPr lang="es-419" sz="900" dirty="0" smtClean="0"/>
              <a:t>     Pasos a seguir para actualizar el contenido de un producto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2599942" y="2714620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Rectángulo"/>
          <p:cNvSpPr/>
          <p:nvPr/>
        </p:nvSpPr>
        <p:spPr>
          <a:xfrm>
            <a:off x="2599942" y="3429000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Rectángulo"/>
          <p:cNvSpPr/>
          <p:nvPr/>
        </p:nvSpPr>
        <p:spPr>
          <a:xfrm>
            <a:off x="2599942" y="4000504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Rectángulo"/>
          <p:cNvSpPr/>
          <p:nvPr/>
        </p:nvSpPr>
        <p:spPr>
          <a:xfrm>
            <a:off x="2599942" y="4714884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2"/>
          <a:srcRect l="362" t="25796" r="30458" b="11205"/>
          <a:stretch/>
        </p:blipFill>
        <p:spPr>
          <a:xfrm>
            <a:off x="178227" y="37229"/>
            <a:ext cx="8605464" cy="6858000"/>
          </a:xfrm>
          <a:prstGeom prst="rect">
            <a:avLst/>
          </a:prstGeom>
        </p:spPr>
      </p:pic>
      <p:sp>
        <p:nvSpPr>
          <p:cNvPr id="17" name="10 CuadroTexto"/>
          <p:cNvSpPr txBox="1"/>
          <p:nvPr/>
        </p:nvSpPr>
        <p:spPr>
          <a:xfrm>
            <a:off x="127405" y="2204864"/>
            <a:ext cx="120417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err="1" smtClean="0">
                <a:solidFill>
                  <a:schemeClr val="bg1"/>
                </a:solidFill>
              </a:rPr>
              <a:t>Payment</a:t>
            </a:r>
            <a:r>
              <a:rPr lang="es-419" sz="900" b="1" dirty="0" smtClean="0">
                <a:solidFill>
                  <a:schemeClr val="bg1"/>
                </a:solidFill>
              </a:rPr>
              <a:t> </a:t>
            </a:r>
            <a:r>
              <a:rPr lang="es-419" sz="900" b="1" dirty="0" err="1" smtClean="0">
                <a:solidFill>
                  <a:schemeClr val="bg1"/>
                </a:solidFill>
              </a:rPr>
              <a:t>Transaction</a:t>
            </a:r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    Tracking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9" name="Flecha derecha 18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363" y="2364625"/>
            <a:ext cx="3721573" cy="400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665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CuadroTexto"/>
          <p:cNvSpPr txBox="1"/>
          <p:nvPr/>
        </p:nvSpPr>
        <p:spPr>
          <a:xfrm>
            <a:off x="2285984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Manuales Operativos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3482346" y="59272"/>
            <a:ext cx="2282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PROVEEDOR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2814256" y="2571744"/>
            <a:ext cx="382944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Manual de Operación </a:t>
            </a:r>
          </a:p>
          <a:p>
            <a:r>
              <a:rPr lang="es-419" sz="1000" dirty="0" smtClean="0"/>
              <a:t>     Procesos para surtir y enviar una orden</a:t>
            </a:r>
          </a:p>
          <a:p>
            <a:endParaRPr lang="es-419" dirty="0" smtClean="0"/>
          </a:p>
          <a:p>
            <a:r>
              <a:rPr lang="es-419" dirty="0" smtClean="0"/>
              <a:t>Manual de Empaque </a:t>
            </a:r>
          </a:p>
          <a:p>
            <a:r>
              <a:rPr lang="es-419" sz="1000" dirty="0" smtClean="0"/>
              <a:t>      Tipos de empaque que se deben utilizar para un adecuado envio</a:t>
            </a:r>
          </a:p>
          <a:p>
            <a:endParaRPr lang="es-419" sz="1000" dirty="0" smtClean="0"/>
          </a:p>
          <a:p>
            <a:r>
              <a:rPr lang="es-419" dirty="0" smtClean="0"/>
              <a:t>Manual de Actulaización de Inventario </a:t>
            </a:r>
          </a:p>
          <a:p>
            <a:r>
              <a:rPr lang="es-419" sz="900" dirty="0" smtClean="0"/>
              <a:t>     Pasos a seguir para mantener actualizado tu inventario en la página</a:t>
            </a:r>
          </a:p>
          <a:p>
            <a:endParaRPr lang="es-419" dirty="0" smtClean="0"/>
          </a:p>
          <a:p>
            <a:r>
              <a:rPr lang="es-419" dirty="0" smtClean="0"/>
              <a:t>Manual Actualizacion de Contenido</a:t>
            </a:r>
          </a:p>
          <a:p>
            <a:r>
              <a:rPr lang="es-419" sz="900" dirty="0" smtClean="0"/>
              <a:t>     Pasos a seguir para actualizar el contenido de un producto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2599942" y="2714620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Rectángulo"/>
          <p:cNvSpPr/>
          <p:nvPr/>
        </p:nvSpPr>
        <p:spPr>
          <a:xfrm>
            <a:off x="2599942" y="3429000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12 Rectángulo"/>
          <p:cNvSpPr/>
          <p:nvPr/>
        </p:nvSpPr>
        <p:spPr>
          <a:xfrm>
            <a:off x="2599942" y="4000504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13 Rectángulo"/>
          <p:cNvSpPr/>
          <p:nvPr/>
        </p:nvSpPr>
        <p:spPr>
          <a:xfrm>
            <a:off x="2599942" y="4714884"/>
            <a:ext cx="214314" cy="7143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14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2"/>
          <a:srcRect l="362" t="25796" r="30458" b="11205"/>
          <a:stretch/>
        </p:blipFill>
        <p:spPr>
          <a:xfrm>
            <a:off x="4278" y="0"/>
            <a:ext cx="8605464" cy="6858000"/>
          </a:xfrm>
          <a:prstGeom prst="rect">
            <a:avLst/>
          </a:prstGeom>
        </p:spPr>
      </p:pic>
      <p:sp>
        <p:nvSpPr>
          <p:cNvPr id="17" name="10 CuadroTexto"/>
          <p:cNvSpPr txBox="1"/>
          <p:nvPr/>
        </p:nvSpPr>
        <p:spPr>
          <a:xfrm>
            <a:off x="127405" y="2204864"/>
            <a:ext cx="120417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err="1" smtClean="0">
                <a:solidFill>
                  <a:schemeClr val="bg1"/>
                </a:solidFill>
              </a:rPr>
              <a:t>Payment</a:t>
            </a:r>
            <a:r>
              <a:rPr lang="es-419" sz="900" b="1" dirty="0" smtClean="0">
                <a:solidFill>
                  <a:schemeClr val="bg1"/>
                </a:solidFill>
              </a:rPr>
              <a:t> </a:t>
            </a:r>
            <a:r>
              <a:rPr lang="es-419" sz="900" b="1" dirty="0" err="1" smtClean="0">
                <a:solidFill>
                  <a:schemeClr val="bg1"/>
                </a:solidFill>
              </a:rPr>
              <a:t>Transaction</a:t>
            </a:r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    Tracking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19" name="Flecha derecha 18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065" y="2085145"/>
            <a:ext cx="1539119" cy="3973594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1482519" y="1069189"/>
            <a:ext cx="76614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Detalle de datos de quien esta registrado en la página y de la persona, a la cual se le envía, aún cuando se repitan. Por cada orden generada, debe guardar estos datos aún cuando sea el mismo cliente y cambie de direcciones de envío</a:t>
            </a:r>
          </a:p>
          <a:p>
            <a:r>
              <a:rPr lang="es-ES" dirty="0" smtClean="0"/>
              <a:t>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6903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2204864"/>
            <a:ext cx="8229600" cy="1143000"/>
          </a:xfrm>
        </p:spPr>
        <p:txBody>
          <a:bodyPr>
            <a:noAutofit/>
          </a:bodyPr>
          <a:lstStyle/>
          <a:p>
            <a:r>
              <a:rPr lang="es-ES" sz="5400" dirty="0" smtClean="0"/>
              <a:t>Pagos</a:t>
            </a:r>
            <a:endParaRPr lang="es-MX" sz="5400" dirty="0"/>
          </a:p>
        </p:txBody>
      </p:sp>
    </p:spTree>
    <p:extLst>
      <p:ext uri="{BB962C8B-B14F-4D97-AF65-F5344CB8AC3E}">
        <p14:creationId xmlns:p14="http://schemas.microsoft.com/office/powerpoint/2010/main" val="2705379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2"/>
          <a:srcRect l="362" t="25796" r="30458" b="11205"/>
          <a:stretch/>
        </p:blipFill>
        <p:spPr>
          <a:xfrm>
            <a:off x="178227" y="37229"/>
            <a:ext cx="8605464" cy="6858000"/>
          </a:xfrm>
          <a:prstGeom prst="rect">
            <a:avLst/>
          </a:prstGeom>
        </p:spPr>
      </p:pic>
      <p:sp>
        <p:nvSpPr>
          <p:cNvPr id="16" name="10 CuadroTexto"/>
          <p:cNvSpPr txBox="1"/>
          <p:nvPr/>
        </p:nvSpPr>
        <p:spPr>
          <a:xfrm>
            <a:off x="222783" y="2420888"/>
            <a:ext cx="4667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Pagos</a:t>
            </a:r>
            <a:endParaRPr lang="es-419" sz="900" dirty="0" smtClean="0">
              <a:solidFill>
                <a:schemeClr val="bg1"/>
              </a:solidFill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2"/>
          <a:srcRect l="362" t="25796" r="30458" b="11205"/>
          <a:stretch/>
        </p:blipFill>
        <p:spPr>
          <a:xfrm>
            <a:off x="178227" y="37229"/>
            <a:ext cx="8605464" cy="6858000"/>
          </a:xfrm>
          <a:prstGeom prst="rect">
            <a:avLst/>
          </a:prstGeom>
        </p:spPr>
      </p:pic>
      <p:sp>
        <p:nvSpPr>
          <p:cNvPr id="19" name="Flecha izquierda 18"/>
          <p:cNvSpPr/>
          <p:nvPr/>
        </p:nvSpPr>
        <p:spPr>
          <a:xfrm>
            <a:off x="1358397" y="1318599"/>
            <a:ext cx="2644726" cy="177252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Pagos  </a:t>
            </a:r>
            <a:endParaRPr lang="es-MX" dirty="0"/>
          </a:p>
        </p:txBody>
      </p:sp>
      <p:sp>
        <p:nvSpPr>
          <p:cNvPr id="20" name="CuadroTexto 19"/>
          <p:cNvSpPr txBox="1"/>
          <p:nvPr/>
        </p:nvSpPr>
        <p:spPr>
          <a:xfrm>
            <a:off x="4590364" y="1348515"/>
            <a:ext cx="3606085" cy="1477328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s-ES" dirty="0" smtClean="0"/>
              <a:t>Vista de las transacciones por tipo de pago y su detalle</a:t>
            </a:r>
          </a:p>
          <a:p>
            <a:endParaRPr lang="es-ES" dirty="0"/>
          </a:p>
          <a:p>
            <a:r>
              <a:rPr lang="es-ES" dirty="0" smtClean="0"/>
              <a:t>Premisa: Hacer resguardo transaccional por forma de pago</a:t>
            </a:r>
            <a:endParaRPr lang="es-MX" dirty="0"/>
          </a:p>
        </p:txBody>
      </p:sp>
      <p:sp>
        <p:nvSpPr>
          <p:cNvPr id="21" name="10 CuadroTexto"/>
          <p:cNvSpPr txBox="1"/>
          <p:nvPr/>
        </p:nvSpPr>
        <p:spPr>
          <a:xfrm>
            <a:off x="230716" y="2433427"/>
            <a:ext cx="1117614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Pagos</a:t>
            </a:r>
          </a:p>
          <a:p>
            <a:r>
              <a:rPr lang="es-419" sz="900" b="1" dirty="0">
                <a:solidFill>
                  <a:schemeClr val="bg1"/>
                </a:solidFill>
              </a:rPr>
              <a:t> </a:t>
            </a:r>
            <a:r>
              <a:rPr lang="es-419" sz="900" b="1" dirty="0" smtClean="0">
                <a:solidFill>
                  <a:schemeClr val="bg1"/>
                </a:solidFill>
              </a:rPr>
              <a:t> </a:t>
            </a:r>
            <a:r>
              <a:rPr lang="es-419" sz="900" b="1" dirty="0" err="1" smtClean="0">
                <a:solidFill>
                  <a:schemeClr val="bg1"/>
                </a:solidFill>
              </a:rPr>
              <a:t>All</a:t>
            </a:r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Tarjetas</a:t>
            </a:r>
          </a:p>
          <a:p>
            <a:r>
              <a:rPr lang="es-419" sz="900" b="1" dirty="0" err="1" smtClean="0">
                <a:solidFill>
                  <a:schemeClr val="bg1"/>
                </a:solidFill>
              </a:rPr>
              <a:t>Wallets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Pago en tienda</a:t>
            </a:r>
          </a:p>
          <a:p>
            <a:r>
              <a:rPr lang="es-419" sz="900" b="1" dirty="0" err="1" smtClean="0">
                <a:solidFill>
                  <a:schemeClr val="bg1"/>
                </a:solidFill>
              </a:rPr>
              <a:t>Paypal</a:t>
            </a:r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Liquidaciones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Liberaciones saldos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>
                <a:solidFill>
                  <a:schemeClr val="bg1"/>
                </a:solidFill>
              </a:rPr>
              <a:t> </a:t>
            </a:r>
            <a:r>
              <a:rPr lang="es-419" sz="900" b="1" dirty="0" smtClean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2" name="10 CuadroTexto"/>
          <p:cNvSpPr txBox="1"/>
          <p:nvPr/>
        </p:nvSpPr>
        <p:spPr>
          <a:xfrm>
            <a:off x="2962325" y="3152651"/>
            <a:ext cx="5758949" cy="346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</a:t>
            </a:r>
            <a:endParaRPr lang="es-419" sz="2400" b="1" dirty="0" smtClean="0">
              <a:solidFill>
                <a:srgbClr val="0070C0"/>
              </a:solidFill>
            </a:endParaRPr>
          </a:p>
          <a:p>
            <a:r>
              <a:rPr lang="es-419" sz="2400" b="1" dirty="0" smtClean="0">
                <a:solidFill>
                  <a:srgbClr val="FF0000"/>
                </a:solidFill>
              </a:rPr>
              <a:t>Submenú 1</a:t>
            </a:r>
          </a:p>
          <a:p>
            <a:r>
              <a:rPr lang="es-419" sz="2400" b="1" dirty="0" err="1" smtClean="0">
                <a:solidFill>
                  <a:srgbClr val="0070C0"/>
                </a:solidFill>
              </a:rPr>
              <a:t>All</a:t>
            </a:r>
            <a:r>
              <a:rPr lang="es-419" sz="2400" b="1" dirty="0" smtClean="0">
                <a:solidFill>
                  <a:srgbClr val="0070C0"/>
                </a:solidFill>
              </a:rPr>
              <a:t> (todas las formas igual al tracking)</a:t>
            </a:r>
          </a:p>
          <a:p>
            <a:r>
              <a:rPr lang="es-419" sz="2400" b="1" dirty="0" smtClean="0">
                <a:solidFill>
                  <a:srgbClr val="0070C0"/>
                </a:solidFill>
              </a:rPr>
              <a:t>Tarjetas</a:t>
            </a:r>
          </a:p>
          <a:p>
            <a:r>
              <a:rPr lang="es-419" sz="2400" b="1" dirty="0" err="1" smtClean="0">
                <a:solidFill>
                  <a:srgbClr val="0070C0"/>
                </a:solidFill>
              </a:rPr>
              <a:t>Wallets</a:t>
            </a:r>
            <a:endParaRPr lang="es-419" sz="2400" b="1" dirty="0" smtClean="0">
              <a:solidFill>
                <a:srgbClr val="0070C0"/>
              </a:solidFill>
            </a:endParaRPr>
          </a:p>
          <a:p>
            <a:r>
              <a:rPr lang="es-419" sz="2400" b="1" dirty="0" smtClean="0">
                <a:solidFill>
                  <a:srgbClr val="0070C0"/>
                </a:solidFill>
              </a:rPr>
              <a:t>Pago en tienda</a:t>
            </a:r>
          </a:p>
          <a:p>
            <a:r>
              <a:rPr lang="es-419" sz="2400" b="1" dirty="0" err="1" smtClean="0">
                <a:solidFill>
                  <a:srgbClr val="0070C0"/>
                </a:solidFill>
              </a:rPr>
              <a:t>Paypal</a:t>
            </a:r>
            <a:endParaRPr lang="es-419" sz="2400" b="1" dirty="0" smtClean="0">
              <a:solidFill>
                <a:srgbClr val="0070C0"/>
              </a:solidFill>
            </a:endParaRPr>
          </a:p>
          <a:p>
            <a:r>
              <a:rPr lang="es-419" sz="2400" b="1" dirty="0" smtClean="0">
                <a:solidFill>
                  <a:srgbClr val="0070C0"/>
                </a:solidFill>
              </a:rPr>
              <a:t>Otras forma de pago  (cuando se habiliten)</a:t>
            </a:r>
          </a:p>
          <a:p>
            <a:endParaRPr lang="es-419" sz="2400" dirty="0" smtClean="0">
              <a:solidFill>
                <a:srgbClr val="0070C0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>
                <a:solidFill>
                  <a:schemeClr val="bg1"/>
                </a:solidFill>
              </a:rPr>
              <a:t> </a:t>
            </a:r>
            <a:r>
              <a:rPr lang="es-419" sz="900" b="1" dirty="0" smtClean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13 CuadroTexto"/>
          <p:cNvSpPr txBox="1"/>
          <p:nvPr/>
        </p:nvSpPr>
        <p:spPr>
          <a:xfrm>
            <a:off x="-45658" y="2161610"/>
            <a:ext cx="1428596" cy="27238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>
                <a:solidFill>
                  <a:schemeClr val="bg1"/>
                </a:solidFill>
              </a:rPr>
              <a:t>Alta de proveedor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2"/>
          <a:srcRect l="362" t="25796" r="30458" b="11205"/>
          <a:stretch/>
        </p:blipFill>
        <p:spPr>
          <a:xfrm>
            <a:off x="178227" y="37229"/>
            <a:ext cx="8605464" cy="6858000"/>
          </a:xfrm>
          <a:prstGeom prst="rect">
            <a:avLst/>
          </a:prstGeom>
        </p:spPr>
      </p:pic>
      <p:sp>
        <p:nvSpPr>
          <p:cNvPr id="16" name="10 CuadroTexto"/>
          <p:cNvSpPr txBox="1"/>
          <p:nvPr/>
        </p:nvSpPr>
        <p:spPr>
          <a:xfrm>
            <a:off x="222783" y="2420888"/>
            <a:ext cx="46679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Pagos</a:t>
            </a:r>
            <a:endParaRPr lang="es-419" sz="900" dirty="0" smtClean="0">
              <a:solidFill>
                <a:schemeClr val="bg1"/>
              </a:solidFill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2"/>
          <a:srcRect l="362" t="25796" r="30458" b="11205"/>
          <a:stretch/>
        </p:blipFill>
        <p:spPr>
          <a:xfrm>
            <a:off x="178227" y="37229"/>
            <a:ext cx="8605464" cy="6858000"/>
          </a:xfrm>
          <a:prstGeom prst="rect">
            <a:avLst/>
          </a:prstGeom>
        </p:spPr>
      </p:pic>
      <p:sp>
        <p:nvSpPr>
          <p:cNvPr id="19" name="Flecha izquierda 18"/>
          <p:cNvSpPr/>
          <p:nvPr/>
        </p:nvSpPr>
        <p:spPr>
          <a:xfrm>
            <a:off x="1358397" y="1318599"/>
            <a:ext cx="2644726" cy="177252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Pagos  </a:t>
            </a:r>
            <a:endParaRPr lang="es-MX" dirty="0"/>
          </a:p>
        </p:txBody>
      </p:sp>
      <p:sp>
        <p:nvSpPr>
          <p:cNvPr id="20" name="CuadroTexto 19"/>
          <p:cNvSpPr txBox="1"/>
          <p:nvPr/>
        </p:nvSpPr>
        <p:spPr>
          <a:xfrm>
            <a:off x="4480959" y="1743198"/>
            <a:ext cx="3606085" cy="646331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s-ES" dirty="0" smtClean="0"/>
              <a:t>Vista de las transacciones por tipo de pago y su detalle</a:t>
            </a:r>
            <a:endParaRPr lang="es-MX" dirty="0"/>
          </a:p>
        </p:txBody>
      </p:sp>
      <p:sp>
        <p:nvSpPr>
          <p:cNvPr id="21" name="10 CuadroTexto"/>
          <p:cNvSpPr txBox="1"/>
          <p:nvPr/>
        </p:nvSpPr>
        <p:spPr>
          <a:xfrm>
            <a:off x="102522" y="2450566"/>
            <a:ext cx="1362874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419" sz="900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Pagos</a:t>
            </a:r>
          </a:p>
          <a:p>
            <a:r>
              <a:rPr lang="es-419" sz="900" b="1" dirty="0">
                <a:solidFill>
                  <a:schemeClr val="bg1"/>
                </a:solidFill>
              </a:rPr>
              <a:t> </a:t>
            </a:r>
            <a:r>
              <a:rPr lang="es-419" sz="900" b="1" dirty="0" smtClean="0">
                <a:solidFill>
                  <a:schemeClr val="bg1"/>
                </a:solidFill>
              </a:rPr>
              <a:t> </a:t>
            </a:r>
            <a:r>
              <a:rPr lang="es-419" sz="900" b="1" dirty="0" err="1" smtClean="0">
                <a:solidFill>
                  <a:schemeClr val="bg1"/>
                </a:solidFill>
              </a:rPr>
              <a:t>All</a:t>
            </a:r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Tarjetas</a:t>
            </a:r>
          </a:p>
          <a:p>
            <a:r>
              <a:rPr lang="es-419" sz="900" b="1" dirty="0" err="1" smtClean="0">
                <a:solidFill>
                  <a:schemeClr val="bg1"/>
                </a:solidFill>
              </a:rPr>
              <a:t>Wallets</a:t>
            </a:r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Pago en tienda</a:t>
            </a:r>
          </a:p>
          <a:p>
            <a:r>
              <a:rPr lang="es-419" sz="900" b="1" dirty="0" err="1" smtClean="0">
                <a:solidFill>
                  <a:schemeClr val="bg1"/>
                </a:solidFill>
              </a:rPr>
              <a:t>Paypal</a:t>
            </a:r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Liquidaciones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Devoluciones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Liberaciones saldos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Transacciones Manuales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Contra cargos 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Detenciones </a:t>
            </a:r>
          </a:p>
        </p:txBody>
      </p:sp>
      <p:sp>
        <p:nvSpPr>
          <p:cNvPr id="22" name="10 CuadroTexto"/>
          <p:cNvSpPr txBox="1"/>
          <p:nvPr/>
        </p:nvSpPr>
        <p:spPr>
          <a:xfrm>
            <a:off x="2962325" y="3152651"/>
            <a:ext cx="3284810" cy="42011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a</a:t>
            </a:r>
            <a:endParaRPr lang="es-419" sz="2400" b="1" dirty="0" smtClean="0">
              <a:solidFill>
                <a:srgbClr val="0070C0"/>
              </a:solidFill>
            </a:endParaRPr>
          </a:p>
          <a:p>
            <a:r>
              <a:rPr lang="es-419" sz="2400" b="1" dirty="0" smtClean="0">
                <a:solidFill>
                  <a:srgbClr val="FF0000"/>
                </a:solidFill>
              </a:rPr>
              <a:t>Submenú 2</a:t>
            </a:r>
          </a:p>
          <a:p>
            <a:r>
              <a:rPr lang="es-419" sz="2400" b="1" dirty="0" smtClean="0">
                <a:solidFill>
                  <a:schemeClr val="accent5">
                    <a:lumMod val="75000"/>
                  </a:schemeClr>
                </a:solidFill>
              </a:rPr>
              <a:t>Liquidaciones</a:t>
            </a:r>
          </a:p>
          <a:p>
            <a:r>
              <a:rPr lang="es-419" sz="2400" b="1" dirty="0" smtClean="0">
                <a:solidFill>
                  <a:schemeClr val="accent5">
                    <a:lumMod val="75000"/>
                  </a:schemeClr>
                </a:solidFill>
              </a:rPr>
              <a:t>Devoluciones</a:t>
            </a:r>
          </a:p>
          <a:p>
            <a:r>
              <a:rPr lang="es-419" sz="2400" b="1" dirty="0" smtClean="0">
                <a:solidFill>
                  <a:schemeClr val="accent5">
                    <a:lumMod val="75000"/>
                  </a:schemeClr>
                </a:solidFill>
              </a:rPr>
              <a:t>Liberación de saldos</a:t>
            </a:r>
          </a:p>
          <a:p>
            <a:r>
              <a:rPr lang="es-419" sz="2400" b="1" dirty="0" smtClean="0">
                <a:solidFill>
                  <a:schemeClr val="accent5">
                    <a:lumMod val="75000"/>
                  </a:schemeClr>
                </a:solidFill>
              </a:rPr>
              <a:t>Transacciones Manuales</a:t>
            </a:r>
          </a:p>
          <a:p>
            <a:r>
              <a:rPr lang="es-419" sz="2400" b="1" dirty="0" smtClean="0">
                <a:solidFill>
                  <a:schemeClr val="accent5">
                    <a:lumMod val="75000"/>
                  </a:schemeClr>
                </a:solidFill>
              </a:rPr>
              <a:t>Aprobación Bancaria</a:t>
            </a:r>
          </a:p>
          <a:p>
            <a:r>
              <a:rPr lang="es-419" sz="2400" b="1" dirty="0" smtClean="0">
                <a:solidFill>
                  <a:schemeClr val="accent5">
                    <a:lumMod val="75000"/>
                  </a:schemeClr>
                </a:solidFill>
              </a:rPr>
              <a:t>Contra cargos</a:t>
            </a:r>
          </a:p>
          <a:p>
            <a:r>
              <a:rPr lang="es-419" sz="2400" b="1" dirty="0" smtClean="0">
                <a:solidFill>
                  <a:schemeClr val="accent5">
                    <a:lumMod val="75000"/>
                  </a:schemeClr>
                </a:solidFill>
              </a:rPr>
              <a:t>Detenciones</a:t>
            </a:r>
          </a:p>
          <a:p>
            <a:endParaRPr lang="es-419" sz="2400" b="1" dirty="0" smtClean="0">
              <a:solidFill>
                <a:srgbClr val="0070C0"/>
              </a:solidFill>
            </a:endParaRPr>
          </a:p>
          <a:p>
            <a:endParaRPr lang="es-419" sz="2400" dirty="0" smtClean="0">
              <a:solidFill>
                <a:srgbClr val="0070C0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>
                <a:solidFill>
                  <a:schemeClr val="bg1"/>
                </a:solidFill>
              </a:rPr>
              <a:t> </a:t>
            </a:r>
            <a:r>
              <a:rPr lang="es-419" sz="900" b="1" dirty="0" smtClean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858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2204864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s-ES" sz="5400" dirty="0" smtClean="0"/>
              <a:t>                     Pagos</a:t>
            </a:r>
            <a:br>
              <a:rPr lang="es-ES" sz="5400" dirty="0" smtClean="0"/>
            </a:br>
            <a:r>
              <a:rPr lang="es-419" sz="4000" b="1" dirty="0">
                <a:solidFill>
                  <a:srgbClr val="0070C0"/>
                </a:solidFill>
              </a:rPr>
              <a:t>Todas las formas de pago</a:t>
            </a:r>
            <a:br>
              <a:rPr lang="es-419" sz="4000" b="1" dirty="0">
                <a:solidFill>
                  <a:srgbClr val="0070C0"/>
                </a:solidFill>
              </a:rPr>
            </a:br>
            <a:r>
              <a:rPr lang="es-419" sz="4000" b="1" dirty="0">
                <a:solidFill>
                  <a:srgbClr val="0070C0"/>
                </a:solidFill>
              </a:rPr>
              <a:t>Tarjetas</a:t>
            </a:r>
            <a:br>
              <a:rPr lang="es-419" sz="4000" b="1" dirty="0">
                <a:solidFill>
                  <a:srgbClr val="0070C0"/>
                </a:solidFill>
              </a:rPr>
            </a:br>
            <a:r>
              <a:rPr lang="es-419" sz="4000" b="1" dirty="0" err="1">
                <a:solidFill>
                  <a:srgbClr val="0070C0"/>
                </a:solidFill>
              </a:rPr>
              <a:t>Wallets</a:t>
            </a:r>
            <a:r>
              <a:rPr lang="es-419" sz="4000" b="1" dirty="0">
                <a:solidFill>
                  <a:srgbClr val="0070C0"/>
                </a:solidFill>
              </a:rPr>
              <a:t/>
            </a:r>
            <a:br>
              <a:rPr lang="es-419" sz="4000" b="1" dirty="0">
                <a:solidFill>
                  <a:srgbClr val="0070C0"/>
                </a:solidFill>
              </a:rPr>
            </a:br>
            <a:r>
              <a:rPr lang="es-419" sz="4000" b="1" dirty="0">
                <a:solidFill>
                  <a:srgbClr val="0070C0"/>
                </a:solidFill>
              </a:rPr>
              <a:t>Pago en tienda</a:t>
            </a:r>
            <a:br>
              <a:rPr lang="es-419" sz="4000" b="1" dirty="0">
                <a:solidFill>
                  <a:srgbClr val="0070C0"/>
                </a:solidFill>
              </a:rPr>
            </a:br>
            <a:r>
              <a:rPr lang="es-419" sz="4000" b="1" dirty="0" err="1">
                <a:solidFill>
                  <a:srgbClr val="0070C0"/>
                </a:solidFill>
              </a:rPr>
              <a:t>Paypal</a:t>
            </a:r>
            <a:r>
              <a:rPr lang="es-419" sz="4000" b="1" dirty="0">
                <a:solidFill>
                  <a:srgbClr val="0070C0"/>
                </a:solidFill>
              </a:rPr>
              <a:t/>
            </a:r>
            <a:br>
              <a:rPr lang="es-419" sz="4000" b="1" dirty="0">
                <a:solidFill>
                  <a:srgbClr val="0070C0"/>
                </a:solidFill>
              </a:rPr>
            </a:br>
            <a:r>
              <a:rPr lang="es-419" sz="4000" b="1" dirty="0">
                <a:solidFill>
                  <a:srgbClr val="0070C0"/>
                </a:solidFill>
              </a:rPr>
              <a:t>Otras </a:t>
            </a:r>
            <a:r>
              <a:rPr lang="es-419" sz="4000" b="1" dirty="0" smtClean="0">
                <a:solidFill>
                  <a:srgbClr val="0070C0"/>
                </a:solidFill>
              </a:rPr>
              <a:t>formas </a:t>
            </a:r>
            <a:r>
              <a:rPr lang="es-419" sz="4000" b="1" dirty="0">
                <a:solidFill>
                  <a:srgbClr val="0070C0"/>
                </a:solidFill>
              </a:rPr>
              <a:t>de pago</a:t>
            </a:r>
            <a:endParaRPr lang="es-MX" sz="4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87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pPr algn="ctr"/>
            <a:r>
              <a:rPr lang="es-ES" b="1" dirty="0" smtClean="0"/>
              <a:t>   Ejemplo  de vista Pagos</a:t>
            </a:r>
          </a:p>
          <a:p>
            <a:pPr algn="ctr"/>
            <a:r>
              <a:rPr lang="es-ES" b="1" dirty="0" smtClean="0"/>
              <a:t>Todas las formas de Pagos</a:t>
            </a:r>
            <a:endParaRPr lang="es-ES" b="1" dirty="0"/>
          </a:p>
          <a:p>
            <a:pPr algn="ctr"/>
            <a:endParaRPr lang="es-ES" b="1" dirty="0" smtClean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22" y="2132856"/>
            <a:ext cx="8781166" cy="292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845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echa derecha 5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sp>
        <p:nvSpPr>
          <p:cNvPr id="3" name="8 CuadroTexto"/>
          <p:cNvSpPr txBox="1"/>
          <p:nvPr/>
        </p:nvSpPr>
        <p:spPr>
          <a:xfrm>
            <a:off x="181352" y="0"/>
            <a:ext cx="7126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pPr algn="ctr"/>
            <a:r>
              <a:rPr lang="es-ES" b="1" dirty="0" smtClean="0"/>
              <a:t> </a:t>
            </a:r>
          </a:p>
          <a:p>
            <a:pPr algn="ctr"/>
            <a:r>
              <a:rPr lang="es-ES" b="1" dirty="0" smtClean="0"/>
              <a:t>Pagos con tarjeta</a:t>
            </a:r>
            <a:endParaRPr lang="es-ES" b="1" dirty="0"/>
          </a:p>
          <a:p>
            <a:pPr algn="ctr"/>
            <a:endParaRPr lang="es-ES" b="1" dirty="0" smtClean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412776"/>
            <a:ext cx="3013090" cy="3616781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251521" y="982839"/>
            <a:ext cx="2520279" cy="923330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s-ES" dirty="0" smtClean="0"/>
              <a:t>Vista de las diferentes formas de pago deben incluir en todas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0197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echa derecha 5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sp>
        <p:nvSpPr>
          <p:cNvPr id="3" name="8 CuadroTexto"/>
          <p:cNvSpPr txBox="1"/>
          <p:nvPr/>
        </p:nvSpPr>
        <p:spPr>
          <a:xfrm>
            <a:off x="181352" y="0"/>
            <a:ext cx="7126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pPr algn="ctr"/>
            <a:r>
              <a:rPr lang="es-ES" b="1" dirty="0" smtClean="0"/>
              <a:t> </a:t>
            </a:r>
          </a:p>
          <a:p>
            <a:pPr algn="ctr"/>
            <a:r>
              <a:rPr lang="es-ES" b="1" dirty="0" smtClean="0"/>
              <a:t>Pagos con tarjeta</a:t>
            </a:r>
            <a:endParaRPr lang="es-ES" b="1" dirty="0"/>
          </a:p>
          <a:p>
            <a:pPr algn="ctr"/>
            <a:endParaRPr lang="es-ES" b="1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338555"/>
            <a:ext cx="3013090" cy="62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433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echa derecha 5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sp>
        <p:nvSpPr>
          <p:cNvPr id="3" name="8 CuadroTexto"/>
          <p:cNvSpPr txBox="1"/>
          <p:nvPr/>
        </p:nvSpPr>
        <p:spPr>
          <a:xfrm>
            <a:off x="181352" y="0"/>
            <a:ext cx="7126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pPr algn="ctr"/>
            <a:r>
              <a:rPr lang="es-ES" b="1" dirty="0" smtClean="0"/>
              <a:t> </a:t>
            </a:r>
          </a:p>
          <a:p>
            <a:pPr algn="ctr"/>
            <a:r>
              <a:rPr lang="es-ES" b="1" dirty="0" smtClean="0"/>
              <a:t>Pagos con tarjeta</a:t>
            </a:r>
            <a:endParaRPr lang="es-ES" b="1" dirty="0"/>
          </a:p>
          <a:p>
            <a:pPr algn="ctr"/>
            <a:endParaRPr lang="es-ES" b="1" dirty="0" smtClean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1250859"/>
            <a:ext cx="830636" cy="442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86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echa derecha 5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sp>
        <p:nvSpPr>
          <p:cNvPr id="3" name="8 CuadroTexto"/>
          <p:cNvSpPr txBox="1"/>
          <p:nvPr/>
        </p:nvSpPr>
        <p:spPr>
          <a:xfrm>
            <a:off x="181352" y="0"/>
            <a:ext cx="71269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pPr algn="ctr"/>
            <a:r>
              <a:rPr lang="es-ES" b="1" dirty="0" smtClean="0"/>
              <a:t> </a:t>
            </a:r>
          </a:p>
          <a:p>
            <a:pPr algn="ctr"/>
            <a:r>
              <a:rPr lang="es-ES" b="1" dirty="0" smtClean="0"/>
              <a:t>Pagos con </a:t>
            </a:r>
            <a:r>
              <a:rPr lang="es-ES" b="1" dirty="0" err="1" smtClean="0"/>
              <a:t>Wallets</a:t>
            </a:r>
            <a:r>
              <a:rPr lang="es-ES" b="1" dirty="0" smtClean="0"/>
              <a:t> (</a:t>
            </a:r>
            <a:r>
              <a:rPr lang="es-ES" b="1" dirty="0" err="1" smtClean="0"/>
              <a:t>Click</a:t>
            </a:r>
            <a:r>
              <a:rPr lang="es-ES" b="1" dirty="0" smtClean="0"/>
              <a:t> to </a:t>
            </a:r>
            <a:r>
              <a:rPr lang="es-ES" b="1" dirty="0" err="1" smtClean="0"/>
              <a:t>Pay</a:t>
            </a:r>
            <a:r>
              <a:rPr lang="es-ES" b="1" dirty="0" smtClean="0"/>
              <a:t>)</a:t>
            </a:r>
            <a:endParaRPr lang="es-ES" b="1" dirty="0"/>
          </a:p>
          <a:p>
            <a:pPr algn="ctr"/>
            <a:endParaRPr lang="es-ES" b="1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460167"/>
            <a:ext cx="3013090" cy="173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50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echa derecha 5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338555"/>
            <a:ext cx="3013090" cy="6252328"/>
          </a:xfrm>
          <a:prstGeom prst="rect">
            <a:avLst/>
          </a:prstGeom>
        </p:spPr>
      </p:pic>
      <p:sp>
        <p:nvSpPr>
          <p:cNvPr id="5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Pagos con </a:t>
            </a:r>
            <a:r>
              <a:rPr lang="es-ES" b="1" dirty="0" err="1" smtClean="0"/>
              <a:t>Wallets</a:t>
            </a:r>
            <a:r>
              <a:rPr lang="es-ES" b="1" dirty="0" smtClean="0"/>
              <a:t> (</a:t>
            </a:r>
            <a:r>
              <a:rPr lang="es-ES" b="1" dirty="0" err="1" smtClean="0"/>
              <a:t>Click</a:t>
            </a:r>
            <a:r>
              <a:rPr lang="es-ES" b="1" dirty="0" smtClean="0"/>
              <a:t> to </a:t>
            </a:r>
            <a:r>
              <a:rPr lang="es-ES" b="1" dirty="0" err="1" smtClean="0"/>
              <a:t>Pay</a:t>
            </a:r>
            <a:r>
              <a:rPr lang="es-ES" b="1" dirty="0" smtClean="0"/>
              <a:t>)</a:t>
            </a:r>
            <a:endParaRPr lang="es-ES" b="1" dirty="0"/>
          </a:p>
          <a:p>
            <a:pPr algn="ctr"/>
            <a:endParaRPr lang="es-ES" b="1" dirty="0" smtClean="0"/>
          </a:p>
        </p:txBody>
      </p:sp>
    </p:spTree>
    <p:extLst>
      <p:ext uri="{BB962C8B-B14F-4D97-AF65-F5344CB8AC3E}">
        <p14:creationId xmlns:p14="http://schemas.microsoft.com/office/powerpoint/2010/main" val="2277628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echa derecha 5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sp>
        <p:nvSpPr>
          <p:cNvPr id="5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Pagos con </a:t>
            </a:r>
            <a:r>
              <a:rPr lang="es-ES" b="1" dirty="0" err="1" smtClean="0"/>
              <a:t>Wallets</a:t>
            </a:r>
            <a:r>
              <a:rPr lang="es-ES" b="1" dirty="0" smtClean="0"/>
              <a:t> (</a:t>
            </a:r>
            <a:r>
              <a:rPr lang="es-ES" b="1" dirty="0" err="1" smtClean="0"/>
              <a:t>Click</a:t>
            </a:r>
            <a:r>
              <a:rPr lang="es-ES" b="1" dirty="0" smtClean="0"/>
              <a:t> to </a:t>
            </a:r>
            <a:r>
              <a:rPr lang="es-ES" b="1" dirty="0" err="1" smtClean="0"/>
              <a:t>Pay</a:t>
            </a:r>
            <a:r>
              <a:rPr lang="es-ES" b="1" dirty="0" smtClean="0"/>
              <a:t>)</a:t>
            </a:r>
            <a:endParaRPr lang="es-ES" b="1" dirty="0"/>
          </a:p>
          <a:p>
            <a:pPr algn="ctr"/>
            <a:endParaRPr lang="es-ES" b="1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80" y="310172"/>
            <a:ext cx="3013090" cy="630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4151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Pagos con Pago en tienda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4" name="Flecha derecha 3"/>
          <p:cNvSpPr/>
          <p:nvPr/>
        </p:nvSpPr>
        <p:spPr>
          <a:xfrm>
            <a:off x="1115616" y="2348880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683203"/>
            <a:ext cx="3617038" cy="556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18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Pagos con Pago en tienda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1340768"/>
            <a:ext cx="2320894" cy="387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221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Pagos con Pago en tienda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9381"/>
            <a:ext cx="3469125" cy="501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419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PAYPAL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412776"/>
            <a:ext cx="3013090" cy="361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783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PAYPAL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83775"/>
            <a:ext cx="3721573" cy="505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996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PAYPAL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575234"/>
            <a:ext cx="3721573" cy="377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57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PAYPAL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286313"/>
            <a:ext cx="3721573" cy="17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703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Otros Métodos de pago que se agreguen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1412776"/>
            <a:ext cx="3013090" cy="361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35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Otros Métodos de pago que se agreguen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683203"/>
            <a:ext cx="2320894" cy="556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85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Otros Métodos de pago que se agreguen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41155"/>
            <a:ext cx="3721573" cy="505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61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81352" y="0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Otros Métodos de pago que se agreguen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575234"/>
            <a:ext cx="3721573" cy="377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24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79512" y="-99392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Otros Métodos de pago que se agreguen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sp>
        <p:nvSpPr>
          <p:cNvPr id="4" name="CuadroTexto 3"/>
          <p:cNvSpPr txBox="1"/>
          <p:nvPr/>
        </p:nvSpPr>
        <p:spPr>
          <a:xfrm>
            <a:off x="5292080" y="1772816"/>
            <a:ext cx="28083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smtClean="0"/>
              <a:t>Debe incluir un número que lo identifique dentro del tipo de corresponsal que utilizo para el pago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smtClean="0"/>
              <a:t>El lugar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smtClean="0"/>
              <a:t>Si fue en efectivo o con  tarjeta </a:t>
            </a:r>
            <a:r>
              <a:rPr lang="es-ES" b="1" dirty="0" err="1" smtClean="0"/>
              <a:t>etc</a:t>
            </a:r>
            <a:endParaRPr lang="es-E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 smtClean="0"/>
              <a:t>Detalles del punto de venta que recibió el pago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3861112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2204864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s-ES" sz="5400" dirty="0" smtClean="0"/>
              <a:t>                     Pagos</a:t>
            </a:r>
            <a:br>
              <a:rPr lang="es-ES" sz="5400" dirty="0" smtClean="0"/>
            </a:br>
            <a: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  <a:t>Liquidaciones</a:t>
            </a:r>
            <a:b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  <a:t>Devoluciones</a:t>
            </a:r>
            <a:b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  <a:t>Liberación de saldos</a:t>
            </a:r>
            <a:b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  <a:t>Transacciones Manuales</a:t>
            </a:r>
            <a:b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  <a:t>Aprobación Bancaria</a:t>
            </a:r>
            <a:b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  <a:t>Contra cargos</a:t>
            </a:r>
            <a:b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  <a:t>Detenciones</a:t>
            </a:r>
            <a:br>
              <a:rPr lang="es-419" sz="4000" b="1" dirty="0">
                <a:solidFill>
                  <a:schemeClr val="accent5">
                    <a:lumMod val="75000"/>
                  </a:schemeClr>
                </a:solidFill>
              </a:rPr>
            </a:br>
            <a:endParaRPr lang="es-MX" sz="4000" dirty="0"/>
          </a:p>
        </p:txBody>
      </p:sp>
    </p:spTree>
    <p:extLst>
      <p:ext uri="{BB962C8B-B14F-4D97-AF65-F5344CB8AC3E}">
        <p14:creationId xmlns:p14="http://schemas.microsoft.com/office/powerpoint/2010/main" val="15197908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79512" y="-99392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Liquidaciones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sp>
        <p:nvSpPr>
          <p:cNvPr id="4" name="Rectángulo 3"/>
          <p:cNvSpPr/>
          <p:nvPr/>
        </p:nvSpPr>
        <p:spPr>
          <a:xfrm>
            <a:off x="664710" y="718723"/>
            <a:ext cx="80837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 smtClean="0"/>
              <a:t>Nota: Para sor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374" y="585891"/>
            <a:ext cx="3013090" cy="575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1235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79512" y="-99392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Liquidaciones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sp>
        <p:nvSpPr>
          <p:cNvPr id="4" name="Rectángulo 3"/>
          <p:cNvSpPr/>
          <p:nvPr/>
        </p:nvSpPr>
        <p:spPr>
          <a:xfrm>
            <a:off x="664710" y="718723"/>
            <a:ext cx="80837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 smtClean="0"/>
              <a:t>Nota: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1180388"/>
            <a:ext cx="1567446" cy="358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6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79512" y="-99392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Liquidaciones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sp>
        <p:nvSpPr>
          <p:cNvPr id="4" name="Rectángulo 3"/>
          <p:cNvSpPr/>
          <p:nvPr/>
        </p:nvSpPr>
        <p:spPr>
          <a:xfrm>
            <a:off x="664710" y="718723"/>
            <a:ext cx="808375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 smtClean="0"/>
              <a:t>Nota: Solo en Pago en tienda no hay liquidación ya que la orden es pagada directamente en el punto de venta 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18563"/>
            <a:ext cx="3721573" cy="134615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65104"/>
            <a:ext cx="3013090" cy="1508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964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CuadroTexto"/>
          <p:cNvSpPr txBox="1"/>
          <p:nvPr/>
        </p:nvSpPr>
        <p:spPr>
          <a:xfrm>
            <a:off x="179512" y="-99392"/>
            <a:ext cx="71269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Procesador de Pagos</a:t>
            </a:r>
          </a:p>
          <a:p>
            <a:r>
              <a:rPr lang="es-ES" b="1" dirty="0" smtClean="0"/>
              <a:t>Liquidaciones</a:t>
            </a:r>
            <a:endParaRPr lang="es-ES" b="1" dirty="0"/>
          </a:p>
          <a:p>
            <a:pPr algn="ctr"/>
            <a:endParaRPr lang="es-ES" b="1" dirty="0" smtClean="0"/>
          </a:p>
        </p:txBody>
      </p:sp>
      <p:sp>
        <p:nvSpPr>
          <p:cNvPr id="3" name="Flecha derecha 2"/>
          <p:cNvSpPr/>
          <p:nvPr/>
        </p:nvSpPr>
        <p:spPr>
          <a:xfrm>
            <a:off x="1482519" y="2460167"/>
            <a:ext cx="2936383" cy="200910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Detalle de la consulta</a:t>
            </a:r>
            <a:endParaRPr lang="es-MX" dirty="0"/>
          </a:p>
        </p:txBody>
      </p:sp>
      <p:sp>
        <p:nvSpPr>
          <p:cNvPr id="4" name="Rectángulo 3"/>
          <p:cNvSpPr/>
          <p:nvPr/>
        </p:nvSpPr>
        <p:spPr>
          <a:xfrm>
            <a:off x="664710" y="718723"/>
            <a:ext cx="80837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dirty="0" smtClean="0"/>
              <a:t>Nota:</a:t>
            </a:r>
            <a:endParaRPr lang="es-E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374" y="585891"/>
            <a:ext cx="3013090" cy="575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677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95536" y="2204864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s-ES" sz="5400" dirty="0" smtClean="0"/>
              <a:t>Ejemplo de otras vistas que necesitamos y no pertenecen al Procesador de Pagos Soriana</a:t>
            </a:r>
            <a:r>
              <a:rPr lang="es-ES" sz="5400" dirty="0" smtClean="0"/>
              <a:t/>
            </a:r>
            <a:br>
              <a:rPr lang="es-ES" sz="5400" dirty="0" smtClean="0"/>
            </a:br>
            <a:endParaRPr lang="es-MX" sz="4000" dirty="0"/>
          </a:p>
        </p:txBody>
      </p:sp>
    </p:spTree>
    <p:extLst>
      <p:ext uri="{BB962C8B-B14F-4D97-AF65-F5344CB8AC3E}">
        <p14:creationId xmlns:p14="http://schemas.microsoft.com/office/powerpoint/2010/main" val="33792343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Devoluciones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4" name="13 Tabla"/>
          <p:cNvGraphicFramePr>
            <a:graphicFrameLocks noGrp="1"/>
          </p:cNvGraphicFramePr>
          <p:nvPr/>
        </p:nvGraphicFramePr>
        <p:xfrm>
          <a:off x="1428728" y="1928802"/>
          <a:ext cx="7262840" cy="1888889"/>
        </p:xfrm>
        <a:graphic>
          <a:graphicData uri="http://schemas.openxmlformats.org/drawingml/2006/table">
            <a:tbl>
              <a:tblPr/>
              <a:tblGrid>
                <a:gridCol w="610109"/>
                <a:gridCol w="874489"/>
                <a:gridCol w="587104"/>
                <a:gridCol w="857256"/>
                <a:gridCol w="721527"/>
                <a:gridCol w="1395625"/>
                <a:gridCol w="742299"/>
                <a:gridCol w="610109"/>
                <a:gridCol w="864322"/>
              </a:tblGrid>
              <a:tr h="558429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Numero de orden 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y hora de creación de la orden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Solicitud</a:t>
                      </a:r>
                      <a:r>
                        <a:rPr lang="es-ES" sz="9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RMA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smtClean="0">
                          <a:solidFill>
                            <a:srgbClr val="FFFFFF"/>
                          </a:solidFill>
                          <a:latin typeface="Calibri"/>
                        </a:rPr>
                        <a:t>Motivo</a:t>
                      </a:r>
                      <a:r>
                        <a:rPr lang="es-ES" sz="900" b="1" i="0" u="none" strike="noStrike" baseline="0" dirty="0" smtClean="0">
                          <a:solidFill>
                            <a:srgbClr val="FFFFFF"/>
                          </a:solidFill>
                          <a:latin typeface="Calibri"/>
                        </a:rPr>
                        <a:t> RMA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 dirty="0" err="1">
                          <a:solidFill>
                            <a:srgbClr val="FFFFFF"/>
                          </a:solidFill>
                          <a:latin typeface="Calibri"/>
                        </a:rPr>
                        <a:t>Paqueteria</a:t>
                      </a:r>
                      <a:endParaRPr lang="es-ES" sz="900" b="1" i="0" u="none" strike="noStrike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Estatus de la guia de devolución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Fecha de entrega al almacén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Recibido por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Daño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tránsito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Robo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45367323456213400000000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SOE: Alberto Juarez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7654234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err="1" smtClean="0">
                          <a:solidFill>
                            <a:srgbClr val="000000"/>
                          </a:solidFill>
                          <a:latin typeface="Calibri"/>
                        </a:rPr>
                        <a:t>Extravio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DHL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Almacén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76843423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28-feb-21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Daño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ENVIO CLICK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Cancelada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9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5946"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sng" strike="noStrike">
                          <a:solidFill>
                            <a:srgbClr val="000000"/>
                          </a:solidFill>
                          <a:latin typeface="Calibri"/>
                        </a:rPr>
                        <a:t>78965433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27-feb-21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Reenvio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 smtClean="0">
                          <a:solidFill>
                            <a:srgbClr val="000000"/>
                          </a:solidFill>
                          <a:latin typeface="Calibri"/>
                        </a:rPr>
                        <a:t>Faltante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Estafeta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Entregada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9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10-mar-21</a:t>
                      </a: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9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SOE: Alberto </a:t>
                      </a:r>
                      <a:r>
                        <a:rPr lang="es-ES" sz="900" b="0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Juarez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6991" marR="6991" marT="69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2357422" y="3857628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Recibo de Devoluciones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17" name="16 Tabla"/>
          <p:cNvGraphicFramePr>
            <a:graphicFrameLocks noGrp="1"/>
          </p:cNvGraphicFramePr>
          <p:nvPr/>
        </p:nvGraphicFramePr>
        <p:xfrm>
          <a:off x="1357290" y="4214818"/>
          <a:ext cx="7572429" cy="2000262"/>
        </p:xfrm>
        <a:graphic>
          <a:graphicData uri="http://schemas.openxmlformats.org/drawingml/2006/table">
            <a:tbl>
              <a:tblPr/>
              <a:tblGrid>
                <a:gridCol w="737574"/>
                <a:gridCol w="1057190"/>
                <a:gridCol w="919880"/>
                <a:gridCol w="785818"/>
                <a:gridCol w="1846952"/>
                <a:gridCol w="749867"/>
                <a:gridCol w="1475148"/>
              </a:tblGrid>
              <a:tr h="320042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Piezas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Condiciones de paquete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Recibo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buen estado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0055"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000" b="0" i="0" u="none" strike="noStrike" dirty="0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422" marR="7422" marT="742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4" name="18 Grupo"/>
          <p:cNvGrpSpPr/>
          <p:nvPr/>
        </p:nvGrpSpPr>
        <p:grpSpPr>
          <a:xfrm>
            <a:off x="8001024" y="4572008"/>
            <a:ext cx="285752" cy="214314"/>
            <a:chOff x="7500958" y="5429264"/>
            <a:chExt cx="285752" cy="214314"/>
          </a:xfrm>
        </p:grpSpPr>
        <p:sp>
          <p:nvSpPr>
            <p:cNvPr id="19" name="18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0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18 Grupo"/>
          <p:cNvGrpSpPr/>
          <p:nvPr/>
        </p:nvGrpSpPr>
        <p:grpSpPr>
          <a:xfrm>
            <a:off x="8001024" y="4929198"/>
            <a:ext cx="285752" cy="214314"/>
            <a:chOff x="7500958" y="5429264"/>
            <a:chExt cx="285752" cy="214314"/>
          </a:xfrm>
        </p:grpSpPr>
        <p:sp>
          <p:nvSpPr>
            <p:cNvPr id="22" name="21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3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18 Grupo"/>
          <p:cNvGrpSpPr/>
          <p:nvPr/>
        </p:nvGrpSpPr>
        <p:grpSpPr>
          <a:xfrm>
            <a:off x="8001024" y="5357826"/>
            <a:ext cx="285752" cy="214314"/>
            <a:chOff x="7500958" y="5429264"/>
            <a:chExt cx="285752" cy="214314"/>
          </a:xfrm>
        </p:grpSpPr>
        <p:sp>
          <p:nvSpPr>
            <p:cNvPr id="25" name="24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6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8" name="18 Grupo"/>
          <p:cNvGrpSpPr/>
          <p:nvPr/>
        </p:nvGrpSpPr>
        <p:grpSpPr>
          <a:xfrm>
            <a:off x="8001024" y="5857892"/>
            <a:ext cx="285752" cy="214314"/>
            <a:chOff x="7500958" y="5429264"/>
            <a:chExt cx="285752" cy="214314"/>
          </a:xfrm>
        </p:grpSpPr>
        <p:sp>
          <p:nvSpPr>
            <p:cNvPr id="28" name="27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9" name="Picture 5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30" name="29 CuadroTexto"/>
          <p:cNvSpPr txBox="1"/>
          <p:nvPr/>
        </p:nvSpPr>
        <p:spPr>
          <a:xfrm>
            <a:off x="6572264" y="6357958"/>
            <a:ext cx="226889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Confirmar Devolución</a:t>
            </a:r>
            <a:endParaRPr lang="es-ES" b="1" dirty="0"/>
          </a:p>
        </p:txBody>
      </p:sp>
      <p:sp>
        <p:nvSpPr>
          <p:cNvPr id="24" name="23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27" name="26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CEDIS WMS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 Grupo"/>
          <p:cNvGrpSpPr/>
          <p:nvPr/>
        </p:nvGrpSpPr>
        <p:grpSpPr>
          <a:xfrm>
            <a:off x="-7938" y="547688"/>
            <a:ext cx="9159876" cy="5768975"/>
            <a:chOff x="-7938" y="547688"/>
            <a:chExt cx="9159876" cy="576897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-7938" y="547688"/>
              <a:ext cx="9159876" cy="5768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2"/>
            <a:srcRect l="1542" t="34920" r="87539" b="50220"/>
            <a:stretch>
              <a:fillRect/>
            </a:stretch>
          </p:blipFill>
          <p:spPr bwMode="auto">
            <a:xfrm>
              <a:off x="71406" y="1928802"/>
              <a:ext cx="1000132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6" name="5 CuadroTexto"/>
          <p:cNvSpPr txBox="1"/>
          <p:nvPr/>
        </p:nvSpPr>
        <p:spPr>
          <a:xfrm>
            <a:off x="2357422" y="1500174"/>
            <a:ext cx="471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smtClean="0">
                <a:solidFill>
                  <a:schemeClr val="accent1">
                    <a:lumMod val="75000"/>
                  </a:schemeClr>
                </a:solidFill>
              </a:rPr>
              <a:t>Proceso de Devoluciones</a:t>
            </a:r>
            <a:endParaRPr lang="es-E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7" name="Picture 1"/>
          <p:cNvPicPr>
            <a:picLocks noChangeAspect="1" noChangeArrowheads="1"/>
          </p:cNvPicPr>
          <p:nvPr/>
        </p:nvPicPr>
        <p:blipFill>
          <a:blip r:embed="rId3"/>
          <a:srcRect l="17569" t="21484" r="37408" b="73633"/>
          <a:stretch>
            <a:fillRect/>
          </a:stretch>
        </p:blipFill>
        <p:spPr bwMode="auto">
          <a:xfrm>
            <a:off x="1428728" y="2000240"/>
            <a:ext cx="5857916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31" name="30 Tabla"/>
          <p:cNvGraphicFramePr>
            <a:graphicFrameLocks noGrp="1"/>
          </p:cNvGraphicFramePr>
          <p:nvPr/>
        </p:nvGraphicFramePr>
        <p:xfrm>
          <a:off x="1524000" y="2571744"/>
          <a:ext cx="6095999" cy="1563927"/>
        </p:xfrm>
        <a:graphic>
          <a:graphicData uri="http://schemas.openxmlformats.org/drawingml/2006/table">
            <a:tbl>
              <a:tblPr/>
              <a:tblGrid>
                <a:gridCol w="668665"/>
                <a:gridCol w="958420"/>
                <a:gridCol w="635232"/>
                <a:gridCol w="668665"/>
                <a:gridCol w="1147876"/>
                <a:gridCol w="679810"/>
                <a:gridCol w="1337331"/>
              </a:tblGrid>
              <a:tr h="329247"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RMA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Descipción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Piezas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419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Número de la Guia de devolución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Condiciones de paquete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800" b="1" i="0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Consfirmar reembolso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1231123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Calefactor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En buen estado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1112346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Abanico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2534678888888880000000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8670"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00065754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1112875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Refrigerador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700" b="0" i="0" u="none" strike="noStrike">
                          <a:solidFill>
                            <a:srgbClr val="0F253F"/>
                          </a:solidFill>
                          <a:latin typeface="Calibri"/>
                        </a:rPr>
                        <a:t>4562734567898230000000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7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Dañado</a:t>
                      </a: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s-ES" sz="7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358" marR="8358" marT="83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pSp>
        <p:nvGrpSpPr>
          <p:cNvPr id="4" name="18 Grupo"/>
          <p:cNvGrpSpPr/>
          <p:nvPr/>
        </p:nvGrpSpPr>
        <p:grpSpPr>
          <a:xfrm>
            <a:off x="6715140" y="2992664"/>
            <a:ext cx="285752" cy="214314"/>
            <a:chOff x="7500958" y="5429264"/>
            <a:chExt cx="285752" cy="214314"/>
          </a:xfrm>
        </p:grpSpPr>
        <p:sp>
          <p:nvSpPr>
            <p:cNvPr id="33" name="32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4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5" name="18 Grupo"/>
          <p:cNvGrpSpPr/>
          <p:nvPr/>
        </p:nvGrpSpPr>
        <p:grpSpPr>
          <a:xfrm>
            <a:off x="6715140" y="3278416"/>
            <a:ext cx="285752" cy="214314"/>
            <a:chOff x="7500958" y="5429264"/>
            <a:chExt cx="285752" cy="214314"/>
          </a:xfrm>
        </p:grpSpPr>
        <p:sp>
          <p:nvSpPr>
            <p:cNvPr id="36" name="35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7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7" name="18 Grupo"/>
          <p:cNvGrpSpPr/>
          <p:nvPr/>
        </p:nvGrpSpPr>
        <p:grpSpPr>
          <a:xfrm>
            <a:off x="6715140" y="3564168"/>
            <a:ext cx="285752" cy="214314"/>
            <a:chOff x="7500958" y="5429264"/>
            <a:chExt cx="285752" cy="214314"/>
          </a:xfrm>
        </p:grpSpPr>
        <p:sp>
          <p:nvSpPr>
            <p:cNvPr id="39" name="38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0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grpSp>
        <p:nvGrpSpPr>
          <p:cNvPr id="8" name="18 Grupo"/>
          <p:cNvGrpSpPr/>
          <p:nvPr/>
        </p:nvGrpSpPr>
        <p:grpSpPr>
          <a:xfrm>
            <a:off x="6715140" y="3849920"/>
            <a:ext cx="285752" cy="214314"/>
            <a:chOff x="7500958" y="5429264"/>
            <a:chExt cx="285752" cy="214314"/>
          </a:xfrm>
        </p:grpSpPr>
        <p:sp>
          <p:nvSpPr>
            <p:cNvPr id="42" name="41 Rectángulo"/>
            <p:cNvSpPr/>
            <p:nvPr/>
          </p:nvSpPr>
          <p:spPr>
            <a:xfrm>
              <a:off x="7500958" y="5429264"/>
              <a:ext cx="285752" cy="214314"/>
            </a:xfrm>
            <a:prstGeom prst="rect">
              <a:avLst/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3" name="Picture 5"/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7572396" y="5500702"/>
              <a:ext cx="142869" cy="14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44" name="43 CuadroTexto"/>
          <p:cNvSpPr txBox="1"/>
          <p:nvPr/>
        </p:nvSpPr>
        <p:spPr>
          <a:xfrm>
            <a:off x="5429256" y="4357694"/>
            <a:ext cx="2262351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ES" b="1" dirty="0" smtClean="0"/>
              <a:t>Confirmar Reembolso</a:t>
            </a:r>
            <a:endParaRPr lang="es-ES" b="1" dirty="0"/>
          </a:p>
        </p:txBody>
      </p:sp>
      <p:sp>
        <p:nvSpPr>
          <p:cNvPr id="24" name="23 CuadroTexto"/>
          <p:cNvSpPr txBox="1"/>
          <p:nvPr/>
        </p:nvSpPr>
        <p:spPr>
          <a:xfrm>
            <a:off x="-45658" y="2161610"/>
            <a:ext cx="1428596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900" b="1" dirty="0" smtClean="0">
                <a:solidFill>
                  <a:schemeClr val="bg1"/>
                </a:solidFill>
              </a:rPr>
              <a:t>Manuales Operativos</a:t>
            </a:r>
            <a:endParaRPr lang="es-419" sz="900" dirty="0" smtClean="0">
              <a:solidFill>
                <a:schemeClr val="bg1"/>
              </a:solidFill>
            </a:endParaRP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Actualizaciónes</a:t>
            </a:r>
            <a:r>
              <a:rPr lang="es-419" sz="900" dirty="0" smtClean="0">
                <a:solidFill>
                  <a:schemeClr val="bg1"/>
                </a:solidFill>
              </a:rPr>
              <a:t> 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Consignaciones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Reenvios </a:t>
            </a:r>
            <a:r>
              <a:rPr lang="es-419" sz="900" b="1" dirty="0">
                <a:solidFill>
                  <a:schemeClr val="bg1"/>
                </a:solidFill>
              </a:rPr>
              <a:t>de </a:t>
            </a:r>
            <a:r>
              <a:rPr lang="es-419" sz="900" b="1" dirty="0" smtClean="0">
                <a:solidFill>
                  <a:schemeClr val="bg1"/>
                </a:solidFill>
              </a:rPr>
              <a:t>mercancia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Guias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Envio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 - Reenvio</a:t>
            </a:r>
          </a:p>
          <a:p>
            <a:endParaRPr lang="es-419" sz="900" b="1" dirty="0" smtClean="0">
              <a:solidFill>
                <a:schemeClr val="bg1"/>
              </a:solidFill>
            </a:endParaRPr>
          </a:p>
          <a:p>
            <a:r>
              <a:rPr lang="es-419" sz="900" b="1" dirty="0" smtClean="0">
                <a:solidFill>
                  <a:schemeClr val="bg1"/>
                </a:solidFill>
              </a:rPr>
              <a:t>Devolución de mercancia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Estatus de devolución</a:t>
            </a:r>
          </a:p>
          <a:p>
            <a:r>
              <a:rPr lang="es-419" sz="900" b="1" dirty="0" smtClean="0">
                <a:solidFill>
                  <a:schemeClr val="bg1"/>
                </a:solidFill>
              </a:rPr>
              <a:t>  - Recibo de devoluciones</a:t>
            </a:r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 smtClean="0">
              <a:solidFill>
                <a:schemeClr val="bg1"/>
              </a:solidFill>
            </a:endParaRPr>
          </a:p>
          <a:p>
            <a:endParaRPr lang="es-ES" sz="900" dirty="0">
              <a:solidFill>
                <a:schemeClr val="bg1"/>
              </a:solidFill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3482346" y="59272"/>
            <a:ext cx="2211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VISTA DE CEDIS WMS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3767</TotalTime>
  <Words>1377</Words>
  <Application>Microsoft Office PowerPoint</Application>
  <PresentationFormat>Presentación en pantalla (4:3)</PresentationFormat>
  <Paragraphs>515</Paragraphs>
  <Slides>39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2" baseType="lpstr">
      <vt:lpstr>Arial</vt:lpstr>
      <vt:lpstr>Calibri</vt:lpstr>
      <vt:lpstr>Tema de Office</vt:lpstr>
      <vt:lpstr>Procesador de Pagos</vt:lpstr>
      <vt:lpstr>Presentación de PowerPoint</vt:lpstr>
      <vt:lpstr>Payment Transaction Tracking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Pagos</vt:lpstr>
      <vt:lpstr>Presentación de PowerPoint</vt:lpstr>
      <vt:lpstr>Presentación de PowerPoint</vt:lpstr>
      <vt:lpstr>                     Pagos Todas las formas de pago Tarjetas Wallets Pago en tienda Paypal Otras formas de pago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                    Pagos Liquidaciones Devoluciones Liberación de saldos Transacciones Manuales Aprobación Bancaria Contra cargos Detenciones </vt:lpstr>
      <vt:lpstr>Presentación de PowerPoint</vt:lpstr>
      <vt:lpstr>Presentación de PowerPoint</vt:lpstr>
      <vt:lpstr>Presentación de PowerPoint</vt:lpstr>
      <vt:lpstr>Presentación de PowerPoint</vt:lpstr>
      <vt:lpstr>Ejemplo de otras vistas que necesitamos y no pertenecen al Procesador de Pagos Soriana 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susanavm</dc:creator>
  <cp:lastModifiedBy>Vazquez Torres, Nicte</cp:lastModifiedBy>
  <cp:revision>199</cp:revision>
  <dcterms:created xsi:type="dcterms:W3CDTF">2021-03-10T22:48:54Z</dcterms:created>
  <dcterms:modified xsi:type="dcterms:W3CDTF">2021-05-25T19:12:30Z</dcterms:modified>
</cp:coreProperties>
</file>