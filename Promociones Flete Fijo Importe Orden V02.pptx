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32" d="100"/>
          <a:sy n="132" d="100"/>
        </p:scale>
        <p:origin x="48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ED90AC7D-D665-4F46-9727-6BB3F58579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ECFA6889-E191-4428-AC5F-177AC218DA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05A4ECAB-5FD0-4E2C-B798-9C062B9F2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553F4-8163-45A0-8AF1-9BC7A3D2B5D1}" type="datetimeFigureOut">
              <a:rPr lang="es-MX" smtClean="0"/>
              <a:t>28/10/2021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EC371F9E-7171-444B-B17F-F3FBDD8A2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208E1E0E-85DD-46AD-9428-A5E6A5191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7F9C0-C010-48B9-AB78-03D59AC424C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43921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655B978-EF6C-42CC-B639-2B5B5A71B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233FC660-8D19-4C8A-A4C1-DC09603F3E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E3F73506-EA07-4929-8F8B-BB9D8DC81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553F4-8163-45A0-8AF1-9BC7A3D2B5D1}" type="datetimeFigureOut">
              <a:rPr lang="es-MX" smtClean="0"/>
              <a:t>28/10/2021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B1CE99FF-2E6D-4523-9689-864135699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C17456D3-ABCA-445F-A21D-C88ED2A77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7F9C0-C010-48B9-AB78-03D59AC424C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62041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E39BE0E6-80CA-4049-B200-D4042A2E8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xmlns="" id="{556F1F27-0876-40D9-8688-C27C7DDB8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C1AD8DD0-08D6-424E-A29C-58D14006C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553F4-8163-45A0-8AF1-9BC7A3D2B5D1}" type="datetimeFigureOut">
              <a:rPr lang="es-MX" smtClean="0"/>
              <a:t>28/10/2021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FD184B5F-E7FE-48C8-898D-B007E9B75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A4DB966E-7098-4818-83B6-2DE970992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7F9C0-C010-48B9-AB78-03D59AC424C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14043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E52FD64-EC49-4385-ADFF-E15A07728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8F4DF2A0-BED5-43AC-B70C-BA580AA935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xmlns="" id="{6A2618D9-14AC-4FAA-9564-59E04127C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xmlns="" id="{8C1D4299-E528-44E3-9F7D-CEE782B03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553F4-8163-45A0-8AF1-9BC7A3D2B5D1}" type="datetimeFigureOut">
              <a:rPr lang="es-MX" smtClean="0"/>
              <a:t>28/10/2021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xmlns="" id="{C7F28267-0FA9-4AB5-A7D1-9DEE49AAC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xmlns="" id="{ACDFEAB5-C1D3-4146-90FF-951E5911A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7F9C0-C010-48B9-AB78-03D59AC424C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56984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665BB599-797B-4BFF-844A-812787860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xmlns="" id="{C9BDBF62-144C-4884-84E9-5437D5F1CB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xmlns="" id="{111055F7-B852-4958-9104-1D76C6B5E2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xmlns="" id="{9224EE7D-1893-464D-94A2-0CFCF12F11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xmlns="" id="{D2C5B6D8-440C-4CA5-842A-7C18424B71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xmlns="" id="{4F98590A-682E-4973-B87A-6B6641BA7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553F4-8163-45A0-8AF1-9BC7A3D2B5D1}" type="datetimeFigureOut">
              <a:rPr lang="es-MX" smtClean="0"/>
              <a:t>28/10/2021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xmlns="" id="{872B025E-88CD-4444-B2E2-EAD11FD15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xmlns="" id="{04C567C1-1107-44EF-A378-37120B4C8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7F9C0-C010-48B9-AB78-03D59AC424C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6979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AED04DB-966E-4557-8C67-9A004EB82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xmlns="" id="{87AB2766-C56E-4273-A8E9-86852A7CE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553F4-8163-45A0-8AF1-9BC7A3D2B5D1}" type="datetimeFigureOut">
              <a:rPr lang="es-MX" smtClean="0"/>
              <a:t>28/10/2021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xmlns="" id="{B9DF0FAF-1EBE-481A-B102-F7E79C5C9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xmlns="" id="{322C8EFC-7B42-4BF0-88D3-CC207C4C9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7F9C0-C010-48B9-AB78-03D59AC424C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70056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xmlns="" id="{6E834138-D29D-4D46-A4C2-CB4EC3583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553F4-8163-45A0-8AF1-9BC7A3D2B5D1}" type="datetimeFigureOut">
              <a:rPr lang="es-MX" smtClean="0"/>
              <a:t>28/10/2021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xmlns="" id="{5F36585E-6446-4263-981D-2398343D9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xmlns="" id="{AF680A59-9072-4A4C-9999-41F68D3AF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7F9C0-C010-48B9-AB78-03D59AC424C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41595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C3C1997-532A-431F-8570-36145252E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7A0AE95F-1641-4883-B680-40CC7AFE6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xmlns="" id="{F1509B81-0EEC-4400-A02F-2228185223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xmlns="" id="{D510B529-8F18-4942-9946-4ED09DF24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553F4-8163-45A0-8AF1-9BC7A3D2B5D1}" type="datetimeFigureOut">
              <a:rPr lang="es-MX" smtClean="0"/>
              <a:t>28/10/2021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xmlns="" id="{8AC1CA2D-C4EE-4205-B58F-9DC0C7C3A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xmlns="" id="{50CB0575-57A7-447E-A477-28AEF45D2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7F9C0-C010-48B9-AB78-03D59AC424C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89043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EB48E54-A854-4BAF-B875-76CEAAAD9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xmlns="" id="{D5135E7E-11D4-4E18-82F7-EA4199FC80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xmlns="" id="{32B68502-941A-4B66-8397-81A980D63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xmlns="" id="{7A82FF54-2EDA-4EAC-A6AA-491D4E351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553F4-8163-45A0-8AF1-9BC7A3D2B5D1}" type="datetimeFigureOut">
              <a:rPr lang="es-MX" smtClean="0"/>
              <a:t>28/10/2021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xmlns="" id="{A7AF6B92-9AAB-4E25-B6AE-E96BE4EF4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xmlns="" id="{D5A46598-AF55-48E2-B4FC-90DE24AEB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7F9C0-C010-48B9-AB78-03D59AC424C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07326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8DF3745-123D-4E2E-9E6D-C19949099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xmlns="" id="{93751B96-6E22-40D1-A306-5518DA6706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F081B99C-7DD2-488B-94C4-6C9898961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553F4-8163-45A0-8AF1-9BC7A3D2B5D1}" type="datetimeFigureOut">
              <a:rPr lang="es-MX" smtClean="0"/>
              <a:t>28/10/2021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6C204675-1985-4DCC-8F20-7830DD1D4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2B3DC036-E7CC-4138-8389-135C28692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7F9C0-C010-48B9-AB78-03D59AC424C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10851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xmlns="" id="{5AC2CCF6-9487-4A83-A82F-0220F636A0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xmlns="" id="{3299269D-20FD-4D2D-8519-F3E576B90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A0192AD8-8BB3-4501-A8CA-15C8000B4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553F4-8163-45A0-8AF1-9BC7A3D2B5D1}" type="datetimeFigureOut">
              <a:rPr lang="es-MX" smtClean="0"/>
              <a:t>28/10/2021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8001F022-60E4-469D-A7A8-0D3E54BA2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58BDADC6-31C5-4FE2-ABA2-8082671A7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7F9C0-C010-48B9-AB78-03D59AC424C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36229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xmlns="" id="{83F8CCC8-42BD-4A15-8687-AB794FFA6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xmlns="" id="{DCD7A59B-8C73-48CC-9BD5-52CEEA5E2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F3709B9D-3FAD-4582-B94D-ECE19FC0AA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E553F4-8163-45A0-8AF1-9BC7A3D2B5D1}" type="datetimeFigureOut">
              <a:rPr lang="es-MX" smtClean="0"/>
              <a:t>28/10/2021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7BF71426-B37F-47AF-B150-139EA0D38E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82E22307-C2C5-4AE4-839B-ED0336C102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87F9C0-C010-48B9-AB78-03D59AC424C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03606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xmlns="" id="{403506C8-226D-4BF6-BEDD-CA37C7BAF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294" y="167554"/>
            <a:ext cx="1466884" cy="497465"/>
          </a:xfrm>
          <a:prstGeom prst="rect">
            <a:avLst/>
          </a:prstGeom>
        </p:spPr>
      </p:pic>
      <p:sp>
        <p:nvSpPr>
          <p:cNvPr id="9" name="Rectangle 53">
            <a:extLst>
              <a:ext uri="{FF2B5EF4-FFF2-40B4-BE49-F238E27FC236}">
                <a16:creationId xmlns:a16="http://schemas.microsoft.com/office/drawing/2014/main" xmlns="" id="{C59C46BC-65BF-4148-8EA9-31D80D051518}"/>
              </a:ext>
            </a:extLst>
          </p:cNvPr>
          <p:cNvSpPr txBox="1"/>
          <p:nvPr/>
        </p:nvSpPr>
        <p:spPr>
          <a:xfrm>
            <a:off x="3131152" y="162658"/>
            <a:ext cx="7282141" cy="523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3200" spc="-300">
                <a:solidFill>
                  <a:srgbClr val="002060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1pPr>
          </a:lstStyle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0" i="0" u="none" strike="noStrike" kern="0" cap="none" spc="-3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 Light" panose="020F0302020204030204"/>
                <a:sym typeface="Lato Hairline"/>
              </a:rPr>
              <a:t>Promoción de flete a un precio con mínimo de compra  total orden</a:t>
            </a:r>
            <a:endParaRPr kumimoji="0" sz="2800" b="0" i="0" u="none" strike="noStrike" kern="0" cap="none" spc="-30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 Light" panose="020F0302020204030204"/>
              <a:sym typeface="Lato Hairline"/>
            </a:endParaRPr>
          </a:p>
        </p:txBody>
      </p:sp>
      <p:sp>
        <p:nvSpPr>
          <p:cNvPr id="25" name="Rectangle 52">
            <a:extLst>
              <a:ext uri="{FF2B5EF4-FFF2-40B4-BE49-F238E27FC236}">
                <a16:creationId xmlns:a16="http://schemas.microsoft.com/office/drawing/2014/main" xmlns="" id="{634D540C-DD63-4DA0-8006-AEA2CB010249}"/>
              </a:ext>
            </a:extLst>
          </p:cNvPr>
          <p:cNvSpPr/>
          <p:nvPr/>
        </p:nvSpPr>
        <p:spPr>
          <a:xfrm flipV="1">
            <a:off x="0" y="775572"/>
            <a:ext cx="12192000" cy="45719"/>
          </a:xfrm>
          <a:prstGeom prst="rect">
            <a:avLst/>
          </a:prstGeom>
          <a:gradFill>
            <a:gsLst>
              <a:gs pos="0">
                <a:srgbClr val="0070C0">
                  <a:alpha val="88000"/>
                </a:srgbClr>
              </a:gs>
              <a:gs pos="100000">
                <a:srgbClr val="00B050">
                  <a:alpha val="67000"/>
                </a:srgbClr>
              </a:gs>
            </a:gsLst>
            <a:lin ang="7199999"/>
          </a:gra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 panose="020F0302020204030204"/>
              <a:ea typeface="+mn-ea"/>
              <a:cs typeface="Helvetica"/>
              <a:sym typeface="Calibri"/>
            </a:endParaRPr>
          </a:p>
        </p:txBody>
      </p:sp>
      <p:sp>
        <p:nvSpPr>
          <p:cNvPr id="26" name="Rectangle 52">
            <a:extLst>
              <a:ext uri="{FF2B5EF4-FFF2-40B4-BE49-F238E27FC236}">
                <a16:creationId xmlns:a16="http://schemas.microsoft.com/office/drawing/2014/main" xmlns="" id="{A166180A-9ECD-4791-AABB-5B1F7728764B}"/>
              </a:ext>
            </a:extLst>
          </p:cNvPr>
          <p:cNvSpPr/>
          <p:nvPr/>
        </p:nvSpPr>
        <p:spPr>
          <a:xfrm>
            <a:off x="7790541" y="783535"/>
            <a:ext cx="4401459" cy="36001"/>
          </a:xfrm>
          <a:prstGeom prst="rect">
            <a:avLst/>
          </a:prstGeom>
          <a:gradFill>
            <a:gsLst>
              <a:gs pos="0">
                <a:srgbClr val="0070C0">
                  <a:alpha val="88000"/>
                </a:srgbClr>
              </a:gs>
              <a:gs pos="100000">
                <a:srgbClr val="00B050">
                  <a:alpha val="67000"/>
                </a:srgbClr>
              </a:gs>
            </a:gsLst>
            <a:lin ang="7199999"/>
          </a:gra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 panose="020F0302020204030204"/>
              <a:ea typeface="+mn-ea"/>
              <a:cs typeface="Helvetica"/>
              <a:sym typeface="Calibri"/>
            </a:endParaRPr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xmlns="" id="{F4B0DD3E-B5EE-4490-AF0C-ECC7AC84C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1570" y="6595733"/>
            <a:ext cx="1323264" cy="333267"/>
          </a:xfrm>
          <a:prstGeom prst="rect">
            <a:avLst/>
          </a:prstGeom>
        </p:spPr>
      </p:pic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xmlns="" id="{A2D713B1-6DCC-47ED-8AFA-33A5E39B0140}"/>
              </a:ext>
            </a:extLst>
          </p:cNvPr>
          <p:cNvSpPr/>
          <p:nvPr/>
        </p:nvSpPr>
        <p:spPr>
          <a:xfrm>
            <a:off x="4552642" y="1772611"/>
            <a:ext cx="3498050" cy="59697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Shipment</a:t>
            </a:r>
            <a:r>
              <a:rPr lang="es-ES" dirty="0"/>
              <a:t> 1</a:t>
            </a:r>
            <a:endParaRPr lang="es-MX" dirty="0"/>
          </a:p>
        </p:txBody>
      </p:sp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xmlns="" id="{2B5CF27B-4F03-4DAF-A583-1D362ED91A82}"/>
              </a:ext>
            </a:extLst>
          </p:cNvPr>
          <p:cNvSpPr/>
          <p:nvPr/>
        </p:nvSpPr>
        <p:spPr>
          <a:xfrm>
            <a:off x="1229076" y="3239556"/>
            <a:ext cx="2301277" cy="10191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Orden con N </a:t>
            </a:r>
            <a:r>
              <a:rPr lang="es-ES" dirty="0" err="1"/>
              <a:t>Shipments</a:t>
            </a:r>
            <a:endParaRPr lang="es-MX" dirty="0"/>
          </a:p>
        </p:txBody>
      </p: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xmlns="" id="{D0D4AD38-863C-40C6-84A2-37C38A153CE5}"/>
              </a:ext>
            </a:extLst>
          </p:cNvPr>
          <p:cNvSpPr/>
          <p:nvPr/>
        </p:nvSpPr>
        <p:spPr>
          <a:xfrm>
            <a:off x="4552642" y="3450632"/>
            <a:ext cx="3498050" cy="59697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Shipment</a:t>
            </a:r>
            <a:r>
              <a:rPr lang="es-ES" dirty="0"/>
              <a:t> 2</a:t>
            </a:r>
            <a:endParaRPr lang="es-MX" dirty="0"/>
          </a:p>
        </p:txBody>
      </p:sp>
      <p:sp>
        <p:nvSpPr>
          <p:cNvPr id="42" name="Rectángulo: esquinas redondeadas 41">
            <a:extLst>
              <a:ext uri="{FF2B5EF4-FFF2-40B4-BE49-F238E27FC236}">
                <a16:creationId xmlns:a16="http://schemas.microsoft.com/office/drawing/2014/main" xmlns="" id="{24059A65-E763-4B12-8306-8AD76E3E1E1F}"/>
              </a:ext>
            </a:extLst>
          </p:cNvPr>
          <p:cNvSpPr/>
          <p:nvPr/>
        </p:nvSpPr>
        <p:spPr>
          <a:xfrm>
            <a:off x="4552642" y="5047442"/>
            <a:ext cx="3498050" cy="59697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Shipment</a:t>
            </a:r>
            <a:r>
              <a:rPr lang="es-ES" dirty="0"/>
              <a:t> N</a:t>
            </a:r>
            <a:endParaRPr lang="es-MX" dirty="0"/>
          </a:p>
        </p:txBody>
      </p:sp>
      <p:cxnSp>
        <p:nvCxnSpPr>
          <p:cNvPr id="3" name="Conector: curvado 2">
            <a:extLst>
              <a:ext uri="{FF2B5EF4-FFF2-40B4-BE49-F238E27FC236}">
                <a16:creationId xmlns:a16="http://schemas.microsoft.com/office/drawing/2014/main" xmlns="" id="{770D72E5-749B-4785-9CFD-9782CF1685EB}"/>
              </a:ext>
            </a:extLst>
          </p:cNvPr>
          <p:cNvCxnSpPr>
            <a:stCxn id="38" idx="3"/>
            <a:endCxn id="30" idx="1"/>
          </p:cNvCxnSpPr>
          <p:nvPr/>
        </p:nvCxnSpPr>
        <p:spPr>
          <a:xfrm flipV="1">
            <a:off x="3530353" y="2071097"/>
            <a:ext cx="1022289" cy="167802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: curvado 5">
            <a:extLst>
              <a:ext uri="{FF2B5EF4-FFF2-40B4-BE49-F238E27FC236}">
                <a16:creationId xmlns:a16="http://schemas.microsoft.com/office/drawing/2014/main" xmlns="" id="{D932EC28-1BDF-4A04-8629-3EDFA2AB1407}"/>
              </a:ext>
            </a:extLst>
          </p:cNvPr>
          <p:cNvCxnSpPr>
            <a:stCxn id="38" idx="3"/>
            <a:endCxn id="39" idx="1"/>
          </p:cNvCxnSpPr>
          <p:nvPr/>
        </p:nvCxnSpPr>
        <p:spPr>
          <a:xfrm>
            <a:off x="3530353" y="3749117"/>
            <a:ext cx="1022289" cy="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: curvado 7">
            <a:extLst>
              <a:ext uri="{FF2B5EF4-FFF2-40B4-BE49-F238E27FC236}">
                <a16:creationId xmlns:a16="http://schemas.microsoft.com/office/drawing/2014/main" xmlns="" id="{742A1C8D-B586-422A-A485-837CAFB3EF6E}"/>
              </a:ext>
            </a:extLst>
          </p:cNvPr>
          <p:cNvCxnSpPr>
            <a:stCxn id="38" idx="3"/>
            <a:endCxn id="42" idx="1"/>
          </p:cNvCxnSpPr>
          <p:nvPr/>
        </p:nvCxnSpPr>
        <p:spPr>
          <a:xfrm>
            <a:off x="3530353" y="3749117"/>
            <a:ext cx="1022289" cy="159681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xmlns="" id="{4F726AAB-CC7F-4EEA-A3E8-9E27F13F150A}"/>
              </a:ext>
            </a:extLst>
          </p:cNvPr>
          <p:cNvSpPr txBox="1"/>
          <p:nvPr/>
        </p:nvSpPr>
        <p:spPr>
          <a:xfrm>
            <a:off x="9072981" y="1886431"/>
            <a:ext cx="1779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Premio -&gt; Flete $</a:t>
            </a:r>
            <a:endParaRPr lang="es-MX" dirty="0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xmlns="" id="{BE15CD7A-C5A3-4D81-8DC5-5AC4A736822C}"/>
              </a:ext>
            </a:extLst>
          </p:cNvPr>
          <p:cNvSpPr txBox="1"/>
          <p:nvPr/>
        </p:nvSpPr>
        <p:spPr>
          <a:xfrm>
            <a:off x="9072980" y="3564450"/>
            <a:ext cx="1779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Premio -&gt; Flete $</a:t>
            </a:r>
            <a:endParaRPr lang="es-MX" dirty="0"/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xmlns="" id="{C8E42596-6415-414A-A1AA-8CD733130BB8}"/>
              </a:ext>
            </a:extLst>
          </p:cNvPr>
          <p:cNvSpPr txBox="1"/>
          <p:nvPr/>
        </p:nvSpPr>
        <p:spPr>
          <a:xfrm>
            <a:off x="9101603" y="5161261"/>
            <a:ext cx="1779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Premio -&gt; Flete $</a:t>
            </a:r>
            <a:endParaRPr lang="es-MX" dirty="0"/>
          </a:p>
        </p:txBody>
      </p: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xmlns="" id="{10753B17-5352-4B67-B9D5-790D874816CC}"/>
              </a:ext>
            </a:extLst>
          </p:cNvPr>
          <p:cNvCxnSpPr>
            <a:stCxn id="30" idx="3"/>
            <a:endCxn id="29" idx="1"/>
          </p:cNvCxnSpPr>
          <p:nvPr/>
        </p:nvCxnSpPr>
        <p:spPr>
          <a:xfrm>
            <a:off x="8050692" y="2071097"/>
            <a:ext cx="10222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de flecha 50">
            <a:extLst>
              <a:ext uri="{FF2B5EF4-FFF2-40B4-BE49-F238E27FC236}">
                <a16:creationId xmlns:a16="http://schemas.microsoft.com/office/drawing/2014/main" xmlns="" id="{86A21D5F-AB7D-4ACF-A0CE-A7342255BCF6}"/>
              </a:ext>
            </a:extLst>
          </p:cNvPr>
          <p:cNvCxnSpPr>
            <a:stCxn id="39" idx="3"/>
            <a:endCxn id="48" idx="1"/>
          </p:cNvCxnSpPr>
          <p:nvPr/>
        </p:nvCxnSpPr>
        <p:spPr>
          <a:xfrm flipV="1">
            <a:off x="8050692" y="3749116"/>
            <a:ext cx="1022288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xmlns="" id="{B6AD0DA8-C915-462E-9660-1D7E1A28CDCA}"/>
              </a:ext>
            </a:extLst>
          </p:cNvPr>
          <p:cNvCxnSpPr>
            <a:stCxn id="42" idx="3"/>
            <a:endCxn id="49" idx="1"/>
          </p:cNvCxnSpPr>
          <p:nvPr/>
        </p:nvCxnSpPr>
        <p:spPr>
          <a:xfrm flipV="1">
            <a:off x="8050692" y="5345927"/>
            <a:ext cx="105091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4203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xmlns="" id="{403506C8-226D-4BF6-BEDD-CA37C7BAF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294" y="167554"/>
            <a:ext cx="1466884" cy="497465"/>
          </a:xfrm>
          <a:prstGeom prst="rect">
            <a:avLst/>
          </a:prstGeom>
        </p:spPr>
      </p:pic>
      <p:sp>
        <p:nvSpPr>
          <p:cNvPr id="9" name="Rectangle 53">
            <a:extLst>
              <a:ext uri="{FF2B5EF4-FFF2-40B4-BE49-F238E27FC236}">
                <a16:creationId xmlns:a16="http://schemas.microsoft.com/office/drawing/2014/main" xmlns="" id="{C59C46BC-65BF-4148-8EA9-31D80D051518}"/>
              </a:ext>
            </a:extLst>
          </p:cNvPr>
          <p:cNvSpPr txBox="1"/>
          <p:nvPr/>
        </p:nvSpPr>
        <p:spPr>
          <a:xfrm>
            <a:off x="3131152" y="162658"/>
            <a:ext cx="7282141" cy="523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3200" spc="-300">
                <a:solidFill>
                  <a:srgbClr val="002060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1pPr>
          </a:lstStyle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0" i="0" u="none" strike="noStrike" kern="0" cap="none" spc="-3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 Light" panose="020F0302020204030204"/>
                <a:sym typeface="Lato Hairline"/>
              </a:rPr>
              <a:t>Promoción de flete a un precio con mínimo de compra  total orden</a:t>
            </a:r>
            <a:endParaRPr kumimoji="0" sz="2800" b="0" i="0" u="none" strike="noStrike" kern="0" cap="none" spc="-30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 Light" panose="020F0302020204030204"/>
              <a:sym typeface="Lato Hairline"/>
            </a:endParaRPr>
          </a:p>
        </p:txBody>
      </p:sp>
      <p:sp>
        <p:nvSpPr>
          <p:cNvPr id="25" name="Rectangle 52">
            <a:extLst>
              <a:ext uri="{FF2B5EF4-FFF2-40B4-BE49-F238E27FC236}">
                <a16:creationId xmlns:a16="http://schemas.microsoft.com/office/drawing/2014/main" xmlns="" id="{634D540C-DD63-4DA0-8006-AEA2CB010249}"/>
              </a:ext>
            </a:extLst>
          </p:cNvPr>
          <p:cNvSpPr/>
          <p:nvPr/>
        </p:nvSpPr>
        <p:spPr>
          <a:xfrm flipV="1">
            <a:off x="0" y="775572"/>
            <a:ext cx="12192000" cy="45719"/>
          </a:xfrm>
          <a:prstGeom prst="rect">
            <a:avLst/>
          </a:prstGeom>
          <a:gradFill>
            <a:gsLst>
              <a:gs pos="0">
                <a:srgbClr val="0070C0">
                  <a:alpha val="88000"/>
                </a:srgbClr>
              </a:gs>
              <a:gs pos="100000">
                <a:srgbClr val="00B050">
                  <a:alpha val="67000"/>
                </a:srgbClr>
              </a:gs>
            </a:gsLst>
            <a:lin ang="7199999"/>
          </a:gra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 panose="020F0302020204030204"/>
              <a:ea typeface="+mn-ea"/>
              <a:cs typeface="Helvetica"/>
              <a:sym typeface="Calibri"/>
            </a:endParaRPr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xmlns="" id="{F4B0DD3E-B5EE-4490-AF0C-ECC7AC84C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1570" y="6595733"/>
            <a:ext cx="1323264" cy="333267"/>
          </a:xfrm>
          <a:prstGeom prst="rect">
            <a:avLst/>
          </a:prstGeom>
        </p:spPr>
      </p:pic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xmlns="" id="{CA7E9C92-043F-4EE4-A3E4-2432163603ED}"/>
              </a:ext>
            </a:extLst>
          </p:cNvPr>
          <p:cNvSpPr/>
          <p:nvPr/>
        </p:nvSpPr>
        <p:spPr>
          <a:xfrm>
            <a:off x="5039786" y="4884233"/>
            <a:ext cx="4435766" cy="6074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Consignación MG &amp; Min. Compra $700</a:t>
            </a:r>
            <a:endParaRPr lang="es-MX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xmlns="" id="{AB3E40D2-5603-44E9-8067-A8EA08ED9124}"/>
              </a:ext>
            </a:extLst>
          </p:cNvPr>
          <p:cNvSpPr txBox="1"/>
          <p:nvPr/>
        </p:nvSpPr>
        <p:spPr>
          <a:xfrm>
            <a:off x="5839679" y="969789"/>
            <a:ext cx="2688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Promociones Configuradas</a:t>
            </a:r>
            <a:endParaRPr lang="es-MX" dirty="0"/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xmlns="" id="{C964A2F1-F977-414E-84C1-EF886405A7F6}"/>
              </a:ext>
            </a:extLst>
          </p:cNvPr>
          <p:cNvCxnSpPr/>
          <p:nvPr/>
        </p:nvCxnSpPr>
        <p:spPr>
          <a:xfrm>
            <a:off x="9755471" y="5195434"/>
            <a:ext cx="7744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xmlns="" id="{F288EAE0-505B-4E70-BF1F-668FA8B208BD}"/>
              </a:ext>
            </a:extLst>
          </p:cNvPr>
          <p:cNvSpPr txBox="1"/>
          <p:nvPr/>
        </p:nvSpPr>
        <p:spPr>
          <a:xfrm>
            <a:off x="10859717" y="5032574"/>
            <a:ext cx="944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$200.00</a:t>
            </a:r>
            <a:endParaRPr lang="es-MX" dirty="0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xmlns="" id="{420B29F8-44DF-46FA-8139-9D5DF9F909E7}"/>
              </a:ext>
            </a:extLst>
          </p:cNvPr>
          <p:cNvSpPr/>
          <p:nvPr/>
        </p:nvSpPr>
        <p:spPr>
          <a:xfrm>
            <a:off x="5039786" y="5724534"/>
            <a:ext cx="4445728" cy="59697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Consignación MG &amp; Min. Compra $0.01</a:t>
            </a:r>
            <a:endParaRPr lang="es-MX" dirty="0"/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xmlns="" id="{F59B4964-2A32-4A90-AEF0-CE4FE5A5EA3A}"/>
              </a:ext>
            </a:extLst>
          </p:cNvPr>
          <p:cNvCxnSpPr/>
          <p:nvPr/>
        </p:nvCxnSpPr>
        <p:spPr>
          <a:xfrm>
            <a:off x="9789443" y="6024514"/>
            <a:ext cx="7744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xmlns="" id="{C5391ED0-188E-40F5-B2E4-91E0CA606DA4}"/>
              </a:ext>
            </a:extLst>
          </p:cNvPr>
          <p:cNvSpPr txBox="1"/>
          <p:nvPr/>
        </p:nvSpPr>
        <p:spPr>
          <a:xfrm>
            <a:off x="10859717" y="5869132"/>
            <a:ext cx="8306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$500.00</a:t>
            </a:r>
            <a:endParaRPr lang="es-MX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xmlns="" id="{C3DC9373-B3DA-4A2B-8EA8-08D49F564B58}"/>
              </a:ext>
            </a:extLst>
          </p:cNvPr>
          <p:cNvSpPr txBox="1"/>
          <p:nvPr/>
        </p:nvSpPr>
        <p:spPr>
          <a:xfrm>
            <a:off x="10061248" y="1260200"/>
            <a:ext cx="2233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Flete total</a:t>
            </a:r>
          </a:p>
          <a:p>
            <a:pPr algn="ctr"/>
            <a:r>
              <a:rPr lang="es-ES" dirty="0"/>
              <a:t>(Premio de la promoción)</a:t>
            </a:r>
            <a:endParaRPr lang="es-MX" dirty="0"/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xmlns="" id="{D7D14BD6-66ED-47F1-9F6F-C964C5D258E5}"/>
              </a:ext>
            </a:extLst>
          </p:cNvPr>
          <p:cNvCxnSpPr>
            <a:cxnSpLocks/>
          </p:cNvCxnSpPr>
          <p:nvPr/>
        </p:nvCxnSpPr>
        <p:spPr>
          <a:xfrm>
            <a:off x="4490058" y="2036349"/>
            <a:ext cx="0" cy="2070860"/>
          </a:xfrm>
          <a:prstGeom prst="straightConnector1">
            <a:avLst/>
          </a:prstGeom>
          <a:ln w="1079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xmlns="" id="{A2D713B1-6DCC-47ED-8AFA-33A5E39B0140}"/>
              </a:ext>
            </a:extLst>
          </p:cNvPr>
          <p:cNvSpPr/>
          <p:nvPr/>
        </p:nvSpPr>
        <p:spPr>
          <a:xfrm>
            <a:off x="5049748" y="2036349"/>
            <a:ext cx="4435766" cy="59697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Consignación SETC &amp; Min. Compra </a:t>
            </a:r>
            <a:r>
              <a:rPr lang="es-ES" dirty="0" smtClean="0"/>
              <a:t>$1500</a:t>
            </a:r>
            <a:endParaRPr lang="es-MX" dirty="0"/>
          </a:p>
        </p:txBody>
      </p: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xmlns="" id="{DC5843EB-1C48-479E-A140-64734BE28800}"/>
              </a:ext>
            </a:extLst>
          </p:cNvPr>
          <p:cNvCxnSpPr/>
          <p:nvPr/>
        </p:nvCxnSpPr>
        <p:spPr>
          <a:xfrm>
            <a:off x="9755471" y="2366905"/>
            <a:ext cx="7744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uadroTexto 31">
            <a:extLst>
              <a:ext uri="{FF2B5EF4-FFF2-40B4-BE49-F238E27FC236}">
                <a16:creationId xmlns:a16="http://schemas.microsoft.com/office/drawing/2014/main" xmlns="" id="{B0F2CA80-DC81-43C2-A151-B83472A2B55F}"/>
              </a:ext>
            </a:extLst>
          </p:cNvPr>
          <p:cNvSpPr txBox="1"/>
          <p:nvPr/>
        </p:nvSpPr>
        <p:spPr>
          <a:xfrm>
            <a:off x="10864433" y="2205247"/>
            <a:ext cx="824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$0.01</a:t>
            </a:r>
            <a:endParaRPr lang="es-MX" dirty="0"/>
          </a:p>
        </p:txBody>
      </p:sp>
      <p:sp>
        <p:nvSpPr>
          <p:cNvPr id="34" name="Rectángulo: esquinas redondeadas 33">
            <a:extLst>
              <a:ext uri="{FF2B5EF4-FFF2-40B4-BE49-F238E27FC236}">
                <a16:creationId xmlns:a16="http://schemas.microsoft.com/office/drawing/2014/main" xmlns="" id="{47DD2544-DCCE-496C-AFEF-31D8711AD023}"/>
              </a:ext>
            </a:extLst>
          </p:cNvPr>
          <p:cNvSpPr/>
          <p:nvPr/>
        </p:nvSpPr>
        <p:spPr>
          <a:xfrm>
            <a:off x="5049748" y="3572838"/>
            <a:ext cx="4425803" cy="6106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Consignación SETC &amp; Min. Compra $0.01</a:t>
            </a:r>
            <a:endParaRPr lang="es-MX" dirty="0"/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xmlns="" id="{6B8B1FD3-D103-4CC8-BAA0-D26E3A02F26D}"/>
              </a:ext>
            </a:extLst>
          </p:cNvPr>
          <p:cNvCxnSpPr/>
          <p:nvPr/>
        </p:nvCxnSpPr>
        <p:spPr>
          <a:xfrm>
            <a:off x="9755471" y="3937592"/>
            <a:ext cx="7744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uadroTexto 35">
            <a:extLst>
              <a:ext uri="{FF2B5EF4-FFF2-40B4-BE49-F238E27FC236}">
                <a16:creationId xmlns:a16="http://schemas.microsoft.com/office/drawing/2014/main" xmlns="" id="{29DDBA4F-B8BA-4639-BE8D-40627F734E0A}"/>
              </a:ext>
            </a:extLst>
          </p:cNvPr>
          <p:cNvSpPr txBox="1"/>
          <p:nvPr/>
        </p:nvSpPr>
        <p:spPr>
          <a:xfrm>
            <a:off x="10861321" y="3739800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$30.00</a:t>
            </a:r>
            <a:endParaRPr lang="es-MX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xmlns="" id="{C69F7ADC-463A-4B48-8C71-4A161E79101F}"/>
              </a:ext>
            </a:extLst>
          </p:cNvPr>
          <p:cNvSpPr txBox="1"/>
          <p:nvPr/>
        </p:nvSpPr>
        <p:spPr>
          <a:xfrm>
            <a:off x="387794" y="977563"/>
            <a:ext cx="2530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Promoción por </a:t>
            </a:r>
            <a:r>
              <a:rPr lang="es-ES" dirty="0" err="1"/>
              <a:t>Shipment</a:t>
            </a:r>
            <a:endParaRPr lang="es-MX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xmlns="" id="{69BED9B1-3427-4853-A857-C21761A4ED97}"/>
              </a:ext>
            </a:extLst>
          </p:cNvPr>
          <p:cNvSpPr txBox="1"/>
          <p:nvPr/>
        </p:nvSpPr>
        <p:spPr>
          <a:xfrm>
            <a:off x="426862" y="2018185"/>
            <a:ext cx="323480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Vigencia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Tipo de almacén (SETC, CEDSI, DSV, DST)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Tipo de catálogo (SETC, MG)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Compra menor a $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Compra mayor a $</a:t>
            </a:r>
            <a:endParaRPr lang="es-MX" dirty="0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xmlns="" id="{42D9188B-B21E-4DDE-B4A9-FCB5CD220229}"/>
              </a:ext>
            </a:extLst>
          </p:cNvPr>
          <p:cNvSpPr txBox="1"/>
          <p:nvPr/>
        </p:nvSpPr>
        <p:spPr>
          <a:xfrm>
            <a:off x="417693" y="4488256"/>
            <a:ext cx="2745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Importe fijo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Un % de descuento</a:t>
            </a:r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xmlns="" id="{43699F46-9AA9-45CF-B0BE-A54CB16EFAD9}"/>
              </a:ext>
            </a:extLst>
          </p:cNvPr>
          <p:cNvSpPr txBox="1"/>
          <p:nvPr/>
        </p:nvSpPr>
        <p:spPr>
          <a:xfrm>
            <a:off x="417693" y="1677247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Condiciones</a:t>
            </a:r>
            <a:endParaRPr lang="es-MX" dirty="0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xmlns="" id="{982FA396-C950-4F45-9C1E-E3F83C0A4453}"/>
              </a:ext>
            </a:extLst>
          </p:cNvPr>
          <p:cNvSpPr txBox="1"/>
          <p:nvPr/>
        </p:nvSpPr>
        <p:spPr>
          <a:xfrm>
            <a:off x="387794" y="4107209"/>
            <a:ext cx="854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Premio</a:t>
            </a:r>
            <a:endParaRPr lang="es-MX" dirty="0"/>
          </a:p>
        </p:txBody>
      </p: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xmlns="" id="{82A01A4F-87BC-411C-B90C-06203BCFA6FB}"/>
              </a:ext>
            </a:extLst>
          </p:cNvPr>
          <p:cNvCxnSpPr>
            <a:cxnSpLocks/>
          </p:cNvCxnSpPr>
          <p:nvPr/>
        </p:nvCxnSpPr>
        <p:spPr>
          <a:xfrm>
            <a:off x="4490058" y="4895299"/>
            <a:ext cx="0" cy="1383224"/>
          </a:xfrm>
          <a:prstGeom prst="straightConnector1">
            <a:avLst/>
          </a:prstGeom>
          <a:ln w="1079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uadroTexto 47">
            <a:extLst>
              <a:ext uri="{FF2B5EF4-FFF2-40B4-BE49-F238E27FC236}">
                <a16:creationId xmlns:a16="http://schemas.microsoft.com/office/drawing/2014/main" xmlns="" id="{924EC47A-2DF4-46FF-A3DD-75E6FEC723CC}"/>
              </a:ext>
            </a:extLst>
          </p:cNvPr>
          <p:cNvSpPr txBox="1"/>
          <p:nvPr/>
        </p:nvSpPr>
        <p:spPr>
          <a:xfrm>
            <a:off x="6867075" y="1542872"/>
            <a:ext cx="633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SETC</a:t>
            </a:r>
            <a:endParaRPr lang="es-MX" dirty="0"/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xmlns="" id="{31C0A862-C1BE-452B-8695-31F4E631B5FE}"/>
              </a:ext>
            </a:extLst>
          </p:cNvPr>
          <p:cNvSpPr txBox="1"/>
          <p:nvPr/>
        </p:nvSpPr>
        <p:spPr>
          <a:xfrm>
            <a:off x="6920005" y="4398491"/>
            <a:ext cx="527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MG</a:t>
            </a:r>
            <a:endParaRPr lang="es-MX" dirty="0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xmlns="" id="{4B8D75D8-4AF1-4390-99B4-EE69F5137DF2}"/>
              </a:ext>
            </a:extLst>
          </p:cNvPr>
          <p:cNvSpPr/>
          <p:nvPr/>
        </p:nvSpPr>
        <p:spPr>
          <a:xfrm>
            <a:off x="4803595" y="2205247"/>
            <a:ext cx="269823" cy="2631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1</a:t>
            </a:r>
            <a:endParaRPr lang="es-MX" sz="1400" dirty="0"/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xmlns="" id="{1553566B-AE0B-4B4B-A285-DAA041F98A18}"/>
              </a:ext>
            </a:extLst>
          </p:cNvPr>
          <p:cNvSpPr/>
          <p:nvPr/>
        </p:nvSpPr>
        <p:spPr>
          <a:xfrm>
            <a:off x="4803595" y="3758274"/>
            <a:ext cx="269823" cy="2631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3</a:t>
            </a:r>
            <a:endParaRPr lang="es-MX" sz="1400" dirty="0"/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xmlns="" id="{B66A8542-8F02-4FCB-9326-3AEBD9927453}"/>
              </a:ext>
            </a:extLst>
          </p:cNvPr>
          <p:cNvSpPr/>
          <p:nvPr/>
        </p:nvSpPr>
        <p:spPr>
          <a:xfrm>
            <a:off x="4811702" y="5091720"/>
            <a:ext cx="269823" cy="2631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1</a:t>
            </a:r>
            <a:endParaRPr lang="es-MX" sz="1400" dirty="0"/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xmlns="" id="{C7BA8F89-855D-46EA-8EFD-09DB8975C9EF}"/>
              </a:ext>
            </a:extLst>
          </p:cNvPr>
          <p:cNvSpPr/>
          <p:nvPr/>
        </p:nvSpPr>
        <p:spPr>
          <a:xfrm>
            <a:off x="4811702" y="5834523"/>
            <a:ext cx="269823" cy="2631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2</a:t>
            </a:r>
            <a:endParaRPr lang="es-MX" sz="1400" dirty="0"/>
          </a:p>
        </p:txBody>
      </p:sp>
      <p:sp>
        <p:nvSpPr>
          <p:cNvPr id="37" name="Rectángulo: esquinas redondeadas 29">
            <a:extLst>
              <a:ext uri="{FF2B5EF4-FFF2-40B4-BE49-F238E27FC236}">
                <a16:creationId xmlns:a16="http://schemas.microsoft.com/office/drawing/2014/main" xmlns="" id="{A2D713B1-6DCC-47ED-8AFA-33A5E39B0140}"/>
              </a:ext>
            </a:extLst>
          </p:cNvPr>
          <p:cNvSpPr/>
          <p:nvPr/>
        </p:nvSpPr>
        <p:spPr>
          <a:xfrm>
            <a:off x="5034312" y="2790630"/>
            <a:ext cx="4435766" cy="59697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Consignación SETC &amp; Min. Compra $600</a:t>
            </a:r>
            <a:endParaRPr lang="es-MX" dirty="0"/>
          </a:p>
        </p:txBody>
      </p: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xmlns="" id="{DC5843EB-1C48-479E-A140-64734BE28800}"/>
              </a:ext>
            </a:extLst>
          </p:cNvPr>
          <p:cNvCxnSpPr/>
          <p:nvPr/>
        </p:nvCxnSpPr>
        <p:spPr>
          <a:xfrm>
            <a:off x="9740035" y="3121186"/>
            <a:ext cx="7744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uadroTexto 40">
            <a:extLst>
              <a:ext uri="{FF2B5EF4-FFF2-40B4-BE49-F238E27FC236}">
                <a16:creationId xmlns:a16="http://schemas.microsoft.com/office/drawing/2014/main" xmlns="" id="{B0F2CA80-DC81-43C2-A151-B83472A2B55F}"/>
              </a:ext>
            </a:extLst>
          </p:cNvPr>
          <p:cNvSpPr txBox="1"/>
          <p:nvPr/>
        </p:nvSpPr>
        <p:spPr>
          <a:xfrm>
            <a:off x="10848997" y="2959528"/>
            <a:ext cx="824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$15.00</a:t>
            </a:r>
            <a:endParaRPr lang="es-MX" dirty="0"/>
          </a:p>
        </p:txBody>
      </p:sp>
      <p:sp>
        <p:nvSpPr>
          <p:cNvPr id="45" name="Elipse 44">
            <a:extLst>
              <a:ext uri="{FF2B5EF4-FFF2-40B4-BE49-F238E27FC236}">
                <a16:creationId xmlns:a16="http://schemas.microsoft.com/office/drawing/2014/main" xmlns="" id="{4B8D75D8-4AF1-4390-99B4-EE69F5137DF2}"/>
              </a:ext>
            </a:extLst>
          </p:cNvPr>
          <p:cNvSpPr/>
          <p:nvPr/>
        </p:nvSpPr>
        <p:spPr>
          <a:xfrm>
            <a:off x="4788159" y="2959528"/>
            <a:ext cx="269823" cy="2631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2</a:t>
            </a:r>
            <a:endParaRPr lang="es-MX" sz="1400" dirty="0"/>
          </a:p>
        </p:txBody>
      </p:sp>
    </p:spTree>
    <p:extLst>
      <p:ext uri="{BB962C8B-B14F-4D97-AF65-F5344CB8AC3E}">
        <p14:creationId xmlns:p14="http://schemas.microsoft.com/office/powerpoint/2010/main" val="21600058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1416</TotalTime>
  <Words>153</Words>
  <Application>Microsoft Office PowerPoint</Application>
  <PresentationFormat>Panorámica</PresentationFormat>
  <Paragraphs>39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Helvetica</vt:lpstr>
      <vt:lpstr>Lato Hairline</vt:lpstr>
      <vt:lpstr>Tema de Office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Gutierrez Rosas, Antonio</dc:creator>
  <cp:lastModifiedBy>eliseo gijon romero</cp:lastModifiedBy>
  <cp:revision>5</cp:revision>
  <dcterms:created xsi:type="dcterms:W3CDTF">2021-10-26T19:27:13Z</dcterms:created>
  <dcterms:modified xsi:type="dcterms:W3CDTF">2021-10-28T18:44:30Z</dcterms:modified>
</cp:coreProperties>
</file>