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499130-7513-4E38-9A95-01597C5B6D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9605FAA-9D1B-40B6-951B-237715A528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35DA32-5FD6-4F78-A7CD-38A864859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0D859-0BFA-4632-8CFB-F338A53676A5}" type="datetimeFigureOut">
              <a:rPr lang="es-MX" smtClean="0"/>
              <a:t>06/12/2021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85F07AA-EA61-499C-961A-6A58DDEC6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25E4B6-E7E6-4DB0-B1CC-175EE2138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D8CD3-1B21-4E62-B7A9-F48C1869984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74600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08594C-8F2E-4F33-84A0-02C1F7B15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E3478B3-CCF6-4C4A-AB25-64569A475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F56377-18AC-4F99-A226-93F9856CB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0D859-0BFA-4632-8CFB-F338A53676A5}" type="datetimeFigureOut">
              <a:rPr lang="es-MX" smtClean="0"/>
              <a:t>06/12/2021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E407063-FABB-495D-9658-0F8DB32F4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731BDE-AE67-49D1-B5F9-028CD3771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D8CD3-1B21-4E62-B7A9-F48C1869984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15543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5C0045-F2C4-4ABE-A3FF-CAA354321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6AD5395-591B-4703-A251-84E805807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A06A95-2D90-428D-8D11-71E7EE645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0D859-0BFA-4632-8CFB-F338A53676A5}" type="datetimeFigureOut">
              <a:rPr lang="es-MX" smtClean="0"/>
              <a:t>06/12/2021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6FFE48-3A0B-46F5-8293-6FE98170F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E68171-8D0E-4AB4-BC79-1D5F51608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D8CD3-1B21-4E62-B7A9-F48C1869984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15187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D47076-6EBE-4BFE-8BC3-9AE879328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520E28-A3F3-48CC-B554-BAFC4E2504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3CAA185-68A5-46EF-9565-81AF22CCD1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A508E5A-A74D-4708-A19A-B5C47B6A7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0D859-0BFA-4632-8CFB-F338A53676A5}" type="datetimeFigureOut">
              <a:rPr lang="es-MX" smtClean="0"/>
              <a:t>06/12/2021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D71BF78-2407-490A-9300-3C8C5ACD9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E30E8A0-4E96-426A-961E-C0688EF23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D8CD3-1B21-4E62-B7A9-F48C1869984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99969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0A31C6-34E6-4837-91A2-54490645C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22C3137-EC29-4DB9-B153-36997E787E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C13BBB0-4685-4C05-964A-9D8F5BA9FB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2EAA40C-BB76-4E30-A54F-A7DDB6DB87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5D6B78E-5503-43DA-97F9-3C225FC0E8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D78893B-FA09-41E1-8ABF-CDCCC7F4C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0D859-0BFA-4632-8CFB-F338A53676A5}" type="datetimeFigureOut">
              <a:rPr lang="es-MX" smtClean="0"/>
              <a:t>06/12/2021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1368067-F810-4068-9151-708FC05F8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E82482F-FC81-4D79-8A64-10F50AD28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D8CD3-1B21-4E62-B7A9-F48C1869984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51601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E16DC8-4744-4820-9B12-D7EAF3096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CCBE02B-A715-4E22-96A6-F49DECAFF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0D859-0BFA-4632-8CFB-F338A53676A5}" type="datetimeFigureOut">
              <a:rPr lang="es-MX" smtClean="0"/>
              <a:t>06/12/2021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373DBB4-0109-46EE-8D89-9263ACADD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4E354E9-AC54-420F-A0D0-1B0915721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D8CD3-1B21-4E62-B7A9-F48C1869984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62030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A476FE6-5F56-4270-8850-CB48FF4C2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0D859-0BFA-4632-8CFB-F338A53676A5}" type="datetimeFigureOut">
              <a:rPr lang="es-MX" smtClean="0"/>
              <a:t>06/12/2021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9B8D058-7A6D-4D7E-8DDD-B003A3EEA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E9AAAE4-4B4E-450C-9774-AF6683D2D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D8CD3-1B21-4E62-B7A9-F48C1869984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2314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145B82-C5C3-463D-9452-A1BB80B66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844985-65F6-41B3-B154-97C6D287D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45C5E58-C61D-45D0-94DF-2164BD1488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FDA98FB-5AD8-496B-A877-415EB64F9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0D859-0BFA-4632-8CFB-F338A53676A5}" type="datetimeFigureOut">
              <a:rPr lang="es-MX" smtClean="0"/>
              <a:t>06/12/2021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49FC117-731B-438A-B66D-85B9FA6C9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598E762-4EEB-4DFD-A04E-5C008D50D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D8CD3-1B21-4E62-B7A9-F48C1869984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34989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27A736-E92D-4A3D-9FBA-126636C79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9E55F3F-C1B1-4DBC-95E9-C10ADA6BF4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F960BAC-6501-470C-8995-32E53E351A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5C0E3C8-2B68-4953-B6EF-8CF66EB8B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0D859-0BFA-4632-8CFB-F338A53676A5}" type="datetimeFigureOut">
              <a:rPr lang="es-MX" smtClean="0"/>
              <a:t>06/12/2021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CFAC851-6E64-42F3-BA80-E5D007DEC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BD1DC69-5BF6-4142-B181-42C8957D6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D8CD3-1B21-4E62-B7A9-F48C1869984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44920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E304F0-7AD6-4B12-AB1A-A52BA0B13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7FB9614-68A8-4F97-BD71-7D050B6FD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8F2A2D-AC50-4EDE-8F40-F12FFFC3E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0D859-0BFA-4632-8CFB-F338A53676A5}" type="datetimeFigureOut">
              <a:rPr lang="es-MX" smtClean="0"/>
              <a:t>06/12/2021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B37E10-58A4-40EA-89F3-2B08A39B0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C942670-FD1B-4AB9-A8BE-7CF743AE1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D8CD3-1B21-4E62-B7A9-F48C1869984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60136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38ACA2D-B8C5-4887-B764-E6785687CA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03AB81D-005A-44AD-962D-5FA812784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F0B898-BC97-4F9B-986B-38C1D627B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0D859-0BFA-4632-8CFB-F338A53676A5}" type="datetimeFigureOut">
              <a:rPr lang="es-MX" smtClean="0"/>
              <a:t>06/12/2021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C1828D-2A1B-4C20-A684-D257D5D72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4F0380-F2B3-47D0-99E0-180AC5250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D8CD3-1B21-4E62-B7A9-F48C1869984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088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9C0171E-C03A-4CCF-9F9C-1F55CC292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5E9E00F-6588-4C60-B7C3-807EFDF86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A9A3F81-A21C-4B9C-A67D-2E8EC6A63D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C0D859-0BFA-4632-8CFB-F338A53676A5}" type="datetimeFigureOut">
              <a:rPr lang="es-MX" smtClean="0"/>
              <a:t>06/12/2021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2311FD0-A0E4-410F-8CDD-D584F1DF70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2FF511-9A5F-4E0C-B3AD-3A5B55864B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3D8CD3-1B21-4E62-B7A9-F48C1869984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78397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Elipse 43">
            <a:extLst>
              <a:ext uri="{FF2B5EF4-FFF2-40B4-BE49-F238E27FC236}">
                <a16:creationId xmlns:a16="http://schemas.microsoft.com/office/drawing/2014/main" id="{DD40EA5B-4545-4222-B234-2F9ADA16CC28}"/>
              </a:ext>
            </a:extLst>
          </p:cNvPr>
          <p:cNvSpPr/>
          <p:nvPr/>
        </p:nvSpPr>
        <p:spPr>
          <a:xfrm>
            <a:off x="495300" y="3728745"/>
            <a:ext cx="1374533" cy="125235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C5ABEB74-767C-4D41-B653-EB7D442FB542}"/>
              </a:ext>
            </a:extLst>
          </p:cNvPr>
          <p:cNvCxnSpPr>
            <a:cxnSpLocks/>
          </p:cNvCxnSpPr>
          <p:nvPr/>
        </p:nvCxnSpPr>
        <p:spPr>
          <a:xfrm>
            <a:off x="2005329" y="4006066"/>
            <a:ext cx="509271" cy="0"/>
          </a:xfrm>
          <a:prstGeom prst="straightConnector1">
            <a:avLst/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CuadroTexto 64">
            <a:extLst>
              <a:ext uri="{FF2B5EF4-FFF2-40B4-BE49-F238E27FC236}">
                <a16:creationId xmlns:a16="http://schemas.microsoft.com/office/drawing/2014/main" id="{2EDAAD7A-EACF-435B-A8FA-CF2234C0CCAC}"/>
              </a:ext>
            </a:extLst>
          </p:cNvPr>
          <p:cNvSpPr txBox="1"/>
          <p:nvPr/>
        </p:nvSpPr>
        <p:spPr>
          <a:xfrm>
            <a:off x="4049665" y="2105860"/>
            <a:ext cx="26017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Datos Maestros</a:t>
            </a:r>
          </a:p>
          <a:p>
            <a:pPr algn="ctr"/>
            <a:r>
              <a:rPr lang="es-ES" sz="2400" dirty="0"/>
              <a:t>Tabla de Productos</a:t>
            </a:r>
            <a:endParaRPr lang="es-ES" dirty="0"/>
          </a:p>
        </p:txBody>
      </p:sp>
      <p:sp>
        <p:nvSpPr>
          <p:cNvPr id="105" name="Rectángulo 104">
            <a:extLst>
              <a:ext uri="{FF2B5EF4-FFF2-40B4-BE49-F238E27FC236}">
                <a16:creationId xmlns:a16="http://schemas.microsoft.com/office/drawing/2014/main" id="{FFDE6984-0A90-4A63-AE92-80E8E31582E7}"/>
              </a:ext>
            </a:extLst>
          </p:cNvPr>
          <p:cNvSpPr/>
          <p:nvPr/>
        </p:nvSpPr>
        <p:spPr>
          <a:xfrm>
            <a:off x="4768125" y="3006716"/>
            <a:ext cx="1164789" cy="20367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Indicador Inventario Actualizado al Día</a:t>
            </a:r>
          </a:p>
          <a:p>
            <a:pPr algn="ctr"/>
            <a:r>
              <a:rPr lang="es-ES" sz="1200" dirty="0" err="1"/>
              <a:t>Bit_InvActDia</a:t>
            </a:r>
            <a:endParaRPr lang="es-MX" sz="1200" dirty="0"/>
          </a:p>
        </p:txBody>
      </p:sp>
      <p:graphicFrame>
        <p:nvGraphicFramePr>
          <p:cNvPr id="123" name="Object 5">
            <a:extLst>
              <a:ext uri="{FF2B5EF4-FFF2-40B4-BE49-F238E27FC236}">
                <a16:creationId xmlns:a16="http://schemas.microsoft.com/office/drawing/2014/main" id="{CC979A8C-0798-4110-8869-14D34CFF76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3091971"/>
              </p:ext>
            </p:extLst>
          </p:nvPr>
        </p:nvGraphicFramePr>
        <p:xfrm>
          <a:off x="355131" y="596422"/>
          <a:ext cx="1868488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" name="Image" r:id="rId3" imgW="2768254" imgH="787024" progId="Photoshop.Image.11">
                  <p:embed/>
                </p:oleObj>
              </mc:Choice>
              <mc:Fallback>
                <p:oleObj name="Image" r:id="rId3" imgW="2768254" imgH="787024" progId="Photoshop.Image.11">
                  <p:embed/>
                  <p:pic>
                    <p:nvPicPr>
                      <p:cNvPr id="38" name="Object 5">
                        <a:extLst>
                          <a:ext uri="{FF2B5EF4-FFF2-40B4-BE49-F238E27FC236}">
                            <a16:creationId xmlns:a16="http://schemas.microsoft.com/office/drawing/2014/main" id="{E07C3C3D-90FB-48A5-9CA1-5D0E7F1608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131" y="596422"/>
                        <a:ext cx="1868488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" name="Título 1">
            <a:extLst>
              <a:ext uri="{FF2B5EF4-FFF2-40B4-BE49-F238E27FC236}">
                <a16:creationId xmlns:a16="http://schemas.microsoft.com/office/drawing/2014/main" id="{83EE2BD0-C76C-41B6-B1E9-31F577657925}"/>
              </a:ext>
            </a:extLst>
          </p:cNvPr>
          <p:cNvSpPr txBox="1">
            <a:spLocks/>
          </p:cNvSpPr>
          <p:nvPr/>
        </p:nvSpPr>
        <p:spPr>
          <a:xfrm>
            <a:off x="2400300" y="262486"/>
            <a:ext cx="8953500" cy="13255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/>
              <a:t>Disponibilidad de Inventario</a:t>
            </a:r>
            <a:endParaRPr lang="es-MX" dirty="0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FA64A7C1-ACA9-4EB9-9B3D-62057408EE6C}"/>
              </a:ext>
            </a:extLst>
          </p:cNvPr>
          <p:cNvSpPr/>
          <p:nvPr/>
        </p:nvSpPr>
        <p:spPr>
          <a:xfrm>
            <a:off x="497926" y="2999575"/>
            <a:ext cx="1374533" cy="1252355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84A0B25-CB52-4E95-8ACD-F3C75281E4E4}"/>
              </a:ext>
            </a:extLst>
          </p:cNvPr>
          <p:cNvSpPr txBox="1"/>
          <p:nvPr/>
        </p:nvSpPr>
        <p:spPr>
          <a:xfrm>
            <a:off x="865779" y="3256420"/>
            <a:ext cx="633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SETC</a:t>
            </a:r>
            <a:endParaRPr lang="es-MX" dirty="0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64810128-7F6D-4A70-B972-4A3ABC39DC1D}"/>
              </a:ext>
            </a:extLst>
          </p:cNvPr>
          <p:cNvSpPr txBox="1"/>
          <p:nvPr/>
        </p:nvSpPr>
        <p:spPr>
          <a:xfrm>
            <a:off x="918711" y="4363253"/>
            <a:ext cx="527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MG</a:t>
            </a:r>
            <a:endParaRPr lang="es-MX" dirty="0"/>
          </a:p>
        </p:txBody>
      </p:sp>
      <p:cxnSp>
        <p:nvCxnSpPr>
          <p:cNvPr id="49" name="Conector recto de flecha 48">
            <a:extLst>
              <a:ext uri="{FF2B5EF4-FFF2-40B4-BE49-F238E27FC236}">
                <a16:creationId xmlns:a16="http://schemas.microsoft.com/office/drawing/2014/main" id="{DC7710A0-25BA-40BF-968D-3AF5581247FA}"/>
              </a:ext>
            </a:extLst>
          </p:cNvPr>
          <p:cNvCxnSpPr>
            <a:cxnSpLocks/>
          </p:cNvCxnSpPr>
          <p:nvPr/>
        </p:nvCxnSpPr>
        <p:spPr>
          <a:xfrm>
            <a:off x="4165771" y="4025115"/>
            <a:ext cx="482429" cy="0"/>
          </a:xfrm>
          <a:prstGeom prst="straightConnector1">
            <a:avLst/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ipse 7">
            <a:extLst>
              <a:ext uri="{FF2B5EF4-FFF2-40B4-BE49-F238E27FC236}">
                <a16:creationId xmlns:a16="http://schemas.microsoft.com/office/drawing/2014/main" id="{C453C775-C771-477F-ADF2-95F649E77BFB}"/>
              </a:ext>
            </a:extLst>
          </p:cNvPr>
          <p:cNvSpPr/>
          <p:nvPr/>
        </p:nvSpPr>
        <p:spPr>
          <a:xfrm>
            <a:off x="2631351" y="3362335"/>
            <a:ext cx="1456082" cy="12523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/>
              <a:t>Proceso de actualización de Catálogos</a:t>
            </a:r>
            <a:endParaRPr lang="es-MX" sz="12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A511C53-51E3-4872-9CCE-0441760740C7}"/>
              </a:ext>
            </a:extLst>
          </p:cNvPr>
          <p:cNvSpPr txBox="1"/>
          <p:nvPr/>
        </p:nvSpPr>
        <p:spPr>
          <a:xfrm>
            <a:off x="7217630" y="2445969"/>
            <a:ext cx="4457438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800"/>
              </a:spcAft>
              <a:buFont typeface="+mj-lt"/>
              <a:buAutoNum type="arabicPeriod"/>
            </a:pPr>
            <a:r>
              <a:rPr lang="es-ES" dirty="0" err="1"/>
              <a:t>Pricebook</a:t>
            </a:r>
            <a:r>
              <a:rPr lang="es-ES" dirty="0"/>
              <a:t>: Los artículos serán marcados con inventario no-perpetuo, de lo contrario serán perpetuos (¿SETC inventario = 0?).</a:t>
            </a:r>
          </a:p>
          <a:p>
            <a:pPr marL="342900" indent="-342900">
              <a:spcAft>
                <a:spcPts val="1800"/>
              </a:spcAft>
              <a:buFont typeface="+mj-lt"/>
              <a:buAutoNum type="arabicPeriod"/>
            </a:pPr>
            <a:r>
              <a:rPr lang="es-MX" dirty="0"/>
              <a:t>En el </a:t>
            </a:r>
            <a:r>
              <a:rPr lang="es-MX" dirty="0" err="1"/>
              <a:t>checkout</a:t>
            </a:r>
            <a:r>
              <a:rPr lang="es-MX" dirty="0"/>
              <a:t>, la validación de inventario, </a:t>
            </a:r>
            <a:r>
              <a:rPr lang="es-MX" dirty="0" err="1"/>
              <a:t>checkout</a:t>
            </a:r>
            <a:r>
              <a:rPr lang="es-MX" dirty="0"/>
              <a:t> y el </a:t>
            </a:r>
            <a:r>
              <a:rPr lang="es-MX" dirty="0" err="1"/>
              <a:t>spliter</a:t>
            </a:r>
            <a:r>
              <a:rPr lang="es-MX" dirty="0"/>
              <a:t> deberán considerar el valor del inventario para determinar la disponibilidad del inventario.</a:t>
            </a:r>
          </a:p>
          <a:p>
            <a:pPr marL="342900" indent="-342900">
              <a:spcAft>
                <a:spcPts val="1800"/>
              </a:spcAft>
              <a:buFont typeface="+mj-lt"/>
              <a:buAutoNum type="arabicPeriod"/>
            </a:pPr>
            <a:r>
              <a:rPr lang="es-MX" dirty="0"/>
              <a:t>Mercancía en tránsito: El proceso de actualización de mercancía en tránsito deberá actualizar el inventario.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9EA633F-2853-442E-836C-91B75231F225}"/>
              </a:ext>
            </a:extLst>
          </p:cNvPr>
          <p:cNvSpPr txBox="1"/>
          <p:nvPr/>
        </p:nvSpPr>
        <p:spPr>
          <a:xfrm>
            <a:off x="7217630" y="1502428"/>
            <a:ext cx="48546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Para los artículos con el indicador de Inventario Actualizado al Día:</a:t>
            </a:r>
            <a:endParaRPr lang="es-MX" sz="2400" dirty="0"/>
          </a:p>
        </p:txBody>
      </p:sp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10FF2252-5602-44E1-B506-B427A0DF40B6}"/>
              </a:ext>
            </a:extLst>
          </p:cNvPr>
          <p:cNvCxnSpPr>
            <a:cxnSpLocks/>
          </p:cNvCxnSpPr>
          <p:nvPr/>
        </p:nvCxnSpPr>
        <p:spPr>
          <a:xfrm>
            <a:off x="6259088" y="4258990"/>
            <a:ext cx="860197" cy="947189"/>
          </a:xfrm>
          <a:prstGeom prst="straightConnector1">
            <a:avLst/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de flecha 56">
            <a:extLst>
              <a:ext uri="{FF2B5EF4-FFF2-40B4-BE49-F238E27FC236}">
                <a16:creationId xmlns:a16="http://schemas.microsoft.com/office/drawing/2014/main" id="{62FE4B6C-D121-4F0B-8BFD-BC2C8D98CB78}"/>
              </a:ext>
            </a:extLst>
          </p:cNvPr>
          <p:cNvCxnSpPr>
            <a:cxnSpLocks/>
          </p:cNvCxnSpPr>
          <p:nvPr/>
        </p:nvCxnSpPr>
        <p:spPr>
          <a:xfrm flipV="1">
            <a:off x="6298661" y="2743650"/>
            <a:ext cx="781050" cy="1025540"/>
          </a:xfrm>
          <a:prstGeom prst="straightConnector1">
            <a:avLst/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cto de flecha 60">
            <a:extLst>
              <a:ext uri="{FF2B5EF4-FFF2-40B4-BE49-F238E27FC236}">
                <a16:creationId xmlns:a16="http://schemas.microsoft.com/office/drawing/2014/main" id="{C4DBE135-77D0-4888-898E-5FF53DF93149}"/>
              </a:ext>
            </a:extLst>
          </p:cNvPr>
          <p:cNvCxnSpPr>
            <a:cxnSpLocks/>
          </p:cNvCxnSpPr>
          <p:nvPr/>
        </p:nvCxnSpPr>
        <p:spPr>
          <a:xfrm>
            <a:off x="6298661" y="3988513"/>
            <a:ext cx="482429" cy="0"/>
          </a:xfrm>
          <a:prstGeom prst="straightConnector1">
            <a:avLst/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1534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ítulo 1">
            <a:extLst>
              <a:ext uri="{FF2B5EF4-FFF2-40B4-BE49-F238E27FC236}">
                <a16:creationId xmlns:a16="http://schemas.microsoft.com/office/drawing/2014/main" id="{83EE2BD0-C76C-41B6-B1E9-31F577657925}"/>
              </a:ext>
            </a:extLst>
          </p:cNvPr>
          <p:cNvSpPr txBox="1">
            <a:spLocks/>
          </p:cNvSpPr>
          <p:nvPr/>
        </p:nvSpPr>
        <p:spPr>
          <a:xfrm>
            <a:off x="2400300" y="262486"/>
            <a:ext cx="8953500" cy="13255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/>
              <a:t>Configuración de </a:t>
            </a:r>
            <a:r>
              <a:rPr lang="es-ES" dirty="0" err="1"/>
              <a:t>Pricebook</a:t>
            </a:r>
            <a:r>
              <a:rPr lang="es-ES" dirty="0"/>
              <a:t> &amp; </a:t>
            </a:r>
            <a:r>
              <a:rPr lang="es-ES" dirty="0" err="1"/>
              <a:t>Out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Range</a:t>
            </a:r>
            <a:endParaRPr lang="es-MX" dirty="0"/>
          </a:p>
        </p:txBody>
      </p:sp>
      <p:graphicFrame>
        <p:nvGraphicFramePr>
          <p:cNvPr id="2" name="Tabla 3">
            <a:extLst>
              <a:ext uri="{FF2B5EF4-FFF2-40B4-BE49-F238E27FC236}">
                <a16:creationId xmlns:a16="http://schemas.microsoft.com/office/drawing/2014/main" id="{60AA2F50-1226-4F63-8B29-2B452B7BEF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5050933"/>
              </p:ext>
            </p:extLst>
          </p:nvPr>
        </p:nvGraphicFramePr>
        <p:xfrm>
          <a:off x="930990" y="1574800"/>
          <a:ext cx="9453982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7978">
                  <a:extLst>
                    <a:ext uri="{9D8B030D-6E8A-4147-A177-3AD203B41FA5}">
                      <a16:colId xmlns:a16="http://schemas.microsoft.com/office/drawing/2014/main" val="2394369991"/>
                    </a:ext>
                  </a:extLst>
                </a:gridCol>
                <a:gridCol w="1437261">
                  <a:extLst>
                    <a:ext uri="{9D8B030D-6E8A-4147-A177-3AD203B41FA5}">
                      <a16:colId xmlns:a16="http://schemas.microsoft.com/office/drawing/2014/main" val="1477687980"/>
                    </a:ext>
                  </a:extLst>
                </a:gridCol>
                <a:gridCol w="2809257">
                  <a:extLst>
                    <a:ext uri="{9D8B030D-6E8A-4147-A177-3AD203B41FA5}">
                      <a16:colId xmlns:a16="http://schemas.microsoft.com/office/drawing/2014/main" val="1113907167"/>
                    </a:ext>
                  </a:extLst>
                </a:gridCol>
                <a:gridCol w="2603241">
                  <a:extLst>
                    <a:ext uri="{9D8B030D-6E8A-4147-A177-3AD203B41FA5}">
                      <a16:colId xmlns:a16="http://schemas.microsoft.com/office/drawing/2014/main" val="3840511239"/>
                    </a:ext>
                  </a:extLst>
                </a:gridCol>
                <a:gridCol w="1446245">
                  <a:extLst>
                    <a:ext uri="{9D8B030D-6E8A-4147-A177-3AD203B41FA5}">
                      <a16:colId xmlns:a16="http://schemas.microsoft.com/office/drawing/2014/main" val="977305712"/>
                    </a:ext>
                  </a:extLst>
                </a:gridCol>
              </a:tblGrid>
              <a:tr h="237412">
                <a:tc>
                  <a:txBody>
                    <a:bodyPr/>
                    <a:lstStyle/>
                    <a:p>
                      <a:r>
                        <a:rPr lang="es-ES" sz="1400" dirty="0"/>
                        <a:t>Almacén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Inventario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Pricebook</a:t>
                      </a:r>
                      <a:r>
                        <a:rPr lang="es-ES" sz="1400" dirty="0"/>
                        <a:t> Tienda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Pricebook</a:t>
                      </a:r>
                      <a:r>
                        <a:rPr lang="es-ES" sz="1400" dirty="0"/>
                        <a:t> Global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Fuera de Rango</a:t>
                      </a:r>
                      <a:endParaRPr lang="es-MX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2585034"/>
                  </a:ext>
                </a:extLst>
              </a:tr>
              <a:tr h="237412">
                <a:tc>
                  <a:txBody>
                    <a:bodyPr/>
                    <a:lstStyle/>
                    <a:p>
                      <a:pPr lvl="1"/>
                      <a:r>
                        <a:rPr lang="es-ES" sz="1400" dirty="0"/>
                        <a:t>SETC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N , N &gt; 0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491029"/>
                  </a:ext>
                </a:extLst>
              </a:tr>
              <a:tr h="237412">
                <a:tc>
                  <a:txBody>
                    <a:bodyPr/>
                    <a:lstStyle/>
                    <a:p>
                      <a:pPr lvl="1"/>
                      <a:r>
                        <a:rPr lang="es-ES" sz="1400" dirty="0"/>
                        <a:t>DST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N , N &gt; 0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909304"/>
                  </a:ext>
                </a:extLst>
              </a:tr>
              <a:tr h="237412">
                <a:tc>
                  <a:txBody>
                    <a:bodyPr/>
                    <a:lstStyle/>
                    <a:p>
                      <a:pPr lvl="1"/>
                      <a:r>
                        <a:rPr lang="es-ES" sz="1400" dirty="0"/>
                        <a:t>Cedis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M , M &gt; 0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7900138"/>
                  </a:ext>
                </a:extLst>
              </a:tr>
              <a:tr h="237412">
                <a:tc>
                  <a:txBody>
                    <a:bodyPr/>
                    <a:lstStyle/>
                    <a:p>
                      <a:pPr lvl="1"/>
                      <a:r>
                        <a:rPr lang="es-ES" sz="1400" dirty="0"/>
                        <a:t>DSV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V , V &gt; 0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0386717"/>
                  </a:ext>
                </a:extLst>
              </a:tr>
            </a:tbl>
          </a:graphicData>
        </a:graphic>
      </p:graphicFrame>
      <p:graphicFrame>
        <p:nvGraphicFramePr>
          <p:cNvPr id="22" name="Tabla 3">
            <a:extLst>
              <a:ext uri="{FF2B5EF4-FFF2-40B4-BE49-F238E27FC236}">
                <a16:creationId xmlns:a16="http://schemas.microsoft.com/office/drawing/2014/main" id="{982C2B6A-6577-409A-9348-FE6D7DEDBB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6624786"/>
              </p:ext>
            </p:extLst>
          </p:nvPr>
        </p:nvGraphicFramePr>
        <p:xfrm>
          <a:off x="930990" y="3210768"/>
          <a:ext cx="9453982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7978">
                  <a:extLst>
                    <a:ext uri="{9D8B030D-6E8A-4147-A177-3AD203B41FA5}">
                      <a16:colId xmlns:a16="http://schemas.microsoft.com/office/drawing/2014/main" val="2394369991"/>
                    </a:ext>
                  </a:extLst>
                </a:gridCol>
                <a:gridCol w="1437261">
                  <a:extLst>
                    <a:ext uri="{9D8B030D-6E8A-4147-A177-3AD203B41FA5}">
                      <a16:colId xmlns:a16="http://schemas.microsoft.com/office/drawing/2014/main" val="1477687980"/>
                    </a:ext>
                  </a:extLst>
                </a:gridCol>
                <a:gridCol w="2809257">
                  <a:extLst>
                    <a:ext uri="{9D8B030D-6E8A-4147-A177-3AD203B41FA5}">
                      <a16:colId xmlns:a16="http://schemas.microsoft.com/office/drawing/2014/main" val="1113907167"/>
                    </a:ext>
                  </a:extLst>
                </a:gridCol>
                <a:gridCol w="2603241">
                  <a:extLst>
                    <a:ext uri="{9D8B030D-6E8A-4147-A177-3AD203B41FA5}">
                      <a16:colId xmlns:a16="http://schemas.microsoft.com/office/drawing/2014/main" val="3840511239"/>
                    </a:ext>
                  </a:extLst>
                </a:gridCol>
                <a:gridCol w="1446245">
                  <a:extLst>
                    <a:ext uri="{9D8B030D-6E8A-4147-A177-3AD203B41FA5}">
                      <a16:colId xmlns:a16="http://schemas.microsoft.com/office/drawing/2014/main" val="977305712"/>
                    </a:ext>
                  </a:extLst>
                </a:gridCol>
              </a:tblGrid>
              <a:tr h="237412">
                <a:tc>
                  <a:txBody>
                    <a:bodyPr/>
                    <a:lstStyle/>
                    <a:p>
                      <a:r>
                        <a:rPr lang="es-ES" sz="1400" dirty="0"/>
                        <a:t>Almacén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Inventario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Pricebook</a:t>
                      </a:r>
                      <a:r>
                        <a:rPr lang="es-ES" sz="1400" dirty="0"/>
                        <a:t> Tienda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Pricebook</a:t>
                      </a:r>
                      <a:r>
                        <a:rPr lang="es-ES" sz="1400" dirty="0"/>
                        <a:t> Global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Fuera de Rango</a:t>
                      </a:r>
                      <a:endParaRPr lang="es-MX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2585034"/>
                  </a:ext>
                </a:extLst>
              </a:tr>
              <a:tr h="237412">
                <a:tc>
                  <a:txBody>
                    <a:bodyPr/>
                    <a:lstStyle/>
                    <a:p>
                      <a:pPr lvl="1"/>
                      <a:r>
                        <a:rPr lang="es-ES" sz="1400" dirty="0"/>
                        <a:t>SETC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N , N = 0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491029"/>
                  </a:ext>
                </a:extLst>
              </a:tr>
              <a:tr h="237412">
                <a:tc>
                  <a:txBody>
                    <a:bodyPr/>
                    <a:lstStyle/>
                    <a:p>
                      <a:pPr lvl="1"/>
                      <a:r>
                        <a:rPr lang="es-ES" sz="1400" dirty="0"/>
                        <a:t>DST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N , N = 0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909304"/>
                  </a:ext>
                </a:extLst>
              </a:tr>
              <a:tr h="237412">
                <a:tc>
                  <a:txBody>
                    <a:bodyPr/>
                    <a:lstStyle/>
                    <a:p>
                      <a:pPr lvl="1"/>
                      <a:r>
                        <a:rPr lang="es-ES" sz="1400" dirty="0"/>
                        <a:t>Cedis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M , M &gt; 0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7900138"/>
                  </a:ext>
                </a:extLst>
              </a:tr>
              <a:tr h="237412">
                <a:tc>
                  <a:txBody>
                    <a:bodyPr/>
                    <a:lstStyle/>
                    <a:p>
                      <a:pPr lvl="1"/>
                      <a:r>
                        <a:rPr lang="es-ES" sz="1400" dirty="0"/>
                        <a:t>DSV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V , V &gt; 0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0386717"/>
                  </a:ext>
                </a:extLst>
              </a:tr>
            </a:tbl>
          </a:graphicData>
        </a:graphic>
      </p:graphicFrame>
      <p:graphicFrame>
        <p:nvGraphicFramePr>
          <p:cNvPr id="23" name="Tabla 3">
            <a:extLst>
              <a:ext uri="{FF2B5EF4-FFF2-40B4-BE49-F238E27FC236}">
                <a16:creationId xmlns:a16="http://schemas.microsoft.com/office/drawing/2014/main" id="{7BFDC0D8-8FF6-42FA-8183-6660881C20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2981467"/>
              </p:ext>
            </p:extLst>
          </p:nvPr>
        </p:nvGraphicFramePr>
        <p:xfrm>
          <a:off x="930990" y="4846736"/>
          <a:ext cx="9453982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7978">
                  <a:extLst>
                    <a:ext uri="{9D8B030D-6E8A-4147-A177-3AD203B41FA5}">
                      <a16:colId xmlns:a16="http://schemas.microsoft.com/office/drawing/2014/main" val="2394369991"/>
                    </a:ext>
                  </a:extLst>
                </a:gridCol>
                <a:gridCol w="1437261">
                  <a:extLst>
                    <a:ext uri="{9D8B030D-6E8A-4147-A177-3AD203B41FA5}">
                      <a16:colId xmlns:a16="http://schemas.microsoft.com/office/drawing/2014/main" val="1477687980"/>
                    </a:ext>
                  </a:extLst>
                </a:gridCol>
                <a:gridCol w="2809257">
                  <a:extLst>
                    <a:ext uri="{9D8B030D-6E8A-4147-A177-3AD203B41FA5}">
                      <a16:colId xmlns:a16="http://schemas.microsoft.com/office/drawing/2014/main" val="1113907167"/>
                    </a:ext>
                  </a:extLst>
                </a:gridCol>
                <a:gridCol w="2603241">
                  <a:extLst>
                    <a:ext uri="{9D8B030D-6E8A-4147-A177-3AD203B41FA5}">
                      <a16:colId xmlns:a16="http://schemas.microsoft.com/office/drawing/2014/main" val="3840511239"/>
                    </a:ext>
                  </a:extLst>
                </a:gridCol>
                <a:gridCol w="1446245">
                  <a:extLst>
                    <a:ext uri="{9D8B030D-6E8A-4147-A177-3AD203B41FA5}">
                      <a16:colId xmlns:a16="http://schemas.microsoft.com/office/drawing/2014/main" val="977305712"/>
                    </a:ext>
                  </a:extLst>
                </a:gridCol>
              </a:tblGrid>
              <a:tr h="237412">
                <a:tc>
                  <a:txBody>
                    <a:bodyPr/>
                    <a:lstStyle/>
                    <a:p>
                      <a:r>
                        <a:rPr lang="es-ES" sz="1400" dirty="0"/>
                        <a:t>Almacén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Inventario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Pricebook</a:t>
                      </a:r>
                      <a:r>
                        <a:rPr lang="es-ES" sz="1400" dirty="0"/>
                        <a:t> Tienda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Pricebook</a:t>
                      </a:r>
                      <a:r>
                        <a:rPr lang="es-ES" sz="1400" dirty="0"/>
                        <a:t> Global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Fuera de Rango</a:t>
                      </a:r>
                      <a:endParaRPr lang="es-MX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2585034"/>
                  </a:ext>
                </a:extLst>
              </a:tr>
              <a:tr h="237412">
                <a:tc>
                  <a:txBody>
                    <a:bodyPr/>
                    <a:lstStyle/>
                    <a:p>
                      <a:pPr lvl="1"/>
                      <a:r>
                        <a:rPr lang="es-ES" sz="1400" dirty="0"/>
                        <a:t>SETC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N , N &gt; 0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491029"/>
                  </a:ext>
                </a:extLst>
              </a:tr>
              <a:tr h="237412">
                <a:tc>
                  <a:txBody>
                    <a:bodyPr/>
                    <a:lstStyle/>
                    <a:p>
                      <a:pPr lvl="1"/>
                      <a:r>
                        <a:rPr lang="es-ES" sz="1400" dirty="0"/>
                        <a:t>DST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N , N &gt; 0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909304"/>
                  </a:ext>
                </a:extLst>
              </a:tr>
              <a:tr h="237412">
                <a:tc>
                  <a:txBody>
                    <a:bodyPr/>
                    <a:lstStyle/>
                    <a:p>
                      <a:pPr lvl="1"/>
                      <a:r>
                        <a:rPr lang="es-ES" sz="1400" dirty="0"/>
                        <a:t>Cedis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M , M = 0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7900138"/>
                  </a:ext>
                </a:extLst>
              </a:tr>
              <a:tr h="237412">
                <a:tc>
                  <a:txBody>
                    <a:bodyPr/>
                    <a:lstStyle/>
                    <a:p>
                      <a:pPr lvl="1"/>
                      <a:r>
                        <a:rPr lang="es-ES" sz="1400" dirty="0"/>
                        <a:t>DSV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V , V &gt; 0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0386717"/>
                  </a:ext>
                </a:extLst>
              </a:tr>
            </a:tbl>
          </a:graphicData>
        </a:graphic>
      </p:graphicFrame>
      <p:graphicFrame>
        <p:nvGraphicFramePr>
          <p:cNvPr id="24" name="Object 5">
            <a:extLst>
              <a:ext uri="{FF2B5EF4-FFF2-40B4-BE49-F238E27FC236}">
                <a16:creationId xmlns:a16="http://schemas.microsoft.com/office/drawing/2014/main" id="{8FF2B1C7-7341-41CE-987F-AB8106F42D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8974249"/>
              </p:ext>
            </p:extLst>
          </p:nvPr>
        </p:nvGraphicFramePr>
        <p:xfrm>
          <a:off x="355131" y="596422"/>
          <a:ext cx="1868488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Image" r:id="rId3" imgW="2768254" imgH="787024" progId="Photoshop.Image.11">
                  <p:embed/>
                </p:oleObj>
              </mc:Choice>
              <mc:Fallback>
                <p:oleObj name="Image" r:id="rId3" imgW="2768254" imgH="787024" progId="Photoshop.Image.11">
                  <p:embed/>
                  <p:pic>
                    <p:nvPicPr>
                      <p:cNvPr id="123" name="Object 5">
                        <a:extLst>
                          <a:ext uri="{FF2B5EF4-FFF2-40B4-BE49-F238E27FC236}">
                            <a16:creationId xmlns:a16="http://schemas.microsoft.com/office/drawing/2014/main" id="{CC979A8C-0798-4110-8869-14D34CFF76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131" y="596422"/>
                        <a:ext cx="1868488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100257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2842</TotalTime>
  <Words>205</Words>
  <Application>Microsoft Office PowerPoint</Application>
  <PresentationFormat>Panorámica</PresentationFormat>
  <Paragraphs>52</Paragraphs>
  <Slides>2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Tema de Office</vt:lpstr>
      <vt:lpstr>Image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Gutierrez Rosas, Antonio</dc:creator>
  <cp:lastModifiedBy>Gutierrez Rosas, Antonio</cp:lastModifiedBy>
  <cp:revision>12</cp:revision>
  <dcterms:created xsi:type="dcterms:W3CDTF">2021-11-02T20:40:28Z</dcterms:created>
  <dcterms:modified xsi:type="dcterms:W3CDTF">2021-12-07T18:37:11Z</dcterms:modified>
</cp:coreProperties>
</file>